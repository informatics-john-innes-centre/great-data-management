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3.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4.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heme/themeOverride5.xml" ContentType="application/vnd.openxmlformats-officedocument.themeOverr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327" r:id="rId2"/>
    <p:sldId id="328" r:id="rId3"/>
    <p:sldId id="342" r:id="rId4"/>
    <p:sldId id="325" r:id="rId5"/>
    <p:sldId id="260" r:id="rId6"/>
    <p:sldId id="288" r:id="rId7"/>
    <p:sldId id="262" r:id="rId8"/>
    <p:sldId id="289" r:id="rId9"/>
    <p:sldId id="287" r:id="rId10"/>
    <p:sldId id="290" r:id="rId11"/>
    <p:sldId id="346" r:id="rId12"/>
    <p:sldId id="345" r:id="rId13"/>
    <p:sldId id="344" r:id="rId14"/>
    <p:sldId id="330" r:id="rId15"/>
    <p:sldId id="317" r:id="rId16"/>
    <p:sldId id="324" r:id="rId17"/>
    <p:sldId id="306" r:id="rId18"/>
    <p:sldId id="350" r:id="rId19"/>
    <p:sldId id="349" r:id="rId20"/>
    <p:sldId id="348" r:id="rId21"/>
    <p:sldId id="311" r:id="rId22"/>
    <p:sldId id="307" r:id="rId23"/>
    <p:sldId id="360" r:id="rId24"/>
    <p:sldId id="326" r:id="rId25"/>
    <p:sldId id="331" r:id="rId26"/>
    <p:sldId id="340" r:id="rId27"/>
    <p:sldId id="320" r:id="rId28"/>
    <p:sldId id="315" r:id="rId29"/>
    <p:sldId id="336" r:id="rId30"/>
    <p:sldId id="333" r:id="rId31"/>
    <p:sldId id="302" r:id="rId32"/>
    <p:sldId id="310" r:id="rId33"/>
    <p:sldId id="357" r:id="rId34"/>
    <p:sldId id="358" r:id="rId35"/>
    <p:sldId id="359" r:id="rId36"/>
    <p:sldId id="352" r:id="rId37"/>
    <p:sldId id="351" r:id="rId38"/>
    <p:sldId id="355" r:id="rId39"/>
    <p:sldId id="323" r:id="rId40"/>
    <p:sldId id="347" r:id="rId41"/>
    <p:sldId id="339" r:id="rId42"/>
    <p:sldId id="259" r:id="rId43"/>
    <p:sldId id="329" r:id="rId44"/>
    <p:sldId id="316" r:id="rId45"/>
    <p:sldId id="263" r:id="rId46"/>
    <p:sldId id="338" r:id="rId47"/>
    <p:sldId id="292" r:id="rId48"/>
    <p:sldId id="341" r:id="rId49"/>
    <p:sldId id="261" r:id="rId50"/>
    <p:sldId id="266" r:id="rId51"/>
    <p:sldId id="294" r:id="rId52"/>
    <p:sldId id="269" r:id="rId53"/>
    <p:sldId id="291" r:id="rId54"/>
    <p:sldId id="297" r:id="rId55"/>
    <p:sldId id="278" r:id="rId56"/>
    <p:sldId id="296" r:id="rId57"/>
    <p:sldId id="298" r:id="rId58"/>
    <p:sldId id="300" r:id="rId59"/>
    <p:sldId id="301" r:id="rId60"/>
    <p:sldId id="334" r:id="rId61"/>
    <p:sldId id="335" r:id="rId62"/>
    <p:sldId id="305" r:id="rId63"/>
    <p:sldId id="304" r:id="rId64"/>
    <p:sldId id="312" r:id="rId65"/>
    <p:sldId id="308" r:id="rId66"/>
    <p:sldId id="319" r:id="rId67"/>
    <p:sldId id="318" r:id="rId68"/>
    <p:sldId id="321" r:id="rId69"/>
    <p:sldId id="354" r:id="rId70"/>
    <p:sldId id="303" r:id="rId71"/>
    <p:sldId id="309" r:id="rId72"/>
    <p:sldId id="343" r:id="rId73"/>
    <p:sldId id="313" r:id="rId74"/>
    <p:sldId id="314" r:id="rId75"/>
    <p:sldId id="276" r:id="rId76"/>
    <p:sldId id="332" r:id="rId77"/>
    <p:sldId id="275" r:id="rId78"/>
    <p:sldId id="356" r:id="rId79"/>
    <p:sldId id="353"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2D2862-9ADC-472E-9D52-6B3C6D10A263}">
          <p14:sldIdLst>
            <p14:sldId id="327"/>
            <p14:sldId id="328"/>
            <p14:sldId id="342"/>
            <p14:sldId id="325"/>
            <p14:sldId id="260"/>
            <p14:sldId id="288"/>
            <p14:sldId id="262"/>
            <p14:sldId id="289"/>
            <p14:sldId id="287"/>
            <p14:sldId id="290"/>
            <p14:sldId id="346"/>
            <p14:sldId id="345"/>
            <p14:sldId id="344"/>
            <p14:sldId id="330"/>
            <p14:sldId id="317"/>
            <p14:sldId id="324"/>
            <p14:sldId id="306"/>
            <p14:sldId id="350"/>
            <p14:sldId id="349"/>
            <p14:sldId id="348"/>
            <p14:sldId id="311"/>
            <p14:sldId id="307"/>
            <p14:sldId id="360"/>
            <p14:sldId id="326"/>
            <p14:sldId id="331"/>
            <p14:sldId id="340"/>
            <p14:sldId id="320"/>
            <p14:sldId id="315"/>
            <p14:sldId id="336"/>
            <p14:sldId id="333"/>
            <p14:sldId id="302"/>
            <p14:sldId id="310"/>
            <p14:sldId id="357"/>
            <p14:sldId id="358"/>
            <p14:sldId id="359"/>
            <p14:sldId id="352"/>
            <p14:sldId id="351"/>
            <p14:sldId id="355"/>
            <p14:sldId id="323"/>
            <p14:sldId id="347"/>
            <p14:sldId id="339"/>
            <p14:sldId id="259"/>
            <p14:sldId id="329"/>
            <p14:sldId id="316"/>
            <p14:sldId id="263"/>
            <p14:sldId id="338"/>
            <p14:sldId id="292"/>
            <p14:sldId id="341"/>
            <p14:sldId id="261"/>
            <p14:sldId id="266"/>
            <p14:sldId id="294"/>
            <p14:sldId id="269"/>
            <p14:sldId id="291"/>
            <p14:sldId id="297"/>
            <p14:sldId id="278"/>
            <p14:sldId id="296"/>
            <p14:sldId id="298"/>
            <p14:sldId id="300"/>
            <p14:sldId id="301"/>
            <p14:sldId id="334"/>
            <p14:sldId id="335"/>
            <p14:sldId id="305"/>
            <p14:sldId id="304"/>
            <p14:sldId id="312"/>
            <p14:sldId id="308"/>
            <p14:sldId id="319"/>
            <p14:sldId id="318"/>
            <p14:sldId id="321"/>
            <p14:sldId id="354"/>
            <p14:sldId id="303"/>
            <p14:sldId id="309"/>
            <p14:sldId id="343"/>
            <p14:sldId id="313"/>
            <p14:sldId id="314"/>
            <p14:sldId id="276"/>
            <p14:sldId id="332"/>
            <p14:sldId id="275"/>
            <p14:sldId id="356"/>
            <p14:sldId id="35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A0606-5AC5-6AD3-3A5B-051035BBA6FF}" name="Miguel Gonzalez-Sanchez (JIC)" initials="MG" userId="S::luk24miz@nbi.ac.uk::b9a302a1-c19b-4372-8b0b-d81b6b7dd625" providerId="AD"/>
  <p188:author id="{C80760A0-29B4-9299-4F54-BEE065FC61FF}" name="Martin Vickers (JIC)" initials="M(" userId="S::mvickers@nbi.ac.uk::b86b2fdb-3891-4ce9-a36a-642f384008f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a:srgbClr val="46B1E1"/>
    <a:srgbClr val="8ED973"/>
    <a:srgbClr val="FFC000"/>
    <a:srgbClr val="D86E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39" autoAdjust="0"/>
  </p:normalViewPr>
  <p:slideViewPr>
    <p:cSldViewPr snapToGrid="0">
      <p:cViewPr varScale="1">
        <p:scale>
          <a:sx n="88" d="100"/>
          <a:sy n="88" d="100"/>
        </p:scale>
        <p:origin x="14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8/10/relationships/authors" Target="authors.xml"/><Relationship Id="rId61" Type="http://schemas.openxmlformats.org/officeDocument/2006/relationships/slide" Target="slides/slide60.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guel Gonzalez-Sanchez (JIC)" userId="b9a302a1-c19b-4372-8b0b-d81b6b7dd625" providerId="ADAL" clId="{C6E7E7D3-1FD0-47BE-A0ED-4797EDBE76D0}"/>
    <pc:docChg chg="undo redo custSel addSld modSld modSection">
      <pc:chgData name="Miguel Gonzalez-Sanchez (JIC)" userId="b9a302a1-c19b-4372-8b0b-d81b6b7dd625" providerId="ADAL" clId="{C6E7E7D3-1FD0-47BE-A0ED-4797EDBE76D0}" dt="2026-09-03T09:34:50.172" v="1076" actId="22"/>
      <pc:docMkLst>
        <pc:docMk/>
      </pc:docMkLst>
      <pc:sldChg chg="addSp delSp modSp mod">
        <pc:chgData name="Miguel Gonzalez-Sanchez (JIC)" userId="b9a302a1-c19b-4372-8b0b-d81b6b7dd625" providerId="ADAL" clId="{C6E7E7D3-1FD0-47BE-A0ED-4797EDBE76D0}" dt="2026-09-03T09:34:50.172" v="1076" actId="22"/>
        <pc:sldMkLst>
          <pc:docMk/>
          <pc:sldMk cId="3141331416" sldId="307"/>
        </pc:sldMkLst>
        <pc:spChg chg="del">
          <ac:chgData name="Miguel Gonzalez-Sanchez (JIC)" userId="b9a302a1-c19b-4372-8b0b-d81b6b7dd625" providerId="ADAL" clId="{C6E7E7D3-1FD0-47BE-A0ED-4797EDBE76D0}" dt="2026-09-03T09:34:48.937" v="1075" actId="478"/>
          <ac:spMkLst>
            <pc:docMk/>
            <pc:sldMk cId="3141331416" sldId="307"/>
            <ac:spMk id="3" creationId="{AD8D5B6D-9676-BAEE-EFBA-86EBDAF784B5}"/>
          </ac:spMkLst>
        </pc:spChg>
        <pc:spChg chg="del mod">
          <ac:chgData name="Miguel Gonzalez-Sanchez (JIC)" userId="b9a302a1-c19b-4372-8b0b-d81b6b7dd625" providerId="ADAL" clId="{C6E7E7D3-1FD0-47BE-A0ED-4797EDBE76D0}" dt="2026-09-03T09:34:47.562" v="1074" actId="478"/>
          <ac:spMkLst>
            <pc:docMk/>
            <pc:sldMk cId="3141331416" sldId="307"/>
            <ac:spMk id="7" creationId="{FE0D15DC-8F18-7B72-BBD6-E29BC660247C}"/>
          </ac:spMkLst>
        </pc:spChg>
        <pc:picChg chg="add">
          <ac:chgData name="Miguel Gonzalez-Sanchez (JIC)" userId="b9a302a1-c19b-4372-8b0b-d81b6b7dd625" providerId="ADAL" clId="{C6E7E7D3-1FD0-47BE-A0ED-4797EDBE76D0}" dt="2026-09-03T09:34:50.172" v="1076" actId="22"/>
          <ac:picMkLst>
            <pc:docMk/>
            <pc:sldMk cId="3141331416" sldId="307"/>
            <ac:picMk id="9" creationId="{93BA59DD-21E6-9056-5AA9-5B2F5D91A322}"/>
          </ac:picMkLst>
        </pc:picChg>
      </pc:sldChg>
      <pc:sldChg chg="addSp delSp mod">
        <pc:chgData name="Miguel Gonzalez-Sanchez (JIC)" userId="b9a302a1-c19b-4372-8b0b-d81b6b7dd625" providerId="ADAL" clId="{C6E7E7D3-1FD0-47BE-A0ED-4797EDBE76D0}" dt="2026-09-03T09:34:06.565" v="1071" actId="22"/>
        <pc:sldMkLst>
          <pc:docMk/>
          <pc:sldMk cId="3712771046" sldId="311"/>
        </pc:sldMkLst>
        <pc:picChg chg="add del">
          <ac:chgData name="Miguel Gonzalez-Sanchez (JIC)" userId="b9a302a1-c19b-4372-8b0b-d81b6b7dd625" providerId="ADAL" clId="{C6E7E7D3-1FD0-47BE-A0ED-4797EDBE76D0}" dt="2026-09-03T09:34:06.565" v="1071" actId="22"/>
          <ac:picMkLst>
            <pc:docMk/>
            <pc:sldMk cId="3712771046" sldId="311"/>
            <ac:picMk id="6" creationId="{0B27FE58-850B-46FD-AE93-6FA9B7DFE029}"/>
          </ac:picMkLst>
        </pc:picChg>
      </pc:sldChg>
      <pc:sldChg chg="addSp modSp mod">
        <pc:chgData name="Miguel Gonzalez-Sanchez (JIC)" userId="b9a302a1-c19b-4372-8b0b-d81b6b7dd625" providerId="ADAL" clId="{C6E7E7D3-1FD0-47BE-A0ED-4797EDBE76D0}" dt="2026-08-27T10:54:49.701" v="55" actId="1076"/>
        <pc:sldMkLst>
          <pc:docMk/>
          <pc:sldMk cId="3406130095" sldId="357"/>
        </pc:sldMkLst>
        <pc:spChg chg="add mod">
          <ac:chgData name="Miguel Gonzalez-Sanchez (JIC)" userId="b9a302a1-c19b-4372-8b0b-d81b6b7dd625" providerId="ADAL" clId="{C6E7E7D3-1FD0-47BE-A0ED-4797EDBE76D0}" dt="2026-08-27T10:54:49.701" v="55" actId="1076"/>
          <ac:spMkLst>
            <pc:docMk/>
            <pc:sldMk cId="3406130095" sldId="357"/>
            <ac:spMk id="6" creationId="{572E516F-D163-7A6C-5143-67F1F69825F4}"/>
          </ac:spMkLst>
        </pc:spChg>
        <pc:spChg chg="add mod">
          <ac:chgData name="Miguel Gonzalez-Sanchez (JIC)" userId="b9a302a1-c19b-4372-8b0b-d81b6b7dd625" providerId="ADAL" clId="{C6E7E7D3-1FD0-47BE-A0ED-4797EDBE76D0}" dt="2026-08-27T10:54:21.525" v="46" actId="1076"/>
          <ac:spMkLst>
            <pc:docMk/>
            <pc:sldMk cId="3406130095" sldId="357"/>
            <ac:spMk id="7" creationId="{639544BC-1F84-4740-B93B-C509912ACD1A}"/>
          </ac:spMkLst>
        </pc:spChg>
        <pc:spChg chg="mod">
          <ac:chgData name="Miguel Gonzalez-Sanchez (JIC)" userId="b9a302a1-c19b-4372-8b0b-d81b6b7dd625" providerId="ADAL" clId="{C6E7E7D3-1FD0-47BE-A0ED-4797EDBE76D0}" dt="2026-08-27T10:54:41.888" v="52" actId="1076"/>
          <ac:spMkLst>
            <pc:docMk/>
            <pc:sldMk cId="3406130095" sldId="357"/>
            <ac:spMk id="10" creationId="{5B472690-ACF5-BC12-0F89-20A3D1BA2EC7}"/>
          </ac:spMkLst>
        </pc:spChg>
      </pc:sldChg>
      <pc:sldChg chg="addSp delSp modSp add mod">
        <pc:chgData name="Miguel Gonzalez-Sanchez (JIC)" userId="b9a302a1-c19b-4372-8b0b-d81b6b7dd625" providerId="ADAL" clId="{C6E7E7D3-1FD0-47BE-A0ED-4797EDBE76D0}" dt="2026-08-27T11:16:29.236" v="1053" actId="5793"/>
        <pc:sldMkLst>
          <pc:docMk/>
          <pc:sldMk cId="4059021332" sldId="358"/>
        </pc:sldMkLst>
        <pc:spChg chg="mod">
          <ac:chgData name="Miguel Gonzalez-Sanchez (JIC)" userId="b9a302a1-c19b-4372-8b0b-d81b6b7dd625" providerId="ADAL" clId="{C6E7E7D3-1FD0-47BE-A0ED-4797EDBE76D0}" dt="2026-08-27T10:36:04.426" v="22" actId="20577"/>
          <ac:spMkLst>
            <pc:docMk/>
            <pc:sldMk cId="4059021332" sldId="358"/>
            <ac:spMk id="2" creationId="{36766D01-4A7A-194D-71F0-4D4646092D59}"/>
          </ac:spMkLst>
        </pc:spChg>
        <pc:spChg chg="mod">
          <ac:chgData name="Miguel Gonzalez-Sanchez (JIC)" userId="b9a302a1-c19b-4372-8b0b-d81b6b7dd625" providerId="ADAL" clId="{C6E7E7D3-1FD0-47BE-A0ED-4797EDBE76D0}" dt="2026-08-27T11:16:29.236" v="1053" actId="5793"/>
          <ac:spMkLst>
            <pc:docMk/>
            <pc:sldMk cId="4059021332" sldId="358"/>
            <ac:spMk id="10" creationId="{2A24E42F-EB16-DD5B-2184-81EBBFFD0693}"/>
          </ac:spMkLst>
        </pc:spChg>
      </pc:sldChg>
      <pc:sldChg chg="modSp add mod">
        <pc:chgData name="Miguel Gonzalez-Sanchez (JIC)" userId="b9a302a1-c19b-4372-8b0b-d81b6b7dd625" providerId="ADAL" clId="{C6E7E7D3-1FD0-47BE-A0ED-4797EDBE76D0}" dt="2026-08-27T11:17:37.623" v="1069" actId="1076"/>
        <pc:sldMkLst>
          <pc:docMk/>
          <pc:sldMk cId="3476937900" sldId="359"/>
        </pc:sldMkLst>
        <pc:spChg chg="mod">
          <ac:chgData name="Miguel Gonzalez-Sanchez (JIC)" userId="b9a302a1-c19b-4372-8b0b-d81b6b7dd625" providerId="ADAL" clId="{C6E7E7D3-1FD0-47BE-A0ED-4797EDBE76D0}" dt="2026-08-27T11:17:30.738" v="1067" actId="15"/>
          <ac:spMkLst>
            <pc:docMk/>
            <pc:sldMk cId="3476937900" sldId="359"/>
            <ac:spMk id="10" creationId="{BBDE66B4-A884-6DD0-16C1-C3799362880E}"/>
          </ac:spMkLst>
        </pc:spChg>
        <pc:picChg chg="mod">
          <ac:chgData name="Miguel Gonzalez-Sanchez (JIC)" userId="b9a302a1-c19b-4372-8b0b-d81b6b7dd625" providerId="ADAL" clId="{C6E7E7D3-1FD0-47BE-A0ED-4797EDBE76D0}" dt="2026-08-27T11:17:37.623" v="1069" actId="1076"/>
          <ac:picMkLst>
            <pc:docMk/>
            <pc:sldMk cId="3476937900" sldId="359"/>
            <ac:picMk id="7" creationId="{11558C99-8D5D-1415-B94E-544A2C9EE26E}"/>
          </ac:picMkLst>
        </pc:picChg>
      </pc:sldChg>
      <pc:sldChg chg="add">
        <pc:chgData name="Miguel Gonzalez-Sanchez (JIC)" userId="b9a302a1-c19b-4372-8b0b-d81b6b7dd625" providerId="ADAL" clId="{C6E7E7D3-1FD0-47BE-A0ED-4797EDBE76D0}" dt="2026-09-03T09:34:42.638" v="1072" actId="2890"/>
        <pc:sldMkLst>
          <pc:docMk/>
          <pc:sldMk cId="1607806788" sldId="3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1754DB-3DDC-4FFF-A930-CA7131D3F98A}" type="datetimeFigureOut">
              <a:rPr lang="en-GB" smtClean="0"/>
              <a:t>07/09/2026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7523E-1259-49B9-A6B1-A51465E22A21}" type="slidenum">
              <a:rPr lang="en-GB" smtClean="0"/>
              <a:t>‹#›</a:t>
            </a:fld>
            <a:endParaRPr lang="en-GB"/>
          </a:p>
        </p:txBody>
      </p:sp>
    </p:spTree>
    <p:extLst>
      <p:ext uri="{BB962C8B-B14F-4D97-AF65-F5344CB8AC3E}">
        <p14:creationId xmlns:p14="http://schemas.microsoft.com/office/powerpoint/2010/main" val="2620477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7523E-1259-49B9-A6B1-A51465E22A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5586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0F7523E-1259-49B9-A6B1-A51465E22A21}" type="slidenum">
              <a:rPr lang="en-GB" smtClean="0"/>
              <a:t>14</a:t>
            </a:fld>
            <a:endParaRPr lang="en-GB"/>
          </a:p>
        </p:txBody>
      </p:sp>
    </p:spTree>
    <p:extLst>
      <p:ext uri="{BB962C8B-B14F-4D97-AF65-F5344CB8AC3E}">
        <p14:creationId xmlns:p14="http://schemas.microsoft.com/office/powerpoint/2010/main" val="371226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0F7523E-1259-49B9-A6B1-A51465E22A21}" type="slidenum">
              <a:rPr lang="en-GB" smtClean="0"/>
              <a:t>15</a:t>
            </a:fld>
            <a:endParaRPr lang="en-GB"/>
          </a:p>
        </p:txBody>
      </p:sp>
    </p:spTree>
    <p:extLst>
      <p:ext uri="{BB962C8B-B14F-4D97-AF65-F5344CB8AC3E}">
        <p14:creationId xmlns:p14="http://schemas.microsoft.com/office/powerpoint/2010/main" val="928859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0F7523E-1259-49B9-A6B1-A51465E22A21}" type="slidenum">
              <a:rPr lang="en-GB" smtClean="0"/>
              <a:t>16</a:t>
            </a:fld>
            <a:endParaRPr lang="en-GB"/>
          </a:p>
        </p:txBody>
      </p:sp>
    </p:spTree>
    <p:extLst>
      <p:ext uri="{BB962C8B-B14F-4D97-AF65-F5344CB8AC3E}">
        <p14:creationId xmlns:p14="http://schemas.microsoft.com/office/powerpoint/2010/main" val="557355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0F7523E-1259-49B9-A6B1-A51465E22A21}" type="slidenum">
              <a:rPr lang="en-GB" smtClean="0"/>
              <a:t>17</a:t>
            </a:fld>
            <a:endParaRPr lang="en-GB"/>
          </a:p>
        </p:txBody>
      </p:sp>
    </p:spTree>
    <p:extLst>
      <p:ext uri="{BB962C8B-B14F-4D97-AF65-F5344CB8AC3E}">
        <p14:creationId xmlns:p14="http://schemas.microsoft.com/office/powerpoint/2010/main" val="3430943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A6402-E33B-9531-56B3-547E13A7A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8A133-4A6B-12EB-750A-172EDD52E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71928-B83A-F004-50F9-C8D4FAF6877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4DE63B4-35FC-5B9B-1A7C-C1FC013914AA}"/>
              </a:ext>
            </a:extLst>
          </p:cNvPr>
          <p:cNvSpPr>
            <a:spLocks noGrp="1"/>
          </p:cNvSpPr>
          <p:nvPr>
            <p:ph type="sldNum" sz="quarter" idx="5"/>
          </p:nvPr>
        </p:nvSpPr>
        <p:spPr/>
        <p:txBody>
          <a:bodyPr/>
          <a:lstStyle/>
          <a:p>
            <a:fld id="{D0F7523E-1259-49B9-A6B1-A51465E22A21}" type="slidenum">
              <a:rPr lang="en-GB" smtClean="0"/>
              <a:t>18</a:t>
            </a:fld>
            <a:endParaRPr lang="en-GB"/>
          </a:p>
        </p:txBody>
      </p:sp>
    </p:spTree>
    <p:extLst>
      <p:ext uri="{BB962C8B-B14F-4D97-AF65-F5344CB8AC3E}">
        <p14:creationId xmlns:p14="http://schemas.microsoft.com/office/powerpoint/2010/main" val="3238018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87C78-F453-3318-D828-B468C8CC7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E6076-759D-44ED-BA17-36D20B465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B64BF-DA80-7F4D-772D-129EFD3C08A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0F8F97A-F91B-DB9D-4D72-556927A3C0D6}"/>
              </a:ext>
            </a:extLst>
          </p:cNvPr>
          <p:cNvSpPr>
            <a:spLocks noGrp="1"/>
          </p:cNvSpPr>
          <p:nvPr>
            <p:ph type="sldNum" sz="quarter" idx="5"/>
          </p:nvPr>
        </p:nvSpPr>
        <p:spPr/>
        <p:txBody>
          <a:bodyPr/>
          <a:lstStyle/>
          <a:p>
            <a:fld id="{D0F7523E-1259-49B9-A6B1-A51465E22A21}" type="slidenum">
              <a:rPr lang="en-GB" smtClean="0"/>
              <a:t>19</a:t>
            </a:fld>
            <a:endParaRPr lang="en-GB"/>
          </a:p>
        </p:txBody>
      </p:sp>
    </p:spTree>
    <p:extLst>
      <p:ext uri="{BB962C8B-B14F-4D97-AF65-F5344CB8AC3E}">
        <p14:creationId xmlns:p14="http://schemas.microsoft.com/office/powerpoint/2010/main" val="1145728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BEE99-0CDE-1426-AB96-035D120B0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29BDE-DD30-B6B0-BACA-CEB20BD9A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E8501-3EC5-3085-B196-605B29B8E1E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0259769-16DA-4586-3C89-B4791B6B6CD4}"/>
              </a:ext>
            </a:extLst>
          </p:cNvPr>
          <p:cNvSpPr>
            <a:spLocks noGrp="1"/>
          </p:cNvSpPr>
          <p:nvPr>
            <p:ph type="sldNum" sz="quarter" idx="5"/>
          </p:nvPr>
        </p:nvSpPr>
        <p:spPr/>
        <p:txBody>
          <a:bodyPr/>
          <a:lstStyle/>
          <a:p>
            <a:fld id="{D0F7523E-1259-49B9-A6B1-A51465E22A21}" type="slidenum">
              <a:rPr lang="en-GB" smtClean="0"/>
              <a:t>20</a:t>
            </a:fld>
            <a:endParaRPr lang="en-GB"/>
          </a:p>
        </p:txBody>
      </p:sp>
    </p:spTree>
    <p:extLst>
      <p:ext uri="{BB962C8B-B14F-4D97-AF65-F5344CB8AC3E}">
        <p14:creationId xmlns:p14="http://schemas.microsoft.com/office/powerpoint/2010/main" val="828444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0F7523E-1259-49B9-A6B1-A51465E22A21}" type="slidenum">
              <a:rPr lang="en-GB" smtClean="0"/>
              <a:t>22</a:t>
            </a:fld>
            <a:endParaRPr lang="en-GB"/>
          </a:p>
        </p:txBody>
      </p:sp>
    </p:spTree>
    <p:extLst>
      <p:ext uri="{BB962C8B-B14F-4D97-AF65-F5344CB8AC3E}">
        <p14:creationId xmlns:p14="http://schemas.microsoft.com/office/powerpoint/2010/main" val="457315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A98F0-3AF7-AA2B-172D-EDE8E22D9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EDF35-B868-D136-C648-7655CCDBB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A3491-238E-7A75-B580-41AC77B6BDB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2B2012-668D-8ADB-9852-F96806245C67}"/>
              </a:ext>
            </a:extLst>
          </p:cNvPr>
          <p:cNvSpPr>
            <a:spLocks noGrp="1"/>
          </p:cNvSpPr>
          <p:nvPr>
            <p:ph type="sldNum" sz="quarter" idx="5"/>
          </p:nvPr>
        </p:nvSpPr>
        <p:spPr/>
        <p:txBody>
          <a:bodyPr/>
          <a:lstStyle/>
          <a:p>
            <a:fld id="{D0F7523E-1259-49B9-A6B1-A51465E22A21}" type="slidenum">
              <a:rPr lang="en-GB" smtClean="0"/>
              <a:t>23</a:t>
            </a:fld>
            <a:endParaRPr lang="en-GB"/>
          </a:p>
        </p:txBody>
      </p:sp>
    </p:spTree>
    <p:extLst>
      <p:ext uri="{BB962C8B-B14F-4D97-AF65-F5344CB8AC3E}">
        <p14:creationId xmlns:p14="http://schemas.microsoft.com/office/powerpoint/2010/main" val="2245008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PC on the instrument network \\n114403 </a:t>
            </a:r>
          </a:p>
        </p:txBody>
      </p:sp>
      <p:sp>
        <p:nvSpPr>
          <p:cNvPr id="4" name="Slide Number Placeholder 3"/>
          <p:cNvSpPr>
            <a:spLocks noGrp="1"/>
          </p:cNvSpPr>
          <p:nvPr>
            <p:ph type="sldNum" sz="quarter" idx="5"/>
          </p:nvPr>
        </p:nvSpPr>
        <p:spPr/>
        <p:txBody>
          <a:bodyPr/>
          <a:lstStyle/>
          <a:p>
            <a:fld id="{D0F7523E-1259-49B9-A6B1-A51465E22A21}" type="slidenum">
              <a:rPr lang="en-GB" smtClean="0"/>
              <a:t>26</a:t>
            </a:fld>
            <a:endParaRPr lang="en-GB"/>
          </a:p>
        </p:txBody>
      </p:sp>
    </p:spTree>
    <p:extLst>
      <p:ext uri="{BB962C8B-B14F-4D97-AF65-F5344CB8AC3E}">
        <p14:creationId xmlns:p14="http://schemas.microsoft.com/office/powerpoint/2010/main" val="3702611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CE0C6-DB57-8C77-1613-B92EEDF46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3B8EB-FB2D-45B8-97E7-72C7A7C84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302D3-FA90-3ECD-B51B-45B09DA3B127}"/>
              </a:ext>
            </a:extLst>
          </p:cNvPr>
          <p:cNvSpPr>
            <a:spLocks noGrp="1"/>
          </p:cNvSpPr>
          <p:nvPr>
            <p:ph type="body" idx="1"/>
          </p:nvPr>
        </p:nvSpPr>
        <p:spPr/>
        <p:txBody>
          <a:bodyPr/>
          <a:lstStyle/>
          <a:p>
            <a:pPr>
              <a:buNone/>
            </a:pPr>
            <a:r>
              <a:rPr lang="en-GB"/>
              <a:t>Hourly's where scheduled are </a:t>
            </a:r>
            <a:r>
              <a:rPr lang="en-GB" i="1"/>
              <a:t>usually</a:t>
            </a:r>
            <a:r>
              <a:rPr lang="en-GB"/>
              <a:t> taken every two hours, between 8am and 6pm, and are available for ~26 hours</a:t>
            </a:r>
          </a:p>
          <a:p>
            <a:pPr>
              <a:buNone/>
            </a:pPr>
            <a:r>
              <a:rPr lang="en-GB"/>
              <a:t>Daily's where scheduled are taken </a:t>
            </a:r>
            <a:r>
              <a:rPr lang="en-GB" i="1"/>
              <a:t>usually </a:t>
            </a:r>
            <a:r>
              <a:rPr lang="en-GB"/>
              <a:t>at midnight, and are available for ~8 days</a:t>
            </a:r>
          </a:p>
          <a:p>
            <a:pPr>
              <a:buNone/>
            </a:pPr>
            <a:r>
              <a:rPr lang="en-GB"/>
              <a:t>Weekly's where scheduled are taken </a:t>
            </a:r>
            <a:r>
              <a:rPr lang="en-GB" i="1"/>
              <a:t>usually </a:t>
            </a:r>
            <a:r>
              <a:rPr lang="en-GB"/>
              <a:t>at midnight on Sundays, and are available for ~5 weeks</a:t>
            </a:r>
          </a:p>
          <a:p>
            <a:r>
              <a:rPr lang="en-GB"/>
              <a:t>and Monthly's where scheduled are taken </a:t>
            </a:r>
            <a:r>
              <a:rPr lang="en-GB" i="1"/>
              <a:t>usually </a:t>
            </a:r>
            <a:r>
              <a:rPr lang="en-GB"/>
              <a:t>on the first of the month at midnight, and are available for between ~4 to 7 months</a:t>
            </a:r>
          </a:p>
          <a:p>
            <a:endParaRPr lang="en-GB"/>
          </a:p>
        </p:txBody>
      </p:sp>
      <p:sp>
        <p:nvSpPr>
          <p:cNvPr id="4" name="Slide Number Placeholder 3">
            <a:extLst>
              <a:ext uri="{FF2B5EF4-FFF2-40B4-BE49-F238E27FC236}">
                <a16:creationId xmlns:a16="http://schemas.microsoft.com/office/drawing/2014/main" id="{CE5D654F-6D5D-9695-C4D8-722ED507A4E3}"/>
              </a:ext>
            </a:extLst>
          </p:cNvPr>
          <p:cNvSpPr>
            <a:spLocks noGrp="1"/>
          </p:cNvSpPr>
          <p:nvPr>
            <p:ph type="sldNum" sz="quarter" idx="5"/>
          </p:nvPr>
        </p:nvSpPr>
        <p:spPr/>
        <p:txBody>
          <a:bodyPr/>
          <a:lstStyle/>
          <a:p>
            <a:fld id="{D0F7523E-1259-49B9-A6B1-A51465E22A21}" type="slidenum">
              <a:rPr lang="en-GB" smtClean="0"/>
              <a:t>27</a:t>
            </a:fld>
            <a:endParaRPr lang="en-GB"/>
          </a:p>
        </p:txBody>
      </p:sp>
    </p:spTree>
    <p:extLst>
      <p:ext uri="{BB962C8B-B14F-4D97-AF65-F5344CB8AC3E}">
        <p14:creationId xmlns:p14="http://schemas.microsoft.com/office/powerpoint/2010/main" val="2916729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60A8-56DD-6F23-87D0-D9C54F7AE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916A4-A05E-CD5B-3C8D-BDBAC563E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3AD1DF-DDAF-864D-173C-85E1A4F3AF67}"/>
              </a:ext>
            </a:extLst>
          </p:cNvPr>
          <p:cNvSpPr>
            <a:spLocks noGrp="1"/>
          </p:cNvSpPr>
          <p:nvPr>
            <p:ph type="body" idx="1"/>
          </p:nvPr>
        </p:nvSpPr>
        <p:spPr/>
        <p:txBody>
          <a:bodyPr/>
          <a:lstStyle/>
          <a:p>
            <a:pPr>
              <a:buNone/>
            </a:pPr>
            <a:r>
              <a:rPr lang="en-GB"/>
              <a:t>Hourly's where scheduled are </a:t>
            </a:r>
            <a:r>
              <a:rPr lang="en-GB" i="1"/>
              <a:t>usually</a:t>
            </a:r>
            <a:r>
              <a:rPr lang="en-GB"/>
              <a:t> taken every two hours, between 8am and 6pm, and are available for ~26 hours</a:t>
            </a:r>
          </a:p>
          <a:p>
            <a:pPr>
              <a:buNone/>
            </a:pPr>
            <a:r>
              <a:rPr lang="en-GB"/>
              <a:t>Daily's where scheduled are taken </a:t>
            </a:r>
            <a:r>
              <a:rPr lang="en-GB" i="1"/>
              <a:t>usually </a:t>
            </a:r>
            <a:r>
              <a:rPr lang="en-GB"/>
              <a:t>at midnight, and are available for ~8 days</a:t>
            </a:r>
          </a:p>
          <a:p>
            <a:pPr>
              <a:buNone/>
            </a:pPr>
            <a:r>
              <a:rPr lang="en-GB"/>
              <a:t>Weekly's where scheduled are taken </a:t>
            </a:r>
            <a:r>
              <a:rPr lang="en-GB" i="1"/>
              <a:t>usually </a:t>
            </a:r>
            <a:r>
              <a:rPr lang="en-GB"/>
              <a:t>at midnight on Sundays, and are available for ~5 weeks</a:t>
            </a:r>
          </a:p>
          <a:p>
            <a:r>
              <a:rPr lang="en-GB"/>
              <a:t>and Monthly's where scheduled are taken </a:t>
            </a:r>
            <a:r>
              <a:rPr lang="en-GB" i="1"/>
              <a:t>usually </a:t>
            </a:r>
            <a:r>
              <a:rPr lang="en-GB"/>
              <a:t>on the first of the month at midnight, and are available for between ~4 to 7 months</a:t>
            </a:r>
          </a:p>
          <a:p>
            <a:endParaRPr lang="en-GB"/>
          </a:p>
        </p:txBody>
      </p:sp>
      <p:sp>
        <p:nvSpPr>
          <p:cNvPr id="4" name="Slide Number Placeholder 3">
            <a:extLst>
              <a:ext uri="{FF2B5EF4-FFF2-40B4-BE49-F238E27FC236}">
                <a16:creationId xmlns:a16="http://schemas.microsoft.com/office/drawing/2014/main" id="{FEC99447-69C1-A277-9B12-0C7D93E721AB}"/>
              </a:ext>
            </a:extLst>
          </p:cNvPr>
          <p:cNvSpPr>
            <a:spLocks noGrp="1"/>
          </p:cNvSpPr>
          <p:nvPr>
            <p:ph type="sldNum" sz="quarter" idx="5"/>
          </p:nvPr>
        </p:nvSpPr>
        <p:spPr/>
        <p:txBody>
          <a:bodyPr/>
          <a:lstStyle/>
          <a:p>
            <a:fld id="{D0F7523E-1259-49B9-A6B1-A51465E22A21}" type="slidenum">
              <a:rPr lang="en-GB" smtClean="0"/>
              <a:t>28</a:t>
            </a:fld>
            <a:endParaRPr lang="en-GB"/>
          </a:p>
        </p:txBody>
      </p:sp>
    </p:spTree>
    <p:extLst>
      <p:ext uri="{BB962C8B-B14F-4D97-AF65-F5344CB8AC3E}">
        <p14:creationId xmlns:p14="http://schemas.microsoft.com/office/powerpoint/2010/main" val="948815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7BF9-4B86-D8A9-9F18-22C69A8CB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F753B-3AEA-5A44-E630-C520D6839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D14EB-D5AC-01C1-DE2E-20B9C77C0926}"/>
              </a:ext>
            </a:extLst>
          </p:cNvPr>
          <p:cNvSpPr>
            <a:spLocks noGrp="1"/>
          </p:cNvSpPr>
          <p:nvPr>
            <p:ph type="body" idx="1"/>
          </p:nvPr>
        </p:nvSpPr>
        <p:spPr/>
        <p:txBody>
          <a:bodyPr/>
          <a:lstStyle/>
          <a:p>
            <a:r>
              <a:rPr lang="en-GB"/>
              <a:t>U drive \\ji-cfs2\luk24miz</a:t>
            </a:r>
          </a:p>
          <a:p>
            <a:r>
              <a:rPr lang="en-GB"/>
              <a:t>HPC-home   \\jic-hpc-data\HPC-Home</a:t>
            </a:r>
          </a:p>
        </p:txBody>
      </p:sp>
      <p:sp>
        <p:nvSpPr>
          <p:cNvPr id="4" name="Slide Number Placeholder 3">
            <a:extLst>
              <a:ext uri="{FF2B5EF4-FFF2-40B4-BE49-F238E27FC236}">
                <a16:creationId xmlns:a16="http://schemas.microsoft.com/office/drawing/2014/main" id="{EC62877F-5947-A13E-FF7D-AB112BBC57BE}"/>
              </a:ext>
            </a:extLst>
          </p:cNvPr>
          <p:cNvSpPr>
            <a:spLocks noGrp="1"/>
          </p:cNvSpPr>
          <p:nvPr>
            <p:ph type="sldNum" sz="quarter" idx="5"/>
          </p:nvPr>
        </p:nvSpPr>
        <p:spPr/>
        <p:txBody>
          <a:bodyPr/>
          <a:lstStyle/>
          <a:p>
            <a:fld id="{D0F7523E-1259-49B9-A6B1-A51465E22A21}" type="slidenum">
              <a:rPr lang="en-GB" smtClean="0"/>
              <a:t>36</a:t>
            </a:fld>
            <a:endParaRPr lang="en-GB"/>
          </a:p>
        </p:txBody>
      </p:sp>
    </p:spTree>
    <p:extLst>
      <p:ext uri="{BB962C8B-B14F-4D97-AF65-F5344CB8AC3E}">
        <p14:creationId xmlns:p14="http://schemas.microsoft.com/office/powerpoint/2010/main" val="3355444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B948-C9BB-CF89-8E00-D56DC53A4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78340-84A7-607D-1079-8DE805861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34D0BC-1367-B4CE-61D8-B43C02594DA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CE31C63-1C48-581D-9418-E8C431070CBC}"/>
              </a:ext>
            </a:extLst>
          </p:cNvPr>
          <p:cNvSpPr>
            <a:spLocks noGrp="1"/>
          </p:cNvSpPr>
          <p:nvPr>
            <p:ph type="sldNum" sz="quarter" idx="5"/>
          </p:nvPr>
        </p:nvSpPr>
        <p:spPr/>
        <p:txBody>
          <a:bodyPr/>
          <a:lstStyle/>
          <a:p>
            <a:fld id="{D0F7523E-1259-49B9-A6B1-A51465E22A21}" type="slidenum">
              <a:rPr lang="en-GB" smtClean="0"/>
              <a:t>38</a:t>
            </a:fld>
            <a:endParaRPr lang="en-GB"/>
          </a:p>
        </p:txBody>
      </p:sp>
    </p:spTree>
    <p:extLst>
      <p:ext uri="{BB962C8B-B14F-4D97-AF65-F5344CB8AC3E}">
        <p14:creationId xmlns:p14="http://schemas.microsoft.com/office/powerpoint/2010/main" val="314436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B948-C9BB-CF89-8E00-D56DC53A4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78340-84A7-607D-1079-8DE805861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34D0BC-1367-B4CE-61D8-B43C02594DAF}"/>
              </a:ext>
            </a:extLst>
          </p:cNvPr>
          <p:cNvSpPr>
            <a:spLocks noGrp="1"/>
          </p:cNvSpPr>
          <p:nvPr>
            <p:ph type="body" idx="1"/>
          </p:nvPr>
        </p:nvSpPr>
        <p:spPr/>
        <p:txBody>
          <a:bodyPr/>
          <a:lstStyle/>
          <a:p>
            <a:r>
              <a:rPr lang="en-GB"/>
              <a:t>THIS IS THE LAST SLIDE!!!</a:t>
            </a:r>
          </a:p>
        </p:txBody>
      </p:sp>
      <p:sp>
        <p:nvSpPr>
          <p:cNvPr id="4" name="Slide Number Placeholder 3">
            <a:extLst>
              <a:ext uri="{FF2B5EF4-FFF2-40B4-BE49-F238E27FC236}">
                <a16:creationId xmlns:a16="http://schemas.microsoft.com/office/drawing/2014/main" id="{4CE31C63-1C48-581D-9418-E8C431070CBC}"/>
              </a:ext>
            </a:extLst>
          </p:cNvPr>
          <p:cNvSpPr>
            <a:spLocks noGrp="1"/>
          </p:cNvSpPr>
          <p:nvPr>
            <p:ph type="sldNum" sz="quarter" idx="5"/>
          </p:nvPr>
        </p:nvSpPr>
        <p:spPr/>
        <p:txBody>
          <a:bodyPr/>
          <a:lstStyle/>
          <a:p>
            <a:fld id="{D0F7523E-1259-49B9-A6B1-A51465E22A21}" type="slidenum">
              <a:rPr lang="en-GB" smtClean="0"/>
              <a:t>39</a:t>
            </a:fld>
            <a:endParaRPr lang="en-GB"/>
          </a:p>
        </p:txBody>
      </p:sp>
    </p:spTree>
    <p:extLst>
      <p:ext uri="{BB962C8B-B14F-4D97-AF65-F5344CB8AC3E}">
        <p14:creationId xmlns:p14="http://schemas.microsoft.com/office/powerpoint/2010/main" val="314436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2717C-4389-EB16-4F79-B9BB22F63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394A9-7E83-949D-0F43-5D00312F1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89184-3813-AF70-925A-66C903929BB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3787663-8516-52F7-F2FA-DBF76441BA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7523E-1259-49B9-A6B1-A51465E22A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6294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0F7523E-1259-49B9-A6B1-A51465E22A21}" type="slidenum">
              <a:rPr lang="en-GB" smtClean="0"/>
              <a:t>41</a:t>
            </a:fld>
            <a:endParaRPr lang="en-GB"/>
          </a:p>
        </p:txBody>
      </p:sp>
    </p:spTree>
    <p:extLst>
      <p:ext uri="{BB962C8B-B14F-4D97-AF65-F5344CB8AC3E}">
        <p14:creationId xmlns:p14="http://schemas.microsoft.com/office/powerpoint/2010/main" val="3325354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create a </a:t>
            </a:r>
            <a:r>
              <a:rPr lang="en-GB" err="1"/>
              <a:t>tmux</a:t>
            </a:r>
            <a:r>
              <a:rPr lang="en-GB"/>
              <a:t> session use </a:t>
            </a:r>
            <a:r>
              <a:rPr lang="en-GB" err="1"/>
              <a:t>ctraining</a:t>
            </a:r>
            <a:r>
              <a:rPr lang="en-GB"/>
              <a:t>, for the attendees to attach to the session (read only) they have to use </a:t>
            </a:r>
            <a:r>
              <a:rPr lang="en-GB" err="1"/>
              <a:t>atraining</a:t>
            </a:r>
            <a:r>
              <a:rPr lang="en-GB"/>
              <a:t>, kill-training will kill an open session if there is already one. </a:t>
            </a:r>
          </a:p>
        </p:txBody>
      </p:sp>
      <p:sp>
        <p:nvSpPr>
          <p:cNvPr id="4" name="Slide Number Placeholder 3"/>
          <p:cNvSpPr>
            <a:spLocks noGrp="1"/>
          </p:cNvSpPr>
          <p:nvPr>
            <p:ph type="sldNum" sz="quarter" idx="5"/>
          </p:nvPr>
        </p:nvSpPr>
        <p:spPr/>
        <p:txBody>
          <a:bodyPr/>
          <a:lstStyle/>
          <a:p>
            <a:fld id="{D0F7523E-1259-49B9-A6B1-A51465E22A21}" type="slidenum">
              <a:rPr lang="en-GB" smtClean="0"/>
              <a:t>42</a:t>
            </a:fld>
            <a:endParaRPr lang="en-GB"/>
          </a:p>
        </p:txBody>
      </p:sp>
    </p:spTree>
    <p:extLst>
      <p:ext uri="{BB962C8B-B14F-4D97-AF65-F5344CB8AC3E}">
        <p14:creationId xmlns:p14="http://schemas.microsoft.com/office/powerpoint/2010/main" val="4232775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FA3B7-6EE0-22F4-6A90-38EF6ED7B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8B825-D2ED-A160-FFCB-2A6D39073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B4A888-D142-EA01-D065-D84631BA6C19}"/>
              </a:ext>
            </a:extLst>
          </p:cNvPr>
          <p:cNvSpPr>
            <a:spLocks noGrp="1"/>
          </p:cNvSpPr>
          <p:nvPr>
            <p:ph type="body" idx="1"/>
          </p:nvPr>
        </p:nvSpPr>
        <p:spPr/>
        <p:txBody>
          <a:bodyPr/>
          <a:lstStyle/>
          <a:p>
            <a:r>
              <a:rPr lang="en-GB"/>
              <a:t>. </a:t>
            </a:r>
          </a:p>
        </p:txBody>
      </p:sp>
      <p:sp>
        <p:nvSpPr>
          <p:cNvPr id="4" name="Slide Number Placeholder 3">
            <a:extLst>
              <a:ext uri="{FF2B5EF4-FFF2-40B4-BE49-F238E27FC236}">
                <a16:creationId xmlns:a16="http://schemas.microsoft.com/office/drawing/2014/main" id="{248C2646-34A2-9DC5-8E32-7C9083A13440}"/>
              </a:ext>
            </a:extLst>
          </p:cNvPr>
          <p:cNvSpPr>
            <a:spLocks noGrp="1"/>
          </p:cNvSpPr>
          <p:nvPr>
            <p:ph type="sldNum" sz="quarter" idx="5"/>
          </p:nvPr>
        </p:nvSpPr>
        <p:spPr/>
        <p:txBody>
          <a:bodyPr/>
          <a:lstStyle/>
          <a:p>
            <a:fld id="{D0F7523E-1259-49B9-A6B1-A51465E22A21}" type="slidenum">
              <a:rPr lang="en-GB" smtClean="0"/>
              <a:t>43</a:t>
            </a:fld>
            <a:endParaRPr lang="en-GB"/>
          </a:p>
        </p:txBody>
      </p:sp>
    </p:spTree>
    <p:extLst>
      <p:ext uri="{BB962C8B-B14F-4D97-AF65-F5344CB8AC3E}">
        <p14:creationId xmlns:p14="http://schemas.microsoft.com/office/powerpoint/2010/main" val="2821655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6F1B5-95AC-2605-352F-C781CDEA7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75014-FA4A-5578-B392-05F098BD4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28C97-BD8D-DBF7-B861-D75CA4968E0F}"/>
              </a:ext>
            </a:extLst>
          </p:cNvPr>
          <p:cNvSpPr>
            <a:spLocks noGrp="1"/>
          </p:cNvSpPr>
          <p:nvPr>
            <p:ph type="body" idx="1"/>
          </p:nvPr>
        </p:nvSpPr>
        <p:spPr/>
        <p:txBody>
          <a:bodyPr/>
          <a:lstStyle/>
          <a:p>
            <a:r>
              <a:rPr lang="en-GB"/>
              <a:t>. </a:t>
            </a:r>
          </a:p>
        </p:txBody>
      </p:sp>
      <p:sp>
        <p:nvSpPr>
          <p:cNvPr id="4" name="Slide Number Placeholder 3">
            <a:extLst>
              <a:ext uri="{FF2B5EF4-FFF2-40B4-BE49-F238E27FC236}">
                <a16:creationId xmlns:a16="http://schemas.microsoft.com/office/drawing/2014/main" id="{42643DEE-E877-4FA0-B153-B16AB52FD5B6}"/>
              </a:ext>
            </a:extLst>
          </p:cNvPr>
          <p:cNvSpPr>
            <a:spLocks noGrp="1"/>
          </p:cNvSpPr>
          <p:nvPr>
            <p:ph type="sldNum" sz="quarter" idx="5"/>
          </p:nvPr>
        </p:nvSpPr>
        <p:spPr/>
        <p:txBody>
          <a:bodyPr/>
          <a:lstStyle/>
          <a:p>
            <a:fld id="{D0F7523E-1259-49B9-A6B1-A51465E22A21}" type="slidenum">
              <a:rPr lang="en-GB" smtClean="0"/>
              <a:t>44</a:t>
            </a:fld>
            <a:endParaRPr lang="en-GB"/>
          </a:p>
        </p:txBody>
      </p:sp>
    </p:spTree>
    <p:extLst>
      <p:ext uri="{BB962C8B-B14F-4D97-AF65-F5344CB8AC3E}">
        <p14:creationId xmlns:p14="http://schemas.microsoft.com/office/powerpoint/2010/main" val="8250422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7523E-1259-49B9-A6B1-A51465E22A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93594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0F7523E-1259-49B9-A6B1-A51465E22A21}" type="slidenum">
              <a:rPr lang="en-GB" smtClean="0"/>
              <a:t>49</a:t>
            </a:fld>
            <a:endParaRPr lang="en-GB"/>
          </a:p>
        </p:txBody>
      </p:sp>
    </p:spTree>
    <p:extLst>
      <p:ext uri="{BB962C8B-B14F-4D97-AF65-F5344CB8AC3E}">
        <p14:creationId xmlns:p14="http://schemas.microsoft.com/office/powerpoint/2010/main" val="3640293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0F7523E-1259-49B9-A6B1-A51465E22A21}" type="slidenum">
              <a:rPr lang="en-GB" smtClean="0"/>
              <a:t>53</a:t>
            </a:fld>
            <a:endParaRPr lang="en-GB"/>
          </a:p>
        </p:txBody>
      </p:sp>
    </p:spTree>
    <p:extLst>
      <p:ext uri="{BB962C8B-B14F-4D97-AF65-F5344CB8AC3E}">
        <p14:creationId xmlns:p14="http://schemas.microsoft.com/office/powerpoint/2010/main" val="1755933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0F7523E-1259-49B9-A6B1-A51465E22A21}" type="slidenum">
              <a:rPr lang="en-GB" smtClean="0"/>
              <a:t>59</a:t>
            </a:fld>
            <a:endParaRPr lang="en-GB"/>
          </a:p>
        </p:txBody>
      </p:sp>
    </p:spTree>
    <p:extLst>
      <p:ext uri="{BB962C8B-B14F-4D97-AF65-F5344CB8AC3E}">
        <p14:creationId xmlns:p14="http://schemas.microsoft.com/office/powerpoint/2010/main" val="1883223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find . -name "*.fastq.gz"</a:t>
            </a:r>
          </a:p>
          <a:p>
            <a:r>
              <a:rPr lang="en-GB" dirty="0"/>
              <a:t>find . -name "*.</a:t>
            </a:r>
            <a:r>
              <a:rPr lang="en-GB" dirty="0" err="1"/>
              <a:t>fastq</a:t>
            </a:r>
            <a:r>
              <a:rPr lang="en-GB" dirty="0"/>
              <a:t>“</a:t>
            </a:r>
          </a:p>
          <a:p>
            <a:r>
              <a:rPr lang="en-GB" dirty="0"/>
              <a:t>find . -type f -size +100M</a:t>
            </a:r>
          </a:p>
          <a:p>
            <a:r>
              <a:rPr lang="en-GB" dirty="0"/>
              <a:t>find . -type f -size +1M</a:t>
            </a:r>
          </a:p>
          <a:p>
            <a:r>
              <a:rPr lang="en-GB" dirty="0"/>
              <a:t>find  . -type f -</a:t>
            </a:r>
            <a:r>
              <a:rPr lang="en-GB" dirty="0" err="1"/>
              <a:t>mtime</a:t>
            </a:r>
            <a:r>
              <a:rPr lang="en-GB" dirty="0"/>
              <a:t> +5000</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D0F7523E-1259-49B9-A6B1-A51465E22A21}" type="slidenum">
              <a:rPr lang="en-GB" smtClean="0"/>
              <a:t>60</a:t>
            </a:fld>
            <a:endParaRPr lang="en-GB"/>
          </a:p>
        </p:txBody>
      </p:sp>
    </p:spTree>
    <p:extLst>
      <p:ext uri="{BB962C8B-B14F-4D97-AF65-F5344CB8AC3E}">
        <p14:creationId xmlns:p14="http://schemas.microsoft.com/office/powerpoint/2010/main" val="3570987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\\jic-hpc-data\HPC-Home for the home directory </a:t>
            </a:r>
          </a:p>
        </p:txBody>
      </p:sp>
      <p:sp>
        <p:nvSpPr>
          <p:cNvPr id="4" name="Slide Number Placeholder 3"/>
          <p:cNvSpPr>
            <a:spLocks noGrp="1"/>
          </p:cNvSpPr>
          <p:nvPr>
            <p:ph type="sldNum" sz="quarter" idx="5"/>
          </p:nvPr>
        </p:nvSpPr>
        <p:spPr/>
        <p:txBody>
          <a:bodyPr/>
          <a:lstStyle/>
          <a:p>
            <a:fld id="{D0F7523E-1259-49B9-A6B1-A51465E22A21}" type="slidenum">
              <a:rPr lang="en-GB" smtClean="0"/>
              <a:t>62</a:t>
            </a:fld>
            <a:endParaRPr lang="en-GB"/>
          </a:p>
        </p:txBody>
      </p:sp>
    </p:spTree>
    <p:extLst>
      <p:ext uri="{BB962C8B-B14F-4D97-AF65-F5344CB8AC3E}">
        <p14:creationId xmlns:p14="http://schemas.microsoft.com/office/powerpoint/2010/main" val="472855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0F7523E-1259-49B9-A6B1-A51465E22A21}" type="slidenum">
              <a:rPr lang="en-GB" smtClean="0"/>
              <a:t>65</a:t>
            </a:fld>
            <a:endParaRPr lang="en-GB"/>
          </a:p>
        </p:txBody>
      </p:sp>
    </p:spTree>
    <p:extLst>
      <p:ext uri="{BB962C8B-B14F-4D97-AF65-F5344CB8AC3E}">
        <p14:creationId xmlns:p14="http://schemas.microsoft.com/office/powerpoint/2010/main" val="34406159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1"/>
              <a:t>It's not really used much anymore because it's not encrypted; however, it’s fast (because it doesn’t have the encryption overhead), so it's still used to transfer data to NCBI and EBI. That's why we are showing it to you. Other than uploading data to NCBI/EBI, don't use it in normal operation"</a:t>
            </a:r>
            <a:endParaRPr lang="en-GB"/>
          </a:p>
          <a:p>
            <a:r>
              <a:rPr lang="en-GB"/>
              <a:t> </a:t>
            </a:r>
          </a:p>
        </p:txBody>
      </p:sp>
      <p:sp>
        <p:nvSpPr>
          <p:cNvPr id="4" name="Slide Number Placeholder 3"/>
          <p:cNvSpPr>
            <a:spLocks noGrp="1"/>
          </p:cNvSpPr>
          <p:nvPr>
            <p:ph type="sldNum" sz="quarter" idx="5"/>
          </p:nvPr>
        </p:nvSpPr>
        <p:spPr/>
        <p:txBody>
          <a:bodyPr/>
          <a:lstStyle/>
          <a:p>
            <a:fld id="{D0F7523E-1259-49B9-A6B1-A51465E22A21}" type="slidenum">
              <a:rPr lang="en-GB" smtClean="0"/>
              <a:t>68</a:t>
            </a:fld>
            <a:endParaRPr lang="en-GB"/>
          </a:p>
        </p:txBody>
      </p:sp>
    </p:spTree>
    <p:extLst>
      <p:ext uri="{BB962C8B-B14F-4D97-AF65-F5344CB8AC3E}">
        <p14:creationId xmlns:p14="http://schemas.microsoft.com/office/powerpoint/2010/main" val="8945041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 drive \\ji-cfs2\luk24miz</a:t>
            </a:r>
          </a:p>
          <a:p>
            <a:r>
              <a:rPr lang="en-GB"/>
              <a:t>HPC-home   \\jic-hpc-data\HPC-Home</a:t>
            </a:r>
          </a:p>
        </p:txBody>
      </p:sp>
      <p:sp>
        <p:nvSpPr>
          <p:cNvPr id="4" name="Slide Number Placeholder 3"/>
          <p:cNvSpPr>
            <a:spLocks noGrp="1"/>
          </p:cNvSpPr>
          <p:nvPr>
            <p:ph type="sldNum" sz="quarter" idx="5"/>
          </p:nvPr>
        </p:nvSpPr>
        <p:spPr/>
        <p:txBody>
          <a:bodyPr/>
          <a:lstStyle/>
          <a:p>
            <a:fld id="{D0F7523E-1259-49B9-A6B1-A51465E22A21}" type="slidenum">
              <a:rPr lang="en-GB" smtClean="0"/>
              <a:t>70</a:t>
            </a:fld>
            <a:endParaRPr lang="en-GB"/>
          </a:p>
        </p:txBody>
      </p:sp>
    </p:spTree>
    <p:extLst>
      <p:ext uri="{BB962C8B-B14F-4D97-AF65-F5344CB8AC3E}">
        <p14:creationId xmlns:p14="http://schemas.microsoft.com/office/powerpoint/2010/main" val="4079902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126E-550A-7CD5-648D-AE35D0BBB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AEC41-0CC8-5965-860A-480A5C689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87B26-E009-846F-D8B6-348B0252B2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F21CDCD-72F5-31CC-FAB1-ECE76E2B39A0}"/>
              </a:ext>
            </a:extLst>
          </p:cNvPr>
          <p:cNvSpPr>
            <a:spLocks noGrp="1"/>
          </p:cNvSpPr>
          <p:nvPr>
            <p:ph type="sldNum" sz="quarter" idx="5"/>
          </p:nvPr>
        </p:nvSpPr>
        <p:spPr/>
        <p:txBody>
          <a:bodyPr/>
          <a:lstStyle/>
          <a:p>
            <a:fld id="{D0F7523E-1259-49B9-A6B1-A51465E22A21}" type="slidenum">
              <a:rPr lang="en-GB" smtClean="0"/>
              <a:t>73</a:t>
            </a:fld>
            <a:endParaRPr lang="en-GB"/>
          </a:p>
        </p:txBody>
      </p:sp>
    </p:spTree>
    <p:extLst>
      <p:ext uri="{BB962C8B-B14F-4D97-AF65-F5344CB8AC3E}">
        <p14:creationId xmlns:p14="http://schemas.microsoft.com/office/powerpoint/2010/main" val="798903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3EDF-2890-C160-DCB1-42125BBD9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C13-030E-1F9B-CE9A-6C01978B88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DB132-AA22-3AA7-4889-F3E89451C9C2}"/>
              </a:ext>
            </a:extLst>
          </p:cNvPr>
          <p:cNvSpPr>
            <a:spLocks noGrp="1"/>
          </p:cNvSpPr>
          <p:nvPr>
            <p:ph type="body" idx="1"/>
          </p:nvPr>
        </p:nvSpPr>
        <p:spPr/>
        <p:txBody>
          <a:bodyPr/>
          <a:lstStyle/>
          <a:p>
            <a:r>
              <a:rPr lang="en-GB"/>
              <a:t>THIS IS THE LAST SLIDE!!!</a:t>
            </a:r>
          </a:p>
        </p:txBody>
      </p:sp>
      <p:sp>
        <p:nvSpPr>
          <p:cNvPr id="4" name="Slide Number Placeholder 3">
            <a:extLst>
              <a:ext uri="{FF2B5EF4-FFF2-40B4-BE49-F238E27FC236}">
                <a16:creationId xmlns:a16="http://schemas.microsoft.com/office/drawing/2014/main" id="{00B544B6-5149-8697-C004-430C4B98F888}"/>
              </a:ext>
            </a:extLst>
          </p:cNvPr>
          <p:cNvSpPr>
            <a:spLocks noGrp="1"/>
          </p:cNvSpPr>
          <p:nvPr>
            <p:ph type="sldNum" sz="quarter" idx="5"/>
          </p:nvPr>
        </p:nvSpPr>
        <p:spPr/>
        <p:txBody>
          <a:bodyPr/>
          <a:lstStyle/>
          <a:p>
            <a:fld id="{D0F7523E-1259-49B9-A6B1-A51465E22A21}" type="slidenum">
              <a:rPr lang="en-GB" smtClean="0"/>
              <a:t>74</a:t>
            </a:fld>
            <a:endParaRPr lang="en-GB"/>
          </a:p>
        </p:txBody>
      </p:sp>
    </p:spTree>
    <p:extLst>
      <p:ext uri="{BB962C8B-B14F-4D97-AF65-F5344CB8AC3E}">
        <p14:creationId xmlns:p14="http://schemas.microsoft.com/office/powerpoint/2010/main" val="15172909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THE LAST SLIDE!!!</a:t>
            </a:r>
          </a:p>
        </p:txBody>
      </p:sp>
      <p:sp>
        <p:nvSpPr>
          <p:cNvPr id="4" name="Slide Number Placeholder 3"/>
          <p:cNvSpPr>
            <a:spLocks noGrp="1"/>
          </p:cNvSpPr>
          <p:nvPr>
            <p:ph type="sldNum" sz="quarter" idx="5"/>
          </p:nvPr>
        </p:nvSpPr>
        <p:spPr/>
        <p:txBody>
          <a:bodyPr/>
          <a:lstStyle/>
          <a:p>
            <a:fld id="{D0F7523E-1259-49B9-A6B1-A51465E22A21}" type="slidenum">
              <a:rPr lang="en-GB" smtClean="0"/>
              <a:t>77</a:t>
            </a:fld>
            <a:endParaRPr lang="en-GB"/>
          </a:p>
        </p:txBody>
      </p:sp>
    </p:spTree>
    <p:extLst>
      <p:ext uri="{BB962C8B-B14F-4D97-AF65-F5344CB8AC3E}">
        <p14:creationId xmlns:p14="http://schemas.microsoft.com/office/powerpoint/2010/main" val="27374154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17C8-C502-0144-E8C0-A0FE7AD50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EE13A-CB93-5E9E-4A32-89C7D1CB1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444D9-38CD-25A2-887A-1CA1D17E5DB0}"/>
              </a:ext>
            </a:extLst>
          </p:cNvPr>
          <p:cNvSpPr>
            <a:spLocks noGrp="1"/>
          </p:cNvSpPr>
          <p:nvPr>
            <p:ph type="body" idx="1"/>
          </p:nvPr>
        </p:nvSpPr>
        <p:spPr/>
        <p:txBody>
          <a:bodyPr/>
          <a:lstStyle/>
          <a:p>
            <a:r>
              <a:rPr lang="en-GB" dirty="0"/>
              <a:t>THIS IS THE LAST SLIDE!!!</a:t>
            </a:r>
          </a:p>
        </p:txBody>
      </p:sp>
      <p:sp>
        <p:nvSpPr>
          <p:cNvPr id="4" name="Slide Number Placeholder 3">
            <a:extLst>
              <a:ext uri="{FF2B5EF4-FFF2-40B4-BE49-F238E27FC236}">
                <a16:creationId xmlns:a16="http://schemas.microsoft.com/office/drawing/2014/main" id="{6876C82D-DDC8-57B0-7AFF-116225779D42}"/>
              </a:ext>
            </a:extLst>
          </p:cNvPr>
          <p:cNvSpPr>
            <a:spLocks noGrp="1"/>
          </p:cNvSpPr>
          <p:nvPr>
            <p:ph type="sldNum" sz="quarter" idx="5"/>
          </p:nvPr>
        </p:nvSpPr>
        <p:spPr/>
        <p:txBody>
          <a:bodyPr/>
          <a:lstStyle/>
          <a:p>
            <a:fld id="{D0F7523E-1259-49B9-A6B1-A51465E22A21}" type="slidenum">
              <a:rPr lang="en-GB" smtClean="0"/>
              <a:t>78</a:t>
            </a:fld>
            <a:endParaRPr lang="en-GB"/>
          </a:p>
        </p:txBody>
      </p:sp>
    </p:spTree>
    <p:extLst>
      <p:ext uri="{BB962C8B-B14F-4D97-AF65-F5344CB8AC3E}">
        <p14:creationId xmlns:p14="http://schemas.microsoft.com/office/powerpoint/2010/main" val="142904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30E1-BBC8-2553-C30E-B750C4D8F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BD957-89E9-CDEA-E3B0-AEB2A4CA5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A6CEB-2436-B3D1-CB58-B6AE29F1E985}"/>
              </a:ext>
            </a:extLst>
          </p:cNvPr>
          <p:cNvSpPr>
            <a:spLocks noGrp="1"/>
          </p:cNvSpPr>
          <p:nvPr>
            <p:ph type="body" idx="1"/>
          </p:nvPr>
        </p:nvSpPr>
        <p:spPr/>
        <p:txBody>
          <a:bodyPr/>
          <a:lstStyle/>
          <a:p>
            <a:r>
              <a:rPr lang="en-GB"/>
              <a:t>THIS IS THE LAST SLIDE!!!</a:t>
            </a:r>
          </a:p>
        </p:txBody>
      </p:sp>
      <p:sp>
        <p:nvSpPr>
          <p:cNvPr id="4" name="Slide Number Placeholder 3">
            <a:extLst>
              <a:ext uri="{FF2B5EF4-FFF2-40B4-BE49-F238E27FC236}">
                <a16:creationId xmlns:a16="http://schemas.microsoft.com/office/drawing/2014/main" id="{26E02707-5840-151D-ABF9-B01CCFA7803A}"/>
              </a:ext>
            </a:extLst>
          </p:cNvPr>
          <p:cNvSpPr>
            <a:spLocks noGrp="1"/>
          </p:cNvSpPr>
          <p:nvPr>
            <p:ph type="sldNum" sz="quarter" idx="5"/>
          </p:nvPr>
        </p:nvSpPr>
        <p:spPr/>
        <p:txBody>
          <a:bodyPr/>
          <a:lstStyle/>
          <a:p>
            <a:fld id="{D0F7523E-1259-49B9-A6B1-A51465E22A21}" type="slidenum">
              <a:rPr lang="en-GB" smtClean="0"/>
              <a:t>79</a:t>
            </a:fld>
            <a:endParaRPr lang="en-GB"/>
          </a:p>
        </p:txBody>
      </p:sp>
    </p:spTree>
    <p:extLst>
      <p:ext uri="{BB962C8B-B14F-4D97-AF65-F5344CB8AC3E}">
        <p14:creationId xmlns:p14="http://schemas.microsoft.com/office/powerpoint/2010/main" val="2502916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B939-73CC-174A-38CD-DA88CE2DFB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E7E1A9E-8467-6B04-7875-563518F0AE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27F08DD-EE33-DC4B-F29C-B2C082651F74}"/>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5" name="Footer Placeholder 4">
            <a:extLst>
              <a:ext uri="{FF2B5EF4-FFF2-40B4-BE49-F238E27FC236}">
                <a16:creationId xmlns:a16="http://schemas.microsoft.com/office/drawing/2014/main" id="{8D23D2E2-9756-AD85-C62B-60196130E6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520C90-AA1A-3432-ECD4-E8427B800587}"/>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899433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80832-4A55-228E-A327-46E6CFFCD4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F6C441D-42A6-ED31-1E2A-E6F43392F0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6405C1-357C-601A-D065-92A7AF8F9888}"/>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5" name="Footer Placeholder 4">
            <a:extLst>
              <a:ext uri="{FF2B5EF4-FFF2-40B4-BE49-F238E27FC236}">
                <a16:creationId xmlns:a16="http://schemas.microsoft.com/office/drawing/2014/main" id="{7FE53BA0-7E21-E723-5EB8-CAE09FD25C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25618D-5192-9888-CDDB-F5286DD1400E}"/>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115116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4B442-909B-2DDA-D3DA-330239E779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317C3C2-A0EC-76A5-DFB1-5F179F297E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7AA215-C7D6-945A-261F-909C1AF77BFE}"/>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5" name="Footer Placeholder 4">
            <a:extLst>
              <a:ext uri="{FF2B5EF4-FFF2-40B4-BE49-F238E27FC236}">
                <a16:creationId xmlns:a16="http://schemas.microsoft.com/office/drawing/2014/main" id="{098D46E2-11F7-9F86-4D2B-7D8AF3CE44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311DD2-4E28-3D4F-8D13-3F8F99A28533}"/>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1884193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6E1AC-80DA-919A-5DD6-FC7B63F4AC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B33278-23B8-5A61-D063-91E00F8474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8348E29-34D6-330B-533F-A4616FF49F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022468F-11BC-3152-84FC-B666CC974D53}"/>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6" name="Footer Placeholder 5">
            <a:extLst>
              <a:ext uri="{FF2B5EF4-FFF2-40B4-BE49-F238E27FC236}">
                <a16:creationId xmlns:a16="http://schemas.microsoft.com/office/drawing/2014/main" id="{CB2F550E-5A57-D299-07CA-94B3C95919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923287-9BC8-C323-D942-9E1663A7FE7D}"/>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2214840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10E21-A6A3-DB2B-72C4-903F353C602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5356DDE-B377-78D5-53C4-CA9778007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2D739C-5A93-5EA1-AA0B-C912DBBD32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6ECD726-49D1-171B-FC5D-D1789F2AC8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3E1F03-AEDA-24AD-27EB-F7033B6C5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8BB1B09-F15C-93EA-5077-328BF9DED654}"/>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8" name="Footer Placeholder 7">
            <a:extLst>
              <a:ext uri="{FF2B5EF4-FFF2-40B4-BE49-F238E27FC236}">
                <a16:creationId xmlns:a16="http://schemas.microsoft.com/office/drawing/2014/main" id="{FD3838E0-E60A-FA3D-5E34-3D61FD84A9E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1193113-2E6F-B683-7C59-6EC546868A27}"/>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342147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24800-0D39-FA0D-E44F-AFA2D3662DE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2E143D7-0F53-B10E-E3A9-DCA3D7F1FF1A}"/>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4" name="Footer Placeholder 3">
            <a:extLst>
              <a:ext uri="{FF2B5EF4-FFF2-40B4-BE49-F238E27FC236}">
                <a16:creationId xmlns:a16="http://schemas.microsoft.com/office/drawing/2014/main" id="{1C05051C-F483-0C62-7B8E-07AD13C0271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1AAFC2E-5816-013A-A042-2CE1E20D7352}"/>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3563126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DA23E-5EDB-75DA-B8F2-DBF994B8B6F2}"/>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3" name="Footer Placeholder 2">
            <a:extLst>
              <a:ext uri="{FF2B5EF4-FFF2-40B4-BE49-F238E27FC236}">
                <a16:creationId xmlns:a16="http://schemas.microsoft.com/office/drawing/2014/main" id="{B3919761-1AFA-7DD4-FDF8-EFC64FA3F38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5D894EF-C08F-57FE-F617-D4B1A9B75D5F}"/>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574888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EE11E-9909-22F1-E14B-015C1B6D19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7803D3F-8F14-7B8F-CE56-BC21A6B2F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06EA387-FD5D-B6A1-9436-3C1E7DA74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D07EE-B121-A0EF-04A5-2279505638E9}"/>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6" name="Footer Placeholder 5">
            <a:extLst>
              <a:ext uri="{FF2B5EF4-FFF2-40B4-BE49-F238E27FC236}">
                <a16:creationId xmlns:a16="http://schemas.microsoft.com/office/drawing/2014/main" id="{6773E99C-E632-AC1B-496D-DEE389A3A15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CCF650D-2108-710A-4BA5-331F50C0CE33}"/>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2965393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E66-9A22-D31F-8C76-E5F483D279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EE0E709-50DA-D87C-FEA5-B24B6DD88B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E157356-024D-4475-F591-8541C9EBB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60FD3A-242A-26AE-1A34-FBB252090371}"/>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6" name="Footer Placeholder 5">
            <a:extLst>
              <a:ext uri="{FF2B5EF4-FFF2-40B4-BE49-F238E27FC236}">
                <a16:creationId xmlns:a16="http://schemas.microsoft.com/office/drawing/2014/main" id="{7644EFE5-C5F3-F229-C09B-EF627CC241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D4DE8A-9F5C-1772-D179-7E99B0DFFF98}"/>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964246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6698-9FF0-4DBF-C0D8-7E614A0AAAF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B9C51D9-E36F-AD7E-77B7-D0A6EF1DD9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E010F60-3D05-0DAF-B9B0-9DC5DA649D71}"/>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5" name="Footer Placeholder 4">
            <a:extLst>
              <a:ext uri="{FF2B5EF4-FFF2-40B4-BE49-F238E27FC236}">
                <a16:creationId xmlns:a16="http://schemas.microsoft.com/office/drawing/2014/main" id="{7A39FE76-08CD-8486-05BA-D4F517E852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FBF43E-CF3B-6060-161A-FD70F4A7111A}"/>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2083715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7BB597-A319-FDCD-F79C-C8B74FE45E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34CB870-907F-5AFE-169A-CC1F126CC8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DF8A53-51E2-6DF0-8FE7-A1D84709A339}"/>
              </a:ext>
            </a:extLst>
          </p:cNvPr>
          <p:cNvSpPr>
            <a:spLocks noGrp="1"/>
          </p:cNvSpPr>
          <p:nvPr>
            <p:ph type="dt" sz="half" idx="10"/>
          </p:nvPr>
        </p:nvSpPr>
        <p:spPr/>
        <p:txBody>
          <a:bodyPr/>
          <a:lstStyle/>
          <a:p>
            <a:fld id="{03D923E4-7848-4C2F-9BE6-EB92FB2DDC3A}" type="datetimeFigureOut">
              <a:rPr lang="en-GB" smtClean="0"/>
              <a:t>07/09/2026</a:t>
            </a:fld>
            <a:endParaRPr lang="en-GB"/>
          </a:p>
        </p:txBody>
      </p:sp>
      <p:sp>
        <p:nvSpPr>
          <p:cNvPr id="5" name="Footer Placeholder 4">
            <a:extLst>
              <a:ext uri="{FF2B5EF4-FFF2-40B4-BE49-F238E27FC236}">
                <a16:creationId xmlns:a16="http://schemas.microsoft.com/office/drawing/2014/main" id="{2BADAD87-8675-442D-A44B-58E2CCDEB8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279851-1877-00DB-45FC-5BBF6C339FD6}"/>
              </a:ext>
            </a:extLst>
          </p:cNvPr>
          <p:cNvSpPr>
            <a:spLocks noGrp="1"/>
          </p:cNvSpPr>
          <p:nvPr>
            <p:ph type="sldNum" sz="quarter" idx="12"/>
          </p:nvPr>
        </p:nvSpPr>
        <p:spPr/>
        <p:txBody>
          <a:bodyPr/>
          <a:lstStyle/>
          <a:p>
            <a:fld id="{7DA28BEA-EF63-48D7-ADC2-CC6FD60CA0A7}" type="slidenum">
              <a:rPr lang="en-GB" smtClean="0"/>
              <a:t>‹#›</a:t>
            </a:fld>
            <a:endParaRPr lang="en-GB"/>
          </a:p>
        </p:txBody>
      </p:sp>
    </p:spTree>
    <p:extLst>
      <p:ext uri="{BB962C8B-B14F-4D97-AF65-F5344CB8AC3E}">
        <p14:creationId xmlns:p14="http://schemas.microsoft.com/office/powerpoint/2010/main" val="2460967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563341-5BDE-36FC-7385-A3BA4EA1FD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13E0173-2755-4C89-43DB-5C0050E195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8A1E5C-CD37-C717-EF42-727D035455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D923E4-7848-4C2F-9BE6-EB92FB2DDC3A}" type="datetimeFigureOut">
              <a:rPr lang="en-GB" smtClean="0"/>
              <a:t>07/09/2026</a:t>
            </a:fld>
            <a:endParaRPr lang="en-GB"/>
          </a:p>
        </p:txBody>
      </p:sp>
      <p:sp>
        <p:nvSpPr>
          <p:cNvPr id="5" name="Footer Placeholder 4">
            <a:extLst>
              <a:ext uri="{FF2B5EF4-FFF2-40B4-BE49-F238E27FC236}">
                <a16:creationId xmlns:a16="http://schemas.microsoft.com/office/drawing/2014/main" id="{EBB01320-2CBC-21B8-A0CF-AB49DBCA7D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45FE5AD-B385-AE26-7680-9642F5908D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A28BEA-EF63-48D7-ADC2-CC6FD60CA0A7}" type="slidenum">
              <a:rPr lang="en-GB" smtClean="0"/>
              <a:t>‹#›</a:t>
            </a:fld>
            <a:endParaRPr lang="en-GB"/>
          </a:p>
        </p:txBody>
      </p:sp>
    </p:spTree>
    <p:extLst>
      <p:ext uri="{BB962C8B-B14F-4D97-AF65-F5344CB8AC3E}">
        <p14:creationId xmlns:p14="http://schemas.microsoft.com/office/powerpoint/2010/main" val="2738246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3.jpeg"/><Relationship Id="rId7"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5.jpeg"/><Relationship Id="rId5"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intranet.nbi.ac.uk/apps/documents/download.php?docID=66239"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ukri.org/councils/nerc/guidance-for-applicants/what-to-include-in-your-application/outline-data-management-plan/"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dpr-info.eu/"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 Id="rId5"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ideo" Target="https://www.youtube.com/embed/CsODA_0x6mc?feature=oembed" TargetMode="External"/><Relationship Id="rId6" Type="http://schemas.openxmlformats.org/officeDocument/2006/relationships/image" Target="../media/image4.png"/><Relationship Id="rId5" Type="http://schemas.openxmlformats.org/officeDocument/2006/relationships/image" Target="../media/image14.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image" Target="../media/image21.jpeg"/><Relationship Id="rId3" Type="http://schemas.openxmlformats.org/officeDocument/2006/relationships/hyperlink" Target="file:///\\nbi-cfs2" TargetMode="External"/><Relationship Id="rId7" Type="http://schemas.openxmlformats.org/officeDocument/2006/relationships/image" Target="../media/image4.png"/><Relationship Id="rId12"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19.png"/><Relationship Id="rId5" Type="http://schemas.openxmlformats.org/officeDocument/2006/relationships/image" Target="../media/image15.jpeg"/><Relationship Id="rId10" Type="http://schemas.openxmlformats.org/officeDocument/2006/relationships/image" Target="../media/image18.png"/><Relationship Id="rId4" Type="http://schemas.openxmlformats.org/officeDocument/2006/relationships/hyperlink" Target="file:///\\jic-hpc-data" TargetMode="External"/><Relationship Id="rId9" Type="http://schemas.openxmlformats.org/officeDocument/2006/relationships/image" Target="../media/image17.jpeg"/><Relationship Id="rId1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hyperlink" Target="file:///\\nbi-ufiles\username" TargetMode="External"/><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file:///\\ji-cfs2" TargetMode="External"/><Relationship Id="rId4" Type="http://schemas.openxmlformats.org/officeDocument/2006/relationships/hyperlink" Target="file:///\\file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repo.informatics.jic.ac.uk/Data_Management_2025/Metadata_template.txt"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hyperlink" Target="mailto:computing.helpdesk@nbi.ac.uk"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www.globus.org/" TargetMode="External"/><Relationship Id="rId2" Type="http://schemas.openxmlformats.org/officeDocument/2006/relationships/hyperlink" Target="https://dropoff.nbi.ac.uk/"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hyperlink" Target="https://nbip-research-computing.atlassian.net/wiki/spaces/RCS/pages/597262465/Globus"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hyperlink" Target="mailto:luk24miz@nbi.ac.uk"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jpe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3.xml"/><Relationship Id="rId5" Type="http://schemas.openxmlformats.org/officeDocument/2006/relationships/image" Target="../media/image2.png"/><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8.jpeg"/><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0.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hyperlink" Target="https://www.ebi.ac.uk/ena/submit/webin/" TargetMode="External"/><Relationship Id="rId7" Type="http://schemas.openxmlformats.org/officeDocument/2006/relationships/image" Target="../media/image54.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hyperlink" Target="https://www.youtube.com/watch?v=ANr2PTVy7JA"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hyperlink" Target="https://www.globus.org/" TargetMode="External"/><Relationship Id="rId2" Type="http://schemas.openxmlformats.org/officeDocument/2006/relationships/hyperlink" Target="https://dropoff.nbi.ac.uk/"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hyperlink" Target="https://bioinformatics.tsl.ac.uk/" TargetMode="External"/><Relationship Id="rId2" Type="http://schemas.openxmlformats.org/officeDocument/2006/relationships/hyperlink" Target="https://bioinformatics.tsl.ac.uk/posts/workflows-and-literate_compute/" TargetMode="Externa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hyperlink" Target="https://intranet.nbi.ac.uk/cms/6741"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9.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hemeOverride" Target="../theme/themeOverride5.xml"/><Relationship Id="rId5" Type="http://schemas.openxmlformats.org/officeDocument/2006/relationships/image" Target="../media/image2.png"/><Relationship Id="rId4" Type="http://schemas.openxmlformats.org/officeDocument/2006/relationships/image" Target="../media/image60.jpe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jpe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7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89FC-5350-C93D-A4F5-BD5913326B37}"/>
              </a:ext>
            </a:extLst>
          </p:cNvPr>
          <p:cNvSpPr>
            <a:spLocks noGrp="1"/>
          </p:cNvSpPr>
          <p:nvPr>
            <p:ph type="ctrTitle"/>
          </p:nvPr>
        </p:nvSpPr>
        <p:spPr>
          <a:xfrm>
            <a:off x="1524000" y="1033669"/>
            <a:ext cx="9144000" cy="1283598"/>
          </a:xfrm>
        </p:spPr>
        <p:txBody>
          <a:bodyPr>
            <a:normAutofit/>
          </a:bodyPr>
          <a:lstStyle/>
          <a:p>
            <a:r>
              <a:rPr lang="en-GB" sz="6600" dirty="0">
                <a:solidFill>
                  <a:schemeClr val="bg1"/>
                </a:solidFill>
                <a:latin typeface="Cascadia Code" panose="020B0609020000020004" pitchFamily="49" charset="0"/>
              </a:rPr>
              <a:t>Data Management</a:t>
            </a:r>
            <a:endParaRPr lang="en-GB" sz="6600" dirty="0">
              <a:solidFill>
                <a:schemeClr val="bg1"/>
              </a:solidFill>
            </a:endParaRPr>
          </a:p>
        </p:txBody>
      </p:sp>
      <p:sp>
        <p:nvSpPr>
          <p:cNvPr id="3" name="Subtitle 2">
            <a:extLst>
              <a:ext uri="{FF2B5EF4-FFF2-40B4-BE49-F238E27FC236}">
                <a16:creationId xmlns:a16="http://schemas.microsoft.com/office/drawing/2014/main" id="{410F5C5A-057F-D9B0-E177-2E393993FDEF}"/>
              </a:ext>
            </a:extLst>
          </p:cNvPr>
          <p:cNvSpPr>
            <a:spLocks noGrp="1"/>
          </p:cNvSpPr>
          <p:nvPr>
            <p:ph type="subTitle" idx="1"/>
          </p:nvPr>
        </p:nvSpPr>
        <p:spPr>
          <a:xfrm>
            <a:off x="1524000" y="2584175"/>
            <a:ext cx="9144000" cy="3798696"/>
          </a:xfrm>
        </p:spPr>
        <p:txBody>
          <a:bodyPr>
            <a:normAutofit/>
          </a:bodyPr>
          <a:lstStyle/>
          <a:p>
            <a:r>
              <a:rPr lang="en-GB" sz="2800" b="1" dirty="0">
                <a:solidFill>
                  <a:schemeClr val="bg1"/>
                </a:solidFill>
                <a:latin typeface="Cascadia Code ExtraLight" panose="020B0609020000020004" pitchFamily="49" charset="0"/>
              </a:rPr>
              <a:t>Miguel Gonzalez Sanchez</a:t>
            </a:r>
          </a:p>
          <a:p>
            <a:r>
              <a:rPr lang="en-GB" sz="2000" dirty="0">
                <a:solidFill>
                  <a:schemeClr val="bg1"/>
                </a:solidFill>
                <a:latin typeface="Cascadia Code ExtraLight" panose="020B0609020000020004" pitchFamily="49" charset="0"/>
              </a:rPr>
              <a:t>Research Software Engineer – JIC Informatics</a:t>
            </a:r>
          </a:p>
          <a:p>
            <a:r>
              <a:rPr lang="en-GB" sz="2800" b="1" dirty="0">
                <a:solidFill>
                  <a:schemeClr val="bg1"/>
                </a:solidFill>
                <a:latin typeface="Cascadia Code ExtraLight" panose="020B0609020000020004" pitchFamily="49" charset="0"/>
              </a:rPr>
              <a:t>William Redding</a:t>
            </a:r>
          </a:p>
          <a:p>
            <a:r>
              <a:rPr lang="en-GB" sz="2000" dirty="0">
                <a:solidFill>
                  <a:schemeClr val="bg1"/>
                </a:solidFill>
                <a:latin typeface="Cascadia Code ExtraLight" panose="020B0609020000020004" pitchFamily="49" charset="0"/>
              </a:rPr>
              <a:t>Research Software Engineer – JIC Informatics</a:t>
            </a:r>
          </a:p>
          <a:p>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a:p>
            <a:r>
              <a:rPr lang="en-GB" sz="2000" dirty="0">
                <a:solidFill>
                  <a:schemeClr val="bg1"/>
                </a:solidFill>
                <a:latin typeface="Cascadia Code ExtraLight" panose="020B0609020000020004" pitchFamily="49" charset="0"/>
              </a:rPr>
              <a:t>(Please start your computers)</a:t>
            </a:r>
          </a:p>
        </p:txBody>
      </p:sp>
      <p:pic>
        <p:nvPicPr>
          <p:cNvPr id="10" name="Picture 9" descr="Download Watermelon, Melon, Fruit. Royalty-Free Vector Graphic - Pixabay">
            <a:extLst>
              <a:ext uri="{FF2B5EF4-FFF2-40B4-BE49-F238E27FC236}">
                <a16:creationId xmlns:a16="http://schemas.microsoft.com/office/drawing/2014/main" id="{DBD1B2C2-3838-8BC0-55F0-404F37D5A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1686" y="5905500"/>
            <a:ext cx="723881" cy="71877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Free floppy disk media vector">
            <a:extLst>
              <a:ext uri="{FF2B5EF4-FFF2-40B4-BE49-F238E27FC236}">
                <a16:creationId xmlns:a16="http://schemas.microsoft.com/office/drawing/2014/main" id="{386E0311-1EF4-22AF-BBBB-D84FDBD7EF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053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73D1750-9AC6-3CC9-09D3-9B11D67AE41B}"/>
            </a:ext>
          </a:extLst>
        </p:cNvPr>
        <p:cNvGrpSpPr/>
        <p:nvPr/>
      </p:nvGrpSpPr>
      <p:grpSpPr>
        <a:xfrm>
          <a:off x="0" y="0"/>
          <a:ext cx="0" cy="0"/>
          <a:chOff x="0" y="0"/>
          <a:chExt cx="0" cy="0"/>
        </a:xfrm>
      </p:grpSpPr>
      <p:pic>
        <p:nvPicPr>
          <p:cNvPr id="4" name="Content Placeholder 11" descr="A group of people standing together&#10;&#10;Description automatically generated">
            <a:extLst>
              <a:ext uri="{FF2B5EF4-FFF2-40B4-BE49-F238E27FC236}">
                <a16:creationId xmlns:a16="http://schemas.microsoft.com/office/drawing/2014/main" id="{EB62FE44-37DE-A8CD-8545-99C9057A398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2099104" y="629183"/>
            <a:ext cx="8363248" cy="5575499"/>
          </a:xfrm>
          <a:prstGeom prst="rect">
            <a:avLst/>
          </a:prstGeom>
        </p:spPr>
      </p:pic>
      <p:pic>
        <p:nvPicPr>
          <p:cNvPr id="11" name="Picture 10" descr="A black and white sign with white text&#10;&#10;AI-generated content may be incorrect.">
            <a:extLst>
              <a:ext uri="{FF2B5EF4-FFF2-40B4-BE49-F238E27FC236}">
                <a16:creationId xmlns:a16="http://schemas.microsoft.com/office/drawing/2014/main" id="{C722793B-7E3D-EF65-DF29-167F604AAB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2" name="Picture 6" descr="Free floppy disk media vector">
            <a:extLst>
              <a:ext uri="{FF2B5EF4-FFF2-40B4-BE49-F238E27FC236}">
                <a16:creationId xmlns:a16="http://schemas.microsoft.com/office/drawing/2014/main" id="{4584268C-17E3-42BC-DC3C-5061F0E765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90D95BD9-9E72-D563-5F6B-E9EB12CC51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7233" y="4944682"/>
            <a:ext cx="9828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DDF3E975-91C2-C57A-BF47-35A6AD8CF9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4914" y="4944682"/>
            <a:ext cx="9765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CC1533A-7D98-F0CA-91EA-DC0F832E4F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79551" y="4944682"/>
            <a:ext cx="9765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7449A2CC-85F1-E5F2-B00B-E2631D8530F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9761" t="8814" r="9623" b="10049"/>
          <a:stretch>
            <a:fillRect/>
          </a:stretch>
        </p:blipFill>
        <p:spPr bwMode="auto">
          <a:xfrm>
            <a:off x="6631871" y="4944682"/>
            <a:ext cx="9765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566A9C6-7E6E-2DCF-37AA-5188539F9E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59943" y="4944682"/>
            <a:ext cx="9828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BCD8C717-29AF-171E-30F4-DF9456024E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07624" y="4944682"/>
            <a:ext cx="9765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24166E5-3AFE-E99A-D4E9-7DBDA2BFFE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12261" y="4944682"/>
            <a:ext cx="9765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a:extLst>
              <a:ext uri="{FF2B5EF4-FFF2-40B4-BE49-F238E27FC236}">
                <a16:creationId xmlns:a16="http://schemas.microsoft.com/office/drawing/2014/main" id="{CBA4B9E1-6F9B-62CD-8C3F-4034B2DFDAB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9761" t="8814" r="9623" b="10049"/>
          <a:stretch>
            <a:fillRect/>
          </a:stretch>
        </p:blipFill>
        <p:spPr bwMode="auto">
          <a:xfrm>
            <a:off x="6664581" y="4944682"/>
            <a:ext cx="976500" cy="12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02518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5BF5965-E6D1-528D-BD9B-9A53DCDAF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5CF83-2AAE-19B1-8E59-F9A712E8373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[Disclaimer]</a:t>
            </a:r>
          </a:p>
        </p:txBody>
      </p:sp>
      <p:cxnSp>
        <p:nvCxnSpPr>
          <p:cNvPr id="5" name="Straight Connector 4">
            <a:extLst>
              <a:ext uri="{FF2B5EF4-FFF2-40B4-BE49-F238E27FC236}">
                <a16:creationId xmlns:a16="http://schemas.microsoft.com/office/drawing/2014/main" id="{5E9DD674-5214-4E07-8898-3967B6A400D0}"/>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42DFE5C-B49E-2E5E-CF69-CECD49E15BD8}"/>
              </a:ext>
            </a:extLst>
          </p:cNvPr>
          <p:cNvSpPr txBox="1"/>
          <p:nvPr/>
        </p:nvSpPr>
        <p:spPr>
          <a:xfrm>
            <a:off x="417576" y="1371598"/>
            <a:ext cx="10870910" cy="3693319"/>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This training offers general information about data management.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Although most of these principles apply to all institutes, I work at JIC, so the content of the training may not align 100% with your institute’s policies.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 encourage you to follow up with your bioinformatics teams and/or with your line manager at your institute to learn more about data management and the institute’s specific policies.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This is the JIC document for Procedures and Best Practices: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2"/>
              </a:rPr>
              <a:t>https://intranet.nbi.ac.uk/apps/documents/download.php?docID=66239</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1030" name="Picture 6" descr="Free floppy disk media vector">
            <a:extLst>
              <a:ext uri="{FF2B5EF4-FFF2-40B4-BE49-F238E27FC236}">
                <a16:creationId xmlns:a16="http://schemas.microsoft.com/office/drawing/2014/main" id="{51460942-20F8-1EC1-EBF9-1F28CEEA1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1DCDD10D-3F09-D8E5-FA12-ACB4F948F9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651446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3B633B-BE92-4013-8667-0C8FB5666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2E076-4D8A-D868-2641-35C0D9F8A7E6}"/>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[Presentation available at:]</a:t>
            </a:r>
          </a:p>
        </p:txBody>
      </p:sp>
      <p:cxnSp>
        <p:nvCxnSpPr>
          <p:cNvPr id="5" name="Straight Connector 4">
            <a:extLst>
              <a:ext uri="{FF2B5EF4-FFF2-40B4-BE49-F238E27FC236}">
                <a16:creationId xmlns:a16="http://schemas.microsoft.com/office/drawing/2014/main" id="{CA775BB9-E794-6F05-F77E-C6374CF3CB55}"/>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FFAB514-4414-3128-FE02-6BD1CDCA3016}"/>
              </a:ext>
            </a:extLst>
          </p:cNvPr>
          <p:cNvSpPr txBox="1"/>
          <p:nvPr/>
        </p:nvSpPr>
        <p:spPr>
          <a:xfrm>
            <a:off x="417575" y="1389886"/>
            <a:ext cx="11527991" cy="707886"/>
          </a:xfrm>
          <a:prstGeom prst="rect">
            <a:avLst/>
          </a:prstGeom>
          <a:noFill/>
        </p:spPr>
        <p:txBody>
          <a:bodyPr wrap="square" rtlCol="0">
            <a:spAutoFit/>
          </a:bodyPr>
          <a:lstStyle/>
          <a:p>
            <a:pPr marL="285750" indent="-285750">
              <a:buFontTx/>
              <a:buChar char="-"/>
            </a:pPr>
            <a:r>
              <a:rPr lang="en-GB" sz="400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https://repo.informatics.jic.ac.uk/</a:t>
            </a:r>
          </a:p>
        </p:txBody>
      </p:sp>
      <p:pic>
        <p:nvPicPr>
          <p:cNvPr id="4" name="Picture 6" descr="Free floppy disk media vector">
            <a:extLst>
              <a:ext uri="{FF2B5EF4-FFF2-40B4-BE49-F238E27FC236}">
                <a16:creationId xmlns:a16="http://schemas.microsoft.com/office/drawing/2014/main" id="{855DB2A2-8034-6B19-A212-35D5CC9E9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A6B46553-8B73-09C6-C18E-E60A23D70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8" name="Picture 7">
            <a:extLst>
              <a:ext uri="{FF2B5EF4-FFF2-40B4-BE49-F238E27FC236}">
                <a16:creationId xmlns:a16="http://schemas.microsoft.com/office/drawing/2014/main" id="{656EC03E-C90F-9852-2D43-7285A5DB3CE0}"/>
              </a:ext>
            </a:extLst>
          </p:cNvPr>
          <p:cNvPicPr>
            <a:picLocks noChangeAspect="1"/>
          </p:cNvPicPr>
          <p:nvPr/>
        </p:nvPicPr>
        <p:blipFill>
          <a:blip r:embed="rId4"/>
          <a:srcRect l="3693" r="4042"/>
          <a:stretch>
            <a:fillRect/>
          </a:stretch>
        </p:blipFill>
        <p:spPr>
          <a:xfrm>
            <a:off x="548640" y="2545503"/>
            <a:ext cx="11248880" cy="2832996"/>
          </a:xfrm>
          <a:prstGeom prst="rect">
            <a:avLst/>
          </a:prstGeom>
        </p:spPr>
      </p:pic>
    </p:spTree>
    <p:extLst>
      <p:ext uri="{BB962C8B-B14F-4D97-AF65-F5344CB8AC3E}">
        <p14:creationId xmlns:p14="http://schemas.microsoft.com/office/powerpoint/2010/main" val="618048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D95FFF5-53E7-1CC2-3507-1D4086275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D43EF-06B2-5323-32AC-D1F85A534FE1}"/>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[Course Content]</a:t>
            </a:r>
          </a:p>
        </p:txBody>
      </p:sp>
      <p:cxnSp>
        <p:nvCxnSpPr>
          <p:cNvPr id="5" name="Straight Connector 4">
            <a:extLst>
              <a:ext uri="{FF2B5EF4-FFF2-40B4-BE49-F238E27FC236}">
                <a16:creationId xmlns:a16="http://schemas.microsoft.com/office/drawing/2014/main" id="{DD9908D8-D2C0-239C-BB01-5C82F9C97074}"/>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AC4FF71-616F-8D7B-D049-9E65415A8440}"/>
              </a:ext>
            </a:extLst>
          </p:cNvPr>
          <p:cNvSpPr txBox="1"/>
          <p:nvPr/>
        </p:nvSpPr>
        <p:spPr>
          <a:xfrm>
            <a:off x="417576" y="1355277"/>
            <a:ext cx="9841992" cy="5355312"/>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Part 1: Theory and open discussion.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Data ownership and governance</a:t>
            </a:r>
          </a:p>
          <a:p>
            <a:pPr marL="1200150" lvl="2" indent="-285750">
              <a:buFontTx/>
              <a:buChar char="-"/>
            </a:pP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FAiR</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and AI-ready data</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Filesystems</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Bad practices</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Metadata</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Instrument network</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Recovering data</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Sharing data</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Part 2: Hands-on practice.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Command Line file manipulation</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File integrity</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Big data</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Uploading data to remote repositories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1030" name="Picture 6" descr="Free floppy disk media vector">
            <a:extLst>
              <a:ext uri="{FF2B5EF4-FFF2-40B4-BE49-F238E27FC236}">
                <a16:creationId xmlns:a16="http://schemas.microsoft.com/office/drawing/2014/main" id="{A903D488-2E94-0F74-4203-2AC412F60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xkcd: Data Trap">
            <a:extLst>
              <a:ext uri="{FF2B5EF4-FFF2-40B4-BE49-F238E27FC236}">
                <a16:creationId xmlns:a16="http://schemas.microsoft.com/office/drawing/2014/main" id="{CFD3FA0E-5930-28D9-8C81-8449CBE9E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9461" y="1293738"/>
            <a:ext cx="4569349" cy="456934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CE84F1FB-5387-C333-6E56-E2F7D13DBE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5521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D01E227-71B6-F291-F060-BD8355A27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2346D-D89A-7CDF-6D34-1B82042B7697}"/>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[Reflections]</a:t>
            </a:r>
          </a:p>
        </p:txBody>
      </p:sp>
      <p:cxnSp>
        <p:nvCxnSpPr>
          <p:cNvPr id="5" name="Straight Connector 4">
            <a:extLst>
              <a:ext uri="{FF2B5EF4-FFF2-40B4-BE49-F238E27FC236}">
                <a16:creationId xmlns:a16="http://schemas.microsoft.com/office/drawing/2014/main" id="{A7388596-DD85-CD60-3CFE-0D5BF3F05A78}"/>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E91AA3D-BD4F-1552-AA1A-AAAB47EAECF8}"/>
              </a:ext>
            </a:extLst>
          </p:cNvPr>
          <p:cNvSpPr txBox="1"/>
          <p:nvPr/>
        </p:nvSpPr>
        <p:spPr>
          <a:xfrm>
            <a:off x="417575" y="1389886"/>
            <a:ext cx="11527991" cy="1200329"/>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Who are the stakeholders of data?​</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Who owns data?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8C545464-B2FB-728E-5CF2-A6B34BD18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83B56495-BBFB-C435-A028-C1DBFE28A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81993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C34A3BE-1B00-96F6-756C-84E063F34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B891E-C2B5-BE74-1607-B150C1F920F1}"/>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[Who are the stakeholders of data​]</a:t>
            </a:r>
          </a:p>
        </p:txBody>
      </p:sp>
      <p:cxnSp>
        <p:nvCxnSpPr>
          <p:cNvPr id="5" name="Straight Connector 4">
            <a:extLst>
              <a:ext uri="{FF2B5EF4-FFF2-40B4-BE49-F238E27FC236}">
                <a16:creationId xmlns:a16="http://schemas.microsoft.com/office/drawing/2014/main" id="{889439E7-A24C-C032-BA7C-2C4E282DEA1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CEC8074-6880-B7A7-A1FD-7D1C787FABE0}"/>
              </a:ext>
            </a:extLst>
          </p:cNvPr>
          <p:cNvSpPr txBox="1"/>
          <p:nvPr/>
        </p:nvSpPr>
        <p:spPr>
          <a:xfrm>
            <a:off x="417575" y="1389886"/>
            <a:ext cx="11527992" cy="3970318"/>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Researcher (PI/GL, postdoc, PhD student)​.</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Institution (JIC/EI/QIB/TSL).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Collaborators​.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Funders (UKRI/BBSRC/Industry)​.</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Publishers​.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taxpayer​.</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Humanity.</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6" name="Picture 6" descr="Free floppy disk media vector">
            <a:extLst>
              <a:ext uri="{FF2B5EF4-FFF2-40B4-BE49-F238E27FC236}">
                <a16:creationId xmlns:a16="http://schemas.microsoft.com/office/drawing/2014/main" id="{CBE662E9-31B7-809A-ACA2-45CBA6811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A9342396-EA4F-AC18-BA9E-35822EE4C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812663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F3EFB21-2F25-34E1-8222-B32ECAAF1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FFCB6-BA5C-AD5A-797B-85D94C1B8029}"/>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[Data Ownership​]</a:t>
            </a:r>
          </a:p>
        </p:txBody>
      </p:sp>
      <p:cxnSp>
        <p:nvCxnSpPr>
          <p:cNvPr id="5" name="Straight Connector 4">
            <a:extLst>
              <a:ext uri="{FF2B5EF4-FFF2-40B4-BE49-F238E27FC236}">
                <a16:creationId xmlns:a16="http://schemas.microsoft.com/office/drawing/2014/main" id="{6B5C12D6-9E45-97BB-F56B-54CB7B3202F4}"/>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AAEE463-F0FE-872F-D73A-0170DEF07508}"/>
              </a:ext>
            </a:extLst>
          </p:cNvPr>
          <p:cNvSpPr txBox="1"/>
          <p:nvPr/>
        </p:nvSpPr>
        <p:spPr>
          <a:xfrm>
            <a:off x="417575" y="1389886"/>
            <a:ext cx="11527992" cy="3970318"/>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Institute​.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Funder​ (BBSRC requires data retention for a minimum of 10 years).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Intellectual Property​.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Commercial Partners​.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Collaborators.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responsibility for maintaining and securing data always resides with the Project Leader/GL.</a:t>
            </a:r>
          </a:p>
        </p:txBody>
      </p:sp>
      <p:pic>
        <p:nvPicPr>
          <p:cNvPr id="4" name="Picture 6" descr="Free floppy disk media vector">
            <a:extLst>
              <a:ext uri="{FF2B5EF4-FFF2-40B4-BE49-F238E27FC236}">
                <a16:creationId xmlns:a16="http://schemas.microsoft.com/office/drawing/2014/main" id="{41FF3BCB-70B1-4C8B-EB1D-693C3E8A36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AA528A97-6E75-9AC9-37C7-43C15FEFB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105943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B7ACA62-A4C5-3F19-3987-303FBD83D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E84B7-10A7-080B-925C-889D351FDEB4}"/>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[As a user]</a:t>
            </a:r>
          </a:p>
        </p:txBody>
      </p:sp>
      <p:cxnSp>
        <p:nvCxnSpPr>
          <p:cNvPr id="5" name="Straight Connector 4">
            <a:extLst>
              <a:ext uri="{FF2B5EF4-FFF2-40B4-BE49-F238E27FC236}">
                <a16:creationId xmlns:a16="http://schemas.microsoft.com/office/drawing/2014/main" id="{4EBC43B3-EE49-A3B7-75E5-BDD3B0EB70A9}"/>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F709036-F072-4874-2200-26A8695802D3}"/>
              </a:ext>
            </a:extLst>
          </p:cNvPr>
          <p:cNvSpPr txBox="1"/>
          <p:nvPr/>
        </p:nvSpPr>
        <p:spPr>
          <a:xfrm>
            <a:off x="417575" y="1389886"/>
            <a:ext cx="11527992" cy="3416320"/>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Ensure the data is available, secure, correct, understandable, reproducible, defensible​.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other stakeholders of the data you create, and work with, will have their own policies on how data should be treated​.</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UKRI Outline</a:t>
            </a:r>
            <a:r>
              <a:rPr lang="en-GB">
                <a:solidFill>
                  <a:srgbClr val="2E2D62"/>
                </a:solidFill>
                <a:latin typeface="Moderat Bold"/>
              </a:rPr>
              <a:t> </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Data</a:t>
            </a:r>
            <a:r>
              <a:rPr lang="en-GB">
                <a:solidFill>
                  <a:srgbClr val="2E2D62"/>
                </a:solidFill>
                <a:latin typeface="Moderat Bold"/>
              </a:rPr>
              <a:t> </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Management</a:t>
            </a:r>
            <a:r>
              <a:rPr lang="en-GB">
                <a:solidFill>
                  <a:srgbClr val="2E2D62"/>
                </a:solidFill>
                <a:latin typeface="Moderat Bold"/>
              </a:rPr>
              <a:t> </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Plan</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2"/>
              </a:rPr>
              <a:t>https://www.ukri.org/councils/nerc/guidance-for-applicants/what-to-include-in-your-application/outline-data-management-plan/</a:t>
            </a: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6" name="Picture 5">
            <a:extLst>
              <a:ext uri="{FF2B5EF4-FFF2-40B4-BE49-F238E27FC236}">
                <a16:creationId xmlns:a16="http://schemas.microsoft.com/office/drawing/2014/main" id="{E99E0CB4-B833-BF05-BA1F-5CDB7F1E6309}"/>
              </a:ext>
            </a:extLst>
          </p:cNvPr>
          <p:cNvPicPr>
            <a:picLocks noChangeAspect="1"/>
          </p:cNvPicPr>
          <p:nvPr/>
        </p:nvPicPr>
        <p:blipFill>
          <a:blip r:embed="rId3"/>
          <a:stretch>
            <a:fillRect/>
          </a:stretch>
        </p:blipFill>
        <p:spPr>
          <a:xfrm>
            <a:off x="9696125" y="4335774"/>
            <a:ext cx="1169670" cy="1169670"/>
          </a:xfrm>
          <a:prstGeom prst="rect">
            <a:avLst/>
          </a:prstGeom>
        </p:spPr>
      </p:pic>
      <p:pic>
        <p:nvPicPr>
          <p:cNvPr id="8" name="Picture 6" descr="Free floppy disk media vector">
            <a:extLst>
              <a:ext uri="{FF2B5EF4-FFF2-40B4-BE49-F238E27FC236}">
                <a16:creationId xmlns:a16="http://schemas.microsoft.com/office/drawing/2014/main" id="{7BA02451-6C30-4E85-DE3D-E858A71FA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D10AF87B-ABA9-61FD-A474-74B97AA11E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72983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1E84C5B-4F97-B9AB-6B04-71D87FC98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06415-B779-CB28-9AB6-EE05F19B141C}"/>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[GDPR and Human data]</a:t>
            </a:r>
          </a:p>
        </p:txBody>
      </p:sp>
      <p:cxnSp>
        <p:nvCxnSpPr>
          <p:cNvPr id="5" name="Straight Connector 4">
            <a:extLst>
              <a:ext uri="{FF2B5EF4-FFF2-40B4-BE49-F238E27FC236}">
                <a16:creationId xmlns:a16="http://schemas.microsoft.com/office/drawing/2014/main" id="{056E9878-61EF-2945-6957-6003BA0AA95E}"/>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62D8E16-6E19-688D-41B7-E46DFDA5D87F}"/>
              </a:ext>
            </a:extLst>
          </p:cNvPr>
          <p:cNvSpPr txBox="1"/>
          <p:nvPr/>
        </p:nvSpPr>
        <p:spPr>
          <a:xfrm>
            <a:off x="417575" y="1305341"/>
            <a:ext cx="11527992" cy="4247317"/>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General Data Protection Regulation (GDPR)​</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Regulates the collection and processing of personal data from individuals.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2"/>
              </a:rPr>
              <a:t>https://gdpr-info.eu</a:t>
            </a: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Genetic data is a "special category" under GDPR​.</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Guidelines from your institute/funder​.</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Speak to your data manager​.</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Read your data management plan​.</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Special considerations for publishing and anonymizing human data.</a:t>
            </a:r>
          </a:p>
        </p:txBody>
      </p:sp>
      <p:pic>
        <p:nvPicPr>
          <p:cNvPr id="4" name="Picture 3">
            <a:extLst>
              <a:ext uri="{FF2B5EF4-FFF2-40B4-BE49-F238E27FC236}">
                <a16:creationId xmlns:a16="http://schemas.microsoft.com/office/drawing/2014/main" id="{93E7B3F9-ACF4-457B-49DA-B4C7D6CA18B4}"/>
              </a:ext>
            </a:extLst>
          </p:cNvPr>
          <p:cNvPicPr>
            <a:picLocks noChangeAspect="1"/>
          </p:cNvPicPr>
          <p:nvPr/>
        </p:nvPicPr>
        <p:blipFill>
          <a:blip r:embed="rId3"/>
          <a:stretch>
            <a:fillRect/>
          </a:stretch>
        </p:blipFill>
        <p:spPr>
          <a:xfrm>
            <a:off x="9085677" y="2670140"/>
            <a:ext cx="1862137" cy="1833562"/>
          </a:xfrm>
          <a:prstGeom prst="rect">
            <a:avLst/>
          </a:prstGeom>
        </p:spPr>
      </p:pic>
      <p:pic>
        <p:nvPicPr>
          <p:cNvPr id="7" name="Picture 6" descr="Free floppy disk media vector">
            <a:extLst>
              <a:ext uri="{FF2B5EF4-FFF2-40B4-BE49-F238E27FC236}">
                <a16:creationId xmlns:a16="http://schemas.microsoft.com/office/drawing/2014/main" id="{608FF32F-4E62-3628-FAF6-6C4F598838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07FF707E-DB26-D784-4209-E1F7839ADC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063682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94C42B9-ED2D-C775-2958-AC21430ED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99638-708C-D1D3-C31D-ACC04C891120}"/>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r>
              <a:rPr lang="en-GB" sz="280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BioFAiR</a:t>
            </a:r>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p>
        </p:txBody>
      </p:sp>
      <p:cxnSp>
        <p:nvCxnSpPr>
          <p:cNvPr id="5" name="Straight Connector 4">
            <a:extLst>
              <a:ext uri="{FF2B5EF4-FFF2-40B4-BE49-F238E27FC236}">
                <a16:creationId xmlns:a16="http://schemas.microsoft.com/office/drawing/2014/main" id="{5D1C6349-F103-3C06-AE3F-DE41D0A41EEF}"/>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BAE6185-5CB6-001A-1B7A-B35270B761E2}"/>
              </a:ext>
            </a:extLst>
          </p:cNvPr>
          <p:cNvSpPr txBox="1"/>
          <p:nvPr/>
        </p:nvSpPr>
        <p:spPr>
          <a:xfrm>
            <a:off x="417576" y="1389886"/>
            <a:ext cx="11177016" cy="1477328"/>
          </a:xfrm>
          <a:prstGeom prst="rect">
            <a:avLst/>
          </a:prstGeom>
          <a:noFill/>
        </p:spPr>
        <p:txBody>
          <a:bodyPr wrap="square" rtlCol="0">
            <a:spAutoFit/>
          </a:bodyPr>
          <a:lstStyle/>
          <a:p>
            <a:pPr marL="285750" indent="-285750" algn="just">
              <a:buFontTx/>
              <a:buChar char="-"/>
            </a:pP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BioFAIR</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is a UKRI funded federated digital research infrastructure (£34million over 5 years).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BioFAIR</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will deliver a step change in ‘Findable, Accessible, Interoperable and Re-usable’ (FAIR) research data management, providing end-to-end FAIR research data management &amp; analysis capabilities along with the necessary support and training for UK researchers working in the life sciences.</a:t>
            </a:r>
          </a:p>
        </p:txBody>
      </p:sp>
      <p:pic>
        <p:nvPicPr>
          <p:cNvPr id="4" name="Picture 6" descr="Free floppy disk media vector">
            <a:extLst>
              <a:ext uri="{FF2B5EF4-FFF2-40B4-BE49-F238E27FC236}">
                <a16:creationId xmlns:a16="http://schemas.microsoft.com/office/drawing/2014/main" id="{1DD3C586-AEA9-9325-658A-1D033B5FB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1563D4D9-0833-BDAA-FE3F-50672DD4FC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1026" name="Picture 2" descr="BioFAIR">
            <a:extLst>
              <a:ext uri="{FF2B5EF4-FFF2-40B4-BE49-F238E27FC236}">
                <a16:creationId xmlns:a16="http://schemas.microsoft.com/office/drawing/2014/main" id="{90E0DC98-8B55-6450-B8D4-EB1976340F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4177" y="3990787"/>
            <a:ext cx="3303814" cy="1533176"/>
          </a:xfrm>
          <a:prstGeom prst="rect">
            <a:avLst/>
          </a:prstGeom>
          <a:solidFill>
            <a:schemeClr val="bg1"/>
          </a:solidFill>
        </p:spPr>
      </p:pic>
    </p:spTree>
    <p:extLst>
      <p:ext uri="{BB962C8B-B14F-4D97-AF65-F5344CB8AC3E}">
        <p14:creationId xmlns:p14="http://schemas.microsoft.com/office/powerpoint/2010/main" val="482126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17B7848-AB81-D9D6-6986-0A0B15E10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C0A30-5187-271F-0AF5-1183775381A4}"/>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r>
              <a:rPr lang="en-GB" sz="280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BioFAiR</a:t>
            </a:r>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 Pillars]</a:t>
            </a:r>
          </a:p>
        </p:txBody>
      </p:sp>
      <p:cxnSp>
        <p:nvCxnSpPr>
          <p:cNvPr id="5" name="Straight Connector 4">
            <a:extLst>
              <a:ext uri="{FF2B5EF4-FFF2-40B4-BE49-F238E27FC236}">
                <a16:creationId xmlns:a16="http://schemas.microsoft.com/office/drawing/2014/main" id="{EA5568B2-81D7-F6E7-E3E3-81A7272ABD4D}"/>
              </a:ext>
            </a:extLst>
          </p:cNvPr>
          <p:cNvCxnSpPr>
            <a:cxnSpLocks/>
          </p:cNvCxnSpPr>
          <p:nvPr/>
        </p:nvCxnSpPr>
        <p:spPr>
          <a:xfrm>
            <a:off x="548641" y="925721"/>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F5FCF7E-EC31-600C-C60E-FB78C9AAC28B}"/>
              </a:ext>
            </a:extLst>
          </p:cNvPr>
          <p:cNvSpPr txBox="1"/>
          <p:nvPr/>
        </p:nvSpPr>
        <p:spPr>
          <a:xfrm>
            <a:off x="783338" y="1123644"/>
            <a:ext cx="10576558" cy="5355312"/>
          </a:xfrm>
          <a:prstGeom prst="rect">
            <a:avLst/>
          </a:prstGeom>
          <a:noFill/>
        </p:spPr>
        <p:txBody>
          <a:bodyPr wrap="square" rtlCol="0">
            <a:spAutoFit/>
          </a:bodyPr>
          <a:lstStyle/>
          <a:p>
            <a:pPr marL="342900" indent="-342900">
              <a:buAutoNum type="arabicPeriod"/>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Unified Data Architecture</a:t>
            </a:r>
          </a:p>
          <a:p>
            <a:pPr marL="342900" indent="-342900">
              <a:buAutoNum type="arabicPeriod"/>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Standardised column names across all experiments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Vendor outputs converted to common industry units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Controlled vocabularies for genes, cell lines, and samples</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342900" indent="-342900">
              <a:buAutoNum type="arabicPeriod"/>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Contextual Metadata Frameworks</a:t>
            </a:r>
          </a:p>
          <a:p>
            <a:pPr marL="342900" indent="-342900">
              <a:buAutoNum type="arabicPeriod"/>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Capture experimental context and provenance</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Include baseline settings and environmental conditions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Enable direct integration with public data platforms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Maintain full traceability from raw data to analysis</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342900" indent="-342900">
              <a:buAutoNum type="arabicPeriod"/>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Shared Computational Workflows</a:t>
            </a:r>
          </a:p>
          <a:p>
            <a:pPr marL="342900" indent="-342900">
              <a:buAutoNum type="arabicPeriod"/>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Replace isolated scripts with shared executable notebooks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Build reproducible and versioned analysis pipelines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Automate submission to public repositories</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Register workflows in centralised workflow registries</a:t>
            </a:r>
          </a:p>
        </p:txBody>
      </p:sp>
      <p:pic>
        <p:nvPicPr>
          <p:cNvPr id="4" name="Picture 6" descr="Free floppy disk media vector">
            <a:extLst>
              <a:ext uri="{FF2B5EF4-FFF2-40B4-BE49-F238E27FC236}">
                <a16:creationId xmlns:a16="http://schemas.microsoft.com/office/drawing/2014/main" id="{744B9A18-6304-DE93-3610-DA5A8AF5D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769E144A-C808-322C-41CF-DE3350128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080565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A249B6-5B55-0F39-39CB-7AFC06767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9CD7D-D70F-758D-7161-335EBFCBB81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[AI-Ready Data]</a:t>
            </a:r>
          </a:p>
        </p:txBody>
      </p:sp>
      <p:cxnSp>
        <p:nvCxnSpPr>
          <p:cNvPr id="5" name="Straight Connector 4">
            <a:extLst>
              <a:ext uri="{FF2B5EF4-FFF2-40B4-BE49-F238E27FC236}">
                <a16:creationId xmlns:a16="http://schemas.microsoft.com/office/drawing/2014/main" id="{4D2DCB05-4657-3D79-AC98-5C5DCC83BFF4}"/>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99E0980-BCB1-DBAB-412C-9357C406D88A}"/>
              </a:ext>
            </a:extLst>
          </p:cNvPr>
          <p:cNvSpPr txBox="1"/>
          <p:nvPr/>
        </p:nvSpPr>
        <p:spPr>
          <a:xfrm>
            <a:off x="417576" y="1051561"/>
            <a:ext cx="11182590" cy="5355312"/>
          </a:xfrm>
          <a:prstGeom prst="rect">
            <a:avLst/>
          </a:prstGeom>
          <a:noFill/>
        </p:spPr>
        <p:txBody>
          <a:bodyPr wrap="square" rtlCol="0">
            <a:spAutoFit/>
          </a:bodyPr>
          <a:lstStyle/>
          <a:p>
            <a:pPr marL="285750"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AI models cannot guess context. Data must be structured so algorithms can automatically parse, clean, and link it at scale.</a:t>
            </a:r>
          </a:p>
          <a:p>
            <a:pPr marL="285750" indent="-285750" algn="just">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Key Criteria for AI-Ready Data</a:t>
            </a:r>
          </a:p>
          <a:p>
            <a:pPr marL="285750" indent="-285750" algn="just">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Open, machine-readable formats -&gt; (JSON, CSV, Parquet instead of PDFs or proprietary files).</a:t>
            </a:r>
          </a:p>
          <a:p>
            <a:pPr marL="742950" lvl="1" indent="-285750" algn="just">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Harmonised features and units -&gt; Consistent column names and standardised measurements across datasets.</a:t>
            </a:r>
          </a:p>
          <a:p>
            <a:pPr marL="742950" lvl="1" indent="-285750" algn="just">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Rich metadata and provenance -&gt; Explicitly capture experimental variables, instrument settings, and environmental conditions.</a:t>
            </a:r>
          </a:p>
          <a:p>
            <a:pPr marL="742950" lvl="1" indent="-285750" algn="just">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High data integrity -&gt; Remove duplicates, undocumented gaps, and unclear file naming conventions.</a:t>
            </a:r>
          </a:p>
          <a:p>
            <a:pPr marL="742950" lvl="1" indent="-285750" algn="just">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lgn="just">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Scalable interoperability -&gt; Data designed for automated integration with workflows, repositories, and AI pipelines.</a:t>
            </a:r>
          </a:p>
        </p:txBody>
      </p:sp>
      <p:pic>
        <p:nvPicPr>
          <p:cNvPr id="4" name="Picture 6" descr="Free floppy disk media vector">
            <a:extLst>
              <a:ext uri="{FF2B5EF4-FFF2-40B4-BE49-F238E27FC236}">
                <a16:creationId xmlns:a16="http://schemas.microsoft.com/office/drawing/2014/main" id="{A61C801A-E33D-0341-3421-E7C6D3F85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3FAEFF45-D525-AB18-8DE4-D894DB509F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958441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A08BEB3-9DA7-592A-36D0-EB390C6F7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62C8B-753A-DAE6-63EE-2BD08A6CCEEE}"/>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[What is a filesystem?]</a:t>
            </a:r>
          </a:p>
        </p:txBody>
      </p:sp>
      <p:cxnSp>
        <p:nvCxnSpPr>
          <p:cNvPr id="5" name="Straight Connector 4">
            <a:extLst>
              <a:ext uri="{FF2B5EF4-FFF2-40B4-BE49-F238E27FC236}">
                <a16:creationId xmlns:a16="http://schemas.microsoft.com/office/drawing/2014/main" id="{BBFCEE39-144A-587E-CEE0-9CC93A35158D}"/>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FC1912B-0687-3EC8-8978-6C5A5EFDFEA6}"/>
              </a:ext>
            </a:extLst>
          </p:cNvPr>
          <p:cNvSpPr txBox="1"/>
          <p:nvPr/>
        </p:nvSpPr>
        <p:spPr>
          <a:xfrm>
            <a:off x="417575" y="1389886"/>
            <a:ext cx="11469625" cy="3970318"/>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Is what we use to organise and store data on hardware devices like hard drives, SSDs, and network storage.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Manages how data is written, read, and accessed efficiently.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Uses a hierarchical structure of directories (folders) and files.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Provides access control and permissions, defining who can read, write, or execute files.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Different types exist, optimised for different use cases.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 Windows, you use \ to separate the folders; in Linux and macOS, you use /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39288983-CC14-6439-3142-D16B6BBBF6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6" name="Picture 6" descr="Free floppy disk media vector">
            <a:extLst>
              <a:ext uri="{FF2B5EF4-FFF2-40B4-BE49-F238E27FC236}">
                <a16:creationId xmlns:a16="http://schemas.microsoft.com/office/drawing/2014/main" id="{386524B0-19CD-4571-1D77-C41DEFADAC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12121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A08BEB3-9DA7-592A-36D0-EB390C6F7C0A}"/>
            </a:ext>
          </a:extLst>
        </p:cNvPr>
        <p:cNvGrpSpPr/>
        <p:nvPr/>
      </p:nvGrpSpPr>
      <p:grpSpPr>
        <a:xfrm>
          <a:off x="0" y="0"/>
          <a:ext cx="0" cy="0"/>
          <a:chOff x="0" y="0"/>
          <a:chExt cx="0" cy="0"/>
        </a:xfrm>
      </p:grpSpPr>
      <p:pic>
        <p:nvPicPr>
          <p:cNvPr id="4" name="Picture 6" descr="Free floppy disk media vector">
            <a:extLst>
              <a:ext uri="{FF2B5EF4-FFF2-40B4-BE49-F238E27FC236}">
                <a16:creationId xmlns:a16="http://schemas.microsoft.com/office/drawing/2014/main" id="{F368BD7C-1F83-3B55-39F3-34366FC201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F462C8B-753A-DAE6-63EE-2BD08A6CCEEE}"/>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[Example: The file system behind android]</a:t>
            </a:r>
          </a:p>
        </p:txBody>
      </p:sp>
      <p:cxnSp>
        <p:nvCxnSpPr>
          <p:cNvPr id="5" name="Straight Connector 4">
            <a:extLst>
              <a:ext uri="{FF2B5EF4-FFF2-40B4-BE49-F238E27FC236}">
                <a16:creationId xmlns:a16="http://schemas.microsoft.com/office/drawing/2014/main" id="{BBFCEE39-144A-587E-CEE0-9CC93A35158D}"/>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6" name="Online Media 5" title="android filesystem">
            <a:hlinkClick r:id="" action="ppaction://media"/>
            <a:extLst>
              <a:ext uri="{FF2B5EF4-FFF2-40B4-BE49-F238E27FC236}">
                <a16:creationId xmlns:a16="http://schemas.microsoft.com/office/drawing/2014/main" id="{19B28090-E963-1EDA-BAA4-C2F7625F6859}"/>
              </a:ext>
            </a:extLst>
          </p:cNvPr>
          <p:cNvPicPr>
            <a:picLocks noRot="1" noChangeAspect="1"/>
          </p:cNvPicPr>
          <p:nvPr>
            <a:videoFile r:link="rId1"/>
          </p:nvPr>
        </p:nvPicPr>
        <p:blipFill>
          <a:blip r:embed="rId5"/>
          <a:stretch>
            <a:fillRect/>
          </a:stretch>
        </p:blipFill>
        <p:spPr>
          <a:xfrm>
            <a:off x="1645920" y="1268666"/>
            <a:ext cx="8851392" cy="5001049"/>
          </a:xfrm>
          <a:prstGeom prst="rect">
            <a:avLst/>
          </a:prstGeom>
        </p:spPr>
      </p:pic>
      <p:pic>
        <p:nvPicPr>
          <p:cNvPr id="3" name="Picture 2" descr="A black and white sign with white text&#10;&#10;AI-generated content may be incorrect.">
            <a:extLst>
              <a:ext uri="{FF2B5EF4-FFF2-40B4-BE49-F238E27FC236}">
                <a16:creationId xmlns:a16="http://schemas.microsoft.com/office/drawing/2014/main" id="{46898B8E-4B53-B579-705D-E153F89E07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701316022"/>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92B5E7-3299-D48F-5279-D9635852956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EFEB66F-BAE9-A26D-66B2-6BB1474D9E30}"/>
              </a:ext>
            </a:extLst>
          </p:cNvPr>
          <p:cNvSpPr txBox="1"/>
          <p:nvPr/>
        </p:nvSpPr>
        <p:spPr>
          <a:xfrm>
            <a:off x="417575" y="1278032"/>
            <a:ext cx="11527992" cy="3970318"/>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Instruments and the computers attached to them.</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Employee devices, laptops, desktops, but also phones, etc…</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External devices (hard drives, USB sticks, SD cards)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 drive.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OneDrive and SharePoint.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Computing network shared storage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ction="ppaction://hlinkfile"/>
              </a:rPr>
              <a:t>\\nbi-cfs2</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HPC storage (Also known as Isilon).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4" action="ppaction://hlinkfile"/>
              </a:rPr>
              <a:t>\\jic-hpc-data</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a:p>
            <a:pPr marL="1657350" lvl="3"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2052" name="Picture 4" descr="McLaren needs a 20-year-old Compaq laptop to maintain its F1 supercar | The  Verge">
            <a:extLst>
              <a:ext uri="{FF2B5EF4-FFF2-40B4-BE49-F238E27FC236}">
                <a16:creationId xmlns:a16="http://schemas.microsoft.com/office/drawing/2014/main" id="{0270D0AD-241E-59EE-06A0-6A53EDD1BB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69745" y="2417213"/>
            <a:ext cx="1800000" cy="121136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B10B12C-9C9A-4D64-245D-05C91753FE9E}"/>
              </a:ext>
            </a:extLst>
          </p:cNvPr>
          <p:cNvSpPr/>
          <p:nvPr/>
        </p:nvSpPr>
        <p:spPr>
          <a:xfrm>
            <a:off x="512251" y="985649"/>
            <a:ext cx="8419336" cy="1938992"/>
          </a:xfrm>
          <a:prstGeom prst="rect">
            <a:avLst/>
          </a:prstGeom>
          <a:solidFill>
            <a:srgbClr val="FFFF00"/>
          </a:solidFill>
        </p:spPr>
        <p:txBody>
          <a:bodyPr wrap="square" lIns="91440" tIns="45720" rIns="91440" bIns="45720">
            <a:spAutoFit/>
          </a:bodyPr>
          <a:lstStyle/>
          <a:p>
            <a:pPr algn="ctr"/>
            <a:r>
              <a:rPr lang="en-US" sz="6000" b="0" cap="none" spc="0" dirty="0">
                <a:ln w="0"/>
                <a:solidFill>
                  <a:srgbClr val="FF0000"/>
                </a:solidFill>
                <a:effectLst>
                  <a:outerShdw blurRad="38100" dist="19050" dir="2700000" algn="tl" rotWithShape="0">
                    <a:schemeClr val="dk1">
                      <a:alpha val="40000"/>
                    </a:schemeClr>
                  </a:outerShdw>
                </a:effectLst>
              </a:rPr>
              <a:t>HERE YOUR DATA</a:t>
            </a:r>
          </a:p>
          <a:p>
            <a:pPr algn="ctr"/>
            <a:r>
              <a:rPr lang="en-US" sz="6000" b="0" cap="none" spc="0" dirty="0">
                <a:ln w="0"/>
                <a:solidFill>
                  <a:srgbClr val="FF0000"/>
                </a:solidFill>
                <a:effectLst>
                  <a:outerShdw blurRad="38100" dist="19050" dir="2700000" algn="tl" rotWithShape="0">
                    <a:schemeClr val="dk1">
                      <a:alpha val="40000"/>
                    </a:schemeClr>
                  </a:outerShdw>
                </a:effectLst>
              </a:rPr>
              <a:t> IS NOT SAFE</a:t>
            </a:r>
            <a:endParaRPr lang="en-US" sz="6000" b="0" cap="none" spc="0" dirty="0">
              <a:ln w="0">
                <a:solidFill>
                  <a:srgbClr val="FF0000"/>
                </a:solidFill>
              </a:ln>
              <a:solidFill>
                <a:srgbClr val="FF0000"/>
              </a:solidFill>
              <a:effectLst>
                <a:outerShdw blurRad="38100" dist="19050" dir="2700000" algn="tl" rotWithShape="0">
                  <a:schemeClr val="dk1">
                    <a:alpha val="40000"/>
                  </a:schemeClr>
                </a:outerShdw>
              </a:effectLst>
            </a:endParaRPr>
          </a:p>
        </p:txBody>
      </p:sp>
      <p:cxnSp>
        <p:nvCxnSpPr>
          <p:cNvPr id="5" name="Straight Connector 4">
            <a:extLst>
              <a:ext uri="{FF2B5EF4-FFF2-40B4-BE49-F238E27FC236}">
                <a16:creationId xmlns:a16="http://schemas.microsoft.com/office/drawing/2014/main" id="{3072A645-0F0E-DDEA-A77D-19C1AB486963}"/>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7" name="Picture 6" descr="Free floppy disk media vector">
            <a:extLst>
              <a:ext uri="{FF2B5EF4-FFF2-40B4-BE49-F238E27FC236}">
                <a16:creationId xmlns:a16="http://schemas.microsoft.com/office/drawing/2014/main" id="{97EE91A7-EB4A-8DBB-B1A0-2CC322CB93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black and white sign with white text&#10;&#10;AI-generated content may be incorrect.">
            <a:extLst>
              <a:ext uri="{FF2B5EF4-FFF2-40B4-BE49-F238E27FC236}">
                <a16:creationId xmlns:a16="http://schemas.microsoft.com/office/drawing/2014/main" id="{5EC54194-700B-0B18-0105-4B8061C255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2050" name="Picture 2" descr="A fully installed cryo-EM FEI Talos F200C microscope">
            <a:extLst>
              <a:ext uri="{FF2B5EF4-FFF2-40B4-BE49-F238E27FC236}">
                <a16:creationId xmlns:a16="http://schemas.microsoft.com/office/drawing/2014/main" id="{047352D4-DB79-E4EC-5749-A1634ED6DAA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212"/>
          <a:stretch>
            <a:fillRect/>
          </a:stretch>
        </p:blipFill>
        <p:spPr bwMode="auto">
          <a:xfrm>
            <a:off x="9569744" y="1270792"/>
            <a:ext cx="1800000" cy="11082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SB 2.0 3.0 Flash Drive 64GB 32GB 16GB 8GB Cute Penguin Memory Stick Xmas  Gifts">
            <a:extLst>
              <a:ext uri="{FF2B5EF4-FFF2-40B4-BE49-F238E27FC236}">
                <a16:creationId xmlns:a16="http://schemas.microsoft.com/office/drawing/2014/main" id="{50351F19-6A14-FDBA-F3AE-BF85C43FD69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8268" b="22039"/>
          <a:stretch>
            <a:fillRect/>
          </a:stretch>
        </p:blipFill>
        <p:spPr bwMode="auto">
          <a:xfrm>
            <a:off x="9569744" y="3662223"/>
            <a:ext cx="1800000" cy="1074486"/>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descr="Ban, no, prohibition, sign, forbidden, banned icon - Download on Iconfinder">
            <a:extLst>
              <a:ext uri="{FF2B5EF4-FFF2-40B4-BE49-F238E27FC236}">
                <a16:creationId xmlns:a16="http://schemas.microsoft.com/office/drawing/2014/main" id="{780ABC62-CE95-0012-CABF-FB88C1E6CE3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26262" y="1351185"/>
            <a:ext cx="3090447" cy="309044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C81A673-F75D-8514-793C-20C11FA40D53}"/>
              </a:ext>
            </a:extLst>
          </p:cNvPr>
          <p:cNvPicPr>
            <a:picLocks noChangeAspect="1"/>
          </p:cNvPicPr>
          <p:nvPr/>
        </p:nvPicPr>
        <p:blipFill>
          <a:blip r:embed="rId11"/>
          <a:srcRect b="10449"/>
          <a:stretch>
            <a:fillRect/>
          </a:stretch>
        </p:blipFill>
        <p:spPr>
          <a:xfrm>
            <a:off x="1273401" y="5215955"/>
            <a:ext cx="1892626" cy="1469677"/>
          </a:xfrm>
          <a:prstGeom prst="rect">
            <a:avLst/>
          </a:prstGeom>
        </p:spPr>
      </p:pic>
      <p:pic>
        <p:nvPicPr>
          <p:cNvPr id="2056" name="Picture 8" descr="OneDrive Files on Demand - Setup, Configuration and Use - Corinium  Technology Limited">
            <a:extLst>
              <a:ext uri="{FF2B5EF4-FFF2-40B4-BE49-F238E27FC236}">
                <a16:creationId xmlns:a16="http://schemas.microsoft.com/office/drawing/2014/main" id="{A5DF7026-62E3-92D9-FF5C-011DE0D86A3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5827" r="15177"/>
          <a:stretch>
            <a:fillRect/>
          </a:stretch>
        </p:blipFill>
        <p:spPr bwMode="auto">
          <a:xfrm>
            <a:off x="3731268" y="5208916"/>
            <a:ext cx="2047462" cy="148375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OneFS Isilon - ULHPC Technical Documentation">
            <a:extLst>
              <a:ext uri="{FF2B5EF4-FFF2-40B4-BE49-F238E27FC236}">
                <a16:creationId xmlns:a16="http://schemas.microsoft.com/office/drawing/2014/main" id="{4DDF5988-9A38-7ABA-17EC-9E6714B43A5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88139" y="5181170"/>
            <a:ext cx="1978926" cy="153924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DA3BA7D-4D6E-B012-8559-07ADB06F00D0}"/>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[Storage locations available at the NBI]</a:t>
            </a:r>
          </a:p>
        </p:txBody>
      </p:sp>
      <p:pic>
        <p:nvPicPr>
          <p:cNvPr id="12" name="Picture 11">
            <a:extLst>
              <a:ext uri="{FF2B5EF4-FFF2-40B4-BE49-F238E27FC236}">
                <a16:creationId xmlns:a16="http://schemas.microsoft.com/office/drawing/2014/main" id="{74AC0089-D1C1-732D-616F-7085DBC4BB59}"/>
              </a:ext>
            </a:extLst>
          </p:cNvPr>
          <p:cNvPicPr>
            <a:picLocks noChangeAspect="1"/>
          </p:cNvPicPr>
          <p:nvPr/>
        </p:nvPicPr>
        <p:blipFill>
          <a:blip r:embed="rId14"/>
          <a:stretch>
            <a:fillRect/>
          </a:stretch>
        </p:blipFill>
        <p:spPr>
          <a:xfrm>
            <a:off x="6343971" y="5229447"/>
            <a:ext cx="1978926" cy="1519727"/>
          </a:xfrm>
          <a:prstGeom prst="rect">
            <a:avLst/>
          </a:prstGeom>
        </p:spPr>
      </p:pic>
    </p:spTree>
    <p:extLst>
      <p:ext uri="{BB962C8B-B14F-4D97-AF65-F5344CB8AC3E}">
        <p14:creationId xmlns:p14="http://schemas.microsoft.com/office/powerpoint/2010/main" val="289714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 calcmode="lin" valueType="num">
                                      <p:cBhvr additive="base">
                                        <p:cTn id="1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7" presetID="1" presetClass="entr" presetSubtype="0" fill="hold" nodeType="with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 calcmode="lin" valueType="num">
                                      <p:cBhvr additive="base">
                                        <p:cTn id="2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5" presetID="1" presetClass="entr" presetSubtype="0" fill="hold" nodeType="withEffect">
                                  <p:stCondLst>
                                    <p:cond delay="0"/>
                                  </p:stCondLst>
                                  <p:childTnLst>
                                    <p:set>
                                      <p:cBhvr>
                                        <p:cTn id="26" dur="1" fill="hold">
                                          <p:stCondLst>
                                            <p:cond delay="0"/>
                                          </p:stCondLst>
                                        </p:cTn>
                                        <p:tgtEl>
                                          <p:spTgt spid="20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anim calcmode="lin" valueType="num">
                                      <p:cBhvr additive="base">
                                        <p:cTn id="3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anim calcmode="lin" valueType="num">
                                      <p:cBhvr additive="base">
                                        <p:cTn id="39"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41" presetID="1" presetClass="entr" presetSubtype="0" fill="hold" nodeType="withEffect">
                                  <p:stCondLst>
                                    <p:cond delay="0"/>
                                  </p:stCondLst>
                                  <p:childTnLst>
                                    <p:set>
                                      <p:cBhvr>
                                        <p:cTn id="42" dur="1" fill="hold">
                                          <p:stCondLst>
                                            <p:cond delay="0"/>
                                          </p:stCondLst>
                                        </p:cTn>
                                        <p:tgtEl>
                                          <p:spTgt spid="205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0">
                                            <p:txEl>
                                              <p:pRg st="10" end="10"/>
                                            </p:txEl>
                                          </p:spTgt>
                                        </p:tgtEl>
                                        <p:attrNameLst>
                                          <p:attrName>style.visibility</p:attrName>
                                        </p:attrNameLst>
                                      </p:cBhvr>
                                      <p:to>
                                        <p:strVal val="visible"/>
                                      </p:to>
                                    </p:set>
                                    <p:anim calcmode="lin" valueType="num">
                                      <p:cBhvr additive="base">
                                        <p:cTn id="4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
                                            <p:txEl>
                                              <p:pRg st="10" end="10"/>
                                            </p:txEl>
                                          </p:spTgt>
                                        </p:tgtEl>
                                        <p:attrNameLst>
                                          <p:attrName>ppt_y</p:attrName>
                                        </p:attrNameLst>
                                      </p:cBhvr>
                                      <p:tavLst>
                                        <p:tav tm="0">
                                          <p:val>
                                            <p:strVal val="1+#ppt_h/2"/>
                                          </p:val>
                                        </p:tav>
                                        <p:tav tm="100000">
                                          <p:val>
                                            <p:strVal val="#ppt_y"/>
                                          </p:val>
                                        </p:tav>
                                      </p:tavLst>
                                    </p:anim>
                                  </p:childTnLst>
                                </p:cTn>
                              </p:par>
                              <p:par>
                                <p:cTn id="49" presetID="1" presetClass="entr" presetSubtype="0"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xEl>
                                              <p:pRg st="12" end="12"/>
                                            </p:txEl>
                                          </p:spTgt>
                                        </p:tgtEl>
                                        <p:attrNameLst>
                                          <p:attrName>style.visibility</p:attrName>
                                        </p:attrNameLst>
                                      </p:cBhvr>
                                      <p:to>
                                        <p:strVal val="visible"/>
                                      </p:to>
                                    </p:set>
                                    <p:anim calcmode="lin" valueType="num">
                                      <p:cBhvr additive="base">
                                        <p:cTn id="55" dur="500" fill="hold"/>
                                        <p:tgtEl>
                                          <p:spTgt spid="10">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
                                            <p:txEl>
                                              <p:pRg st="12" end="12"/>
                                            </p:txEl>
                                          </p:spTgt>
                                        </p:tgtEl>
                                        <p:attrNameLst>
                                          <p:attrName>ppt_y</p:attrName>
                                        </p:attrNameLst>
                                      </p:cBhvr>
                                      <p:tavLst>
                                        <p:tav tm="0">
                                          <p:val>
                                            <p:strVal val="1+#ppt_h/2"/>
                                          </p:val>
                                        </p:tav>
                                        <p:tav tm="100000">
                                          <p:val>
                                            <p:strVal val="#ppt_y"/>
                                          </p:val>
                                        </p:tav>
                                      </p:tavLst>
                                    </p:anim>
                                  </p:childTnLst>
                                </p:cTn>
                              </p:par>
                              <p:par>
                                <p:cTn id="57" presetID="1" presetClass="entr" presetSubtype="0" fill="hold" nodeType="withEffect">
                                  <p:stCondLst>
                                    <p:cond delay="0"/>
                                  </p:stCondLst>
                                  <p:childTnLst>
                                    <p:set>
                                      <p:cBhvr>
                                        <p:cTn id="58" dur="1" fill="hold">
                                          <p:stCondLst>
                                            <p:cond delay="0"/>
                                          </p:stCondLst>
                                        </p:cTn>
                                        <p:tgtEl>
                                          <p:spTgt spid="20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9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297263-6A60-2FC5-CE17-F14F3DDD46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4D0F6-C5F0-BE8E-5CC0-70D47C65B0F1}"/>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[U drive and Computing shared locations]</a:t>
            </a:r>
          </a:p>
        </p:txBody>
      </p:sp>
      <p:cxnSp>
        <p:nvCxnSpPr>
          <p:cNvPr id="5" name="Straight Connector 4">
            <a:extLst>
              <a:ext uri="{FF2B5EF4-FFF2-40B4-BE49-F238E27FC236}">
                <a16:creationId xmlns:a16="http://schemas.microsoft.com/office/drawing/2014/main" id="{C3733CE5-266A-66B9-CF89-53ED8C46AB2C}"/>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DE12533-4B06-9BE5-72E7-67163A7B4C68}"/>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DD0D9861-0D88-D0C5-10F6-2B01813B109C}"/>
              </a:ext>
            </a:extLst>
          </p:cNvPr>
          <p:cNvSpPr txBox="1"/>
          <p:nvPr/>
        </p:nvSpPr>
        <p:spPr>
          <a:xfrm>
            <a:off x="417576" y="1362177"/>
            <a:ext cx="10966704" cy="4524315"/>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U drive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Can store up to 20G </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Good for documents that do not require sharing</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Fully backed up and snapshots</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Automatically mapped </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Access: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ction="ppaction://hlinkfile"/>
              </a:rPr>
              <a:t>\\nbi-ufiles\username</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Computing shared folders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Quota varies but is small, not designed for big data.</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Good for shared documents like protocols, SOPs </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Fully backed up and snapshots</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Needs manual mapping</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Access: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4" action="ppaction://hlinkfile"/>
              </a:rPr>
              <a:t>\\files</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5" action="ppaction://hlinkfile"/>
              </a:rPr>
              <a:t>\\ji-cfs2</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D7B2233-576B-9169-1A76-D8F0D9B6A8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813397D5-F0C0-D561-E414-DE4E23719B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85726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3D35F0E-986C-2270-9642-70A3F19CF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98FB2-B420-7917-8FC7-2D8E1FBB438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[OneDrive - SharePoint]</a:t>
            </a:r>
          </a:p>
        </p:txBody>
      </p:sp>
      <p:cxnSp>
        <p:nvCxnSpPr>
          <p:cNvPr id="5" name="Straight Connector 4">
            <a:extLst>
              <a:ext uri="{FF2B5EF4-FFF2-40B4-BE49-F238E27FC236}">
                <a16:creationId xmlns:a16="http://schemas.microsoft.com/office/drawing/2014/main" id="{877539C3-F241-874D-8BF1-123092C2CD5C}"/>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3E7379D-7605-CF73-BB55-E174B878787F}"/>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54157E6C-F4A4-D89B-213A-1034261761AA}"/>
              </a:ext>
            </a:extLst>
          </p:cNvPr>
          <p:cNvSpPr txBox="1"/>
          <p:nvPr/>
        </p:nvSpPr>
        <p:spPr>
          <a:xfrm>
            <a:off x="417576" y="1362177"/>
            <a:ext cx="10966704" cy="5078313"/>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Good for sharing drafts, writing protocols, and collaborating on office documents with colleagues.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Fully backed up, secure, and officially supported by NBI Computing.</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Ideal for real-time co-authoring and managing team file access across internal JIC/NBI groups.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IMPORTANT:</a:t>
            </a: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Do not use it to store or sync raw bioinformatics data or large file trees; it will break metadata, choke bandwidth, and trigger endless sync conflicts.</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Be organised, create folders and compartmentalise your data; it is easy to have all the data in the root of your OneDrive folder.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5CAF4EC3-95BC-EDE2-3326-629223CAC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E13F4BA2-BC51-2CE9-F2BA-B16A7BFBD2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186099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4FF324-4ED3-185C-9E02-E03141E3B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B17B2-2C47-E4DB-9F47-CA141057EDF3}"/>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[Omero – Image Storage]</a:t>
            </a:r>
          </a:p>
        </p:txBody>
      </p:sp>
      <p:cxnSp>
        <p:nvCxnSpPr>
          <p:cNvPr id="5" name="Straight Connector 4">
            <a:extLst>
              <a:ext uri="{FF2B5EF4-FFF2-40B4-BE49-F238E27FC236}">
                <a16:creationId xmlns:a16="http://schemas.microsoft.com/office/drawing/2014/main" id="{4B9FB4EE-1CC5-7451-1327-9B7B75356B3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DE706D9-7FAC-32E6-3140-CC9919C99E00}"/>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5CF8520C-0A3E-2A0D-9387-DE57D7D9756B}"/>
              </a:ext>
            </a:extLst>
          </p:cNvPr>
          <p:cNvSpPr txBox="1"/>
          <p:nvPr/>
        </p:nvSpPr>
        <p:spPr>
          <a:xfrm>
            <a:off x="417576" y="1335435"/>
            <a:ext cx="10966704" cy="5047536"/>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Managing, viewing, and organising microscopy and high-dimensional biological images.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Centralised NBI storage that preserves data integrity, avoids local loss, and is fully backed up.</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Easily share datasets, annotations, and metadata across internal groups without copying huge files.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Do not use standard filesystems or personal cloud drives for images; they strip away essential acquisition metadata and break traceability.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algn="ctr"/>
            <a:r>
              <a:rPr lang="en-GB" sz="32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omero.nbi.ac.uk</a:t>
            </a:r>
          </a:p>
          <a:p>
            <a:pPr algn="ctr"/>
            <a:endParaRPr lang="en-GB" sz="32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algn="ctr"/>
            <a:r>
              <a:rPr lang="en-GB" sz="24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(ask your bioinformatics team or microscopy) </a:t>
            </a:r>
          </a:p>
        </p:txBody>
      </p:sp>
      <p:pic>
        <p:nvPicPr>
          <p:cNvPr id="4" name="Picture 6" descr="Free floppy disk media vector">
            <a:extLst>
              <a:ext uri="{FF2B5EF4-FFF2-40B4-BE49-F238E27FC236}">
                <a16:creationId xmlns:a16="http://schemas.microsoft.com/office/drawing/2014/main" id="{5D3174B4-E9BD-D4B5-5F5A-3410D5203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79A25068-4A49-2359-724E-47975D0C64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993856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80A78D5-48D7-0BD4-E1B4-1427AD06D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0219A-5BAF-1807-E14E-F875C04CE4E7}"/>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[Data Access/Permissions]</a:t>
            </a:r>
          </a:p>
        </p:txBody>
      </p:sp>
      <p:cxnSp>
        <p:nvCxnSpPr>
          <p:cNvPr id="5" name="Straight Connector 4">
            <a:extLst>
              <a:ext uri="{FF2B5EF4-FFF2-40B4-BE49-F238E27FC236}">
                <a16:creationId xmlns:a16="http://schemas.microsoft.com/office/drawing/2014/main" id="{06D93A9C-3760-6651-E103-00630B7E3EB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4F2F137-4E19-F367-62C5-1261B30F221F}"/>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93EEEDA5-EC7F-39DA-DCC0-BC5125F84844}"/>
              </a:ext>
            </a:extLst>
          </p:cNvPr>
          <p:cNvSpPr txBox="1"/>
          <p:nvPr/>
        </p:nvSpPr>
        <p:spPr>
          <a:xfrm>
            <a:off x="548640" y="1168333"/>
            <a:ext cx="10966704" cy="4801314"/>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the JIC, Group Leaders have private spaces at Computing’s Shared folders and the HPC​.</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Group members can then get access​.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Speak to informatics for more complex arrangements​.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Collaborators’ access​.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Project storage across groups/members​.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Institute-wide resource​.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External access.</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It may not be the case for your institute; consult your line manager or your bioinformatics teams to learn more. </a:t>
            </a:r>
          </a:p>
        </p:txBody>
      </p:sp>
      <p:pic>
        <p:nvPicPr>
          <p:cNvPr id="4" name="Picture 6" descr="Free floppy disk media vector">
            <a:extLst>
              <a:ext uri="{FF2B5EF4-FFF2-40B4-BE49-F238E27FC236}">
                <a16:creationId xmlns:a16="http://schemas.microsoft.com/office/drawing/2014/main" id="{086D01A6-A45D-1D1B-324F-D697C73CE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5AD950A7-1E12-3DFE-C1A4-4FB0FE83C0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747149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2EA8E6-D152-ABF0-9BD3-C7D278796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47BDA-2989-E7F7-476B-8AFA8757EC34}"/>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[Bad practices]</a:t>
            </a:r>
          </a:p>
        </p:txBody>
      </p:sp>
      <p:cxnSp>
        <p:nvCxnSpPr>
          <p:cNvPr id="5" name="Straight Connector 4">
            <a:extLst>
              <a:ext uri="{FF2B5EF4-FFF2-40B4-BE49-F238E27FC236}">
                <a16:creationId xmlns:a16="http://schemas.microsoft.com/office/drawing/2014/main" id="{C75CCE2E-BBD8-C92A-0053-D7B630F309E9}"/>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CAA9916-0314-05D5-EBA7-9C594A243938}"/>
              </a:ext>
            </a:extLst>
          </p:cNvPr>
          <p:cNvSpPr txBox="1"/>
          <p:nvPr/>
        </p:nvSpPr>
        <p:spPr>
          <a:xfrm>
            <a:off x="417576" y="1078278"/>
            <a:ext cx="11527992" cy="4801314"/>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Local-Only Storage. Storing data solely on external drives or laptops risks total loss (e.g., hardware failure or theft). Use our institutional and backed-up storage systems.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Editing Raw Data. Working directly on raw files endangers data integrity and reproducibility. Make copies; treat raw data as read-only.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 Backups. A single copy is a single point of failure. Automate regular backups in multiple locations. A snapshot is not a backup!</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Running analysis in Group Folders. Use JIC-Scratch for heavy I/O!</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Disorganized Files, Cryptic filenames like new_final2_real.bam confuse everyone—including you. Use clear, consistent naming conventions and folder structures.</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 Metadata or Documentation, Unlabelled data becomes unusable. Document sample origins, processing steps, and tool versions.</a:t>
            </a:r>
          </a:p>
        </p:txBody>
      </p:sp>
      <p:pic>
        <p:nvPicPr>
          <p:cNvPr id="7" name="Picture 6" descr="Free floppy disk media vector">
            <a:extLst>
              <a:ext uri="{FF2B5EF4-FFF2-40B4-BE49-F238E27FC236}">
                <a16:creationId xmlns:a16="http://schemas.microsoft.com/office/drawing/2014/main" id="{4A9DE2FF-1473-64B4-4B18-56FE0DB4EF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20CF5871-35A3-6765-252C-357ED7AC1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71277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 calcmode="lin" valueType="num">
                                      <p:cBhvr additive="base">
                                        <p:cTn id="31"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 calcmode="lin" valueType="num">
                                      <p:cBhvr additive="base">
                                        <p:cTn id="3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B20E66-7A07-EDAB-CC00-DE1C0FCFD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BB3B1-AFB2-A02B-DFE6-9FA2822D561F}"/>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[Metadata]</a:t>
            </a:r>
          </a:p>
        </p:txBody>
      </p:sp>
      <p:cxnSp>
        <p:nvCxnSpPr>
          <p:cNvPr id="5" name="Straight Connector 4">
            <a:extLst>
              <a:ext uri="{FF2B5EF4-FFF2-40B4-BE49-F238E27FC236}">
                <a16:creationId xmlns:a16="http://schemas.microsoft.com/office/drawing/2014/main" id="{49B8F521-7C97-1864-9759-BA89926CF9A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14F06A6-C2A2-BB7E-472E-ECEA989940F7}"/>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A4E47F49-0DEF-41C4-7E41-D989749A1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sign with white text&#10;&#10;AI-generated content may be incorrect.">
            <a:extLst>
              <a:ext uri="{FF2B5EF4-FFF2-40B4-BE49-F238E27FC236}">
                <a16:creationId xmlns:a16="http://schemas.microsoft.com/office/drawing/2014/main" id="{1C90ACBF-5ACE-C239-EBE2-2EA9274BDB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9" name="Picture 8">
            <a:extLst>
              <a:ext uri="{FF2B5EF4-FFF2-40B4-BE49-F238E27FC236}">
                <a16:creationId xmlns:a16="http://schemas.microsoft.com/office/drawing/2014/main" id="{93BA59DD-21E6-9056-5AA9-5B2F5D91A322}"/>
              </a:ext>
            </a:extLst>
          </p:cNvPr>
          <p:cNvPicPr>
            <a:picLocks noChangeAspect="1"/>
          </p:cNvPicPr>
          <p:nvPr/>
        </p:nvPicPr>
        <p:blipFill>
          <a:blip r:embed="rId5"/>
          <a:srcRect t="7120" b="8943"/>
          <a:stretch>
            <a:fillRect/>
          </a:stretch>
        </p:blipFill>
        <p:spPr>
          <a:xfrm>
            <a:off x="2280356" y="1651112"/>
            <a:ext cx="8098536" cy="4527305"/>
          </a:xfrm>
          <a:prstGeom prst="rect">
            <a:avLst/>
          </a:prstGeom>
        </p:spPr>
      </p:pic>
    </p:spTree>
    <p:extLst>
      <p:ext uri="{BB962C8B-B14F-4D97-AF65-F5344CB8AC3E}">
        <p14:creationId xmlns:p14="http://schemas.microsoft.com/office/powerpoint/2010/main" val="3141331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7B5E9A-1CFE-58CC-0721-A34FF7ADC26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86E971F-C0C7-F8FE-B95F-D61AA5EFDBED}"/>
              </a:ext>
            </a:extLst>
          </p:cNvPr>
          <p:cNvSpPr/>
          <p:nvPr/>
        </p:nvSpPr>
        <p:spPr>
          <a:xfrm>
            <a:off x="417576" y="5056632"/>
            <a:ext cx="10399777" cy="439191"/>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798A5F4-45FA-4C24-01E1-35A4F7BF975F}"/>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[Metadata]</a:t>
            </a:r>
          </a:p>
        </p:txBody>
      </p:sp>
      <p:cxnSp>
        <p:nvCxnSpPr>
          <p:cNvPr id="5" name="Straight Connector 4">
            <a:extLst>
              <a:ext uri="{FF2B5EF4-FFF2-40B4-BE49-F238E27FC236}">
                <a16:creationId xmlns:a16="http://schemas.microsoft.com/office/drawing/2014/main" id="{0599E06D-6342-8061-5292-BA48DAFD6803}"/>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54B74DE-CB89-9AFD-2F9E-5BABB8872D95}"/>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5A9C97CD-DBB5-8EED-ECA6-650BC4411BBB}"/>
              </a:ext>
            </a:extLst>
          </p:cNvPr>
          <p:cNvSpPr txBox="1"/>
          <p:nvPr/>
        </p:nvSpPr>
        <p:spPr>
          <a:xfrm>
            <a:off x="417576" y="1234554"/>
            <a:ext cx="10920984" cy="5078313"/>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Your final results are only as useful as your documentation!</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Documenting your analysis ensures reproducibility, collaboration, and future understanding.</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Best Practices:</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Store your analysis scripts (e.g., Python, R, Bash)</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Include notes on:</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Data sources and versions.</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Parameters and tools used.</a:t>
            </a: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Rationale for choices and any caveats.</a:t>
            </a:r>
          </a:p>
          <a:p>
            <a:pPr marL="1200150" lvl="2"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 Tools Like Git, GitLab or GitHub, for version control and collaboration.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will be the first person to find your descriptions of the data useful.</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61CDB422-3141-0443-D868-D1525F328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sign with white text&#10;&#10;AI-generated content may be incorrect.">
            <a:extLst>
              <a:ext uri="{FF2B5EF4-FFF2-40B4-BE49-F238E27FC236}">
                <a16:creationId xmlns:a16="http://schemas.microsoft.com/office/drawing/2014/main" id="{81299BCE-441B-7C98-7211-FAB7EC9C98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607806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E4178EA-D247-CBB5-5F09-CE0E252574D3}"/>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6BC4C1A-CA10-6D3D-9C63-B22FDF1E2C07}"/>
              </a:ext>
            </a:extLst>
          </p:cNvPr>
          <p:cNvSpPr/>
          <p:nvPr/>
        </p:nvSpPr>
        <p:spPr>
          <a:xfrm>
            <a:off x="728471" y="4535425"/>
            <a:ext cx="10399777" cy="960398"/>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F4C39B8-6C86-7237-B437-CB0AC80FEE80}"/>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[Metadata - template]</a:t>
            </a:r>
          </a:p>
        </p:txBody>
      </p:sp>
      <p:cxnSp>
        <p:nvCxnSpPr>
          <p:cNvPr id="5" name="Straight Connector 4">
            <a:extLst>
              <a:ext uri="{FF2B5EF4-FFF2-40B4-BE49-F238E27FC236}">
                <a16:creationId xmlns:a16="http://schemas.microsoft.com/office/drawing/2014/main" id="{735CCB3E-D602-66FC-E008-A0EDB9B7C4C8}"/>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0E8BA9F-3147-5A09-1EED-5EF1EDCFE4F3}"/>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D1A4346C-0044-75F6-D7DF-EEDBBBB054DD}"/>
              </a:ext>
            </a:extLst>
          </p:cNvPr>
          <p:cNvSpPr txBox="1"/>
          <p:nvPr/>
        </p:nvSpPr>
        <p:spPr>
          <a:xfrm>
            <a:off x="484697" y="1206730"/>
            <a:ext cx="10920984" cy="4801314"/>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2"/>
              </a:rPr>
              <a:t>https://repo.informatics.jic.ac.uk/Data_Management_2025/Metadata_template.txt</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General Information.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Sample Information.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Experimental Information.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File Information.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Ethical &amp; Access Information.</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Customise it or create your own template; check the requirements of the platforms where your data will be uploaded for guidance, and remember, we are here to help.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lgn="ct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ASK your bioinformatics team, different institutes have different policies.</a:t>
            </a:r>
          </a:p>
        </p:txBody>
      </p:sp>
      <p:pic>
        <p:nvPicPr>
          <p:cNvPr id="4" name="Picture 6" descr="Free floppy disk media vector">
            <a:extLst>
              <a:ext uri="{FF2B5EF4-FFF2-40B4-BE49-F238E27FC236}">
                <a16:creationId xmlns:a16="http://schemas.microsoft.com/office/drawing/2014/main" id="{E5302C60-3D41-DFD2-3399-AB24E1574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sign with white text&#10;&#10;AI-generated content may be incorrect.">
            <a:extLst>
              <a:ext uri="{FF2B5EF4-FFF2-40B4-BE49-F238E27FC236}">
                <a16:creationId xmlns:a16="http://schemas.microsoft.com/office/drawing/2014/main" id="{EF37D9DB-C4A1-EAFC-C134-B0E277C965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415558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BAAD23-7D50-DF19-7994-8E9A232F5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E0EB6-46C1-8B8E-18E4-495E64961AEB}"/>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[Metadata - template]</a:t>
            </a:r>
          </a:p>
        </p:txBody>
      </p:sp>
      <p:cxnSp>
        <p:nvCxnSpPr>
          <p:cNvPr id="5" name="Straight Connector 4">
            <a:extLst>
              <a:ext uri="{FF2B5EF4-FFF2-40B4-BE49-F238E27FC236}">
                <a16:creationId xmlns:a16="http://schemas.microsoft.com/office/drawing/2014/main" id="{08D14353-2346-1E74-0236-492B490A1F6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DD8006E-63CE-6CBC-8B7F-7B0F0E6DC129}"/>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42E38315-304D-BADB-57D2-2CCBC0E0F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36FE260-0506-BAAE-EC68-619860068ECA}"/>
              </a:ext>
            </a:extLst>
          </p:cNvPr>
          <p:cNvPicPr>
            <a:picLocks noChangeAspect="1"/>
          </p:cNvPicPr>
          <p:nvPr/>
        </p:nvPicPr>
        <p:blipFill>
          <a:blip r:embed="rId3"/>
          <a:stretch>
            <a:fillRect/>
          </a:stretch>
        </p:blipFill>
        <p:spPr>
          <a:xfrm>
            <a:off x="1500354" y="1545486"/>
            <a:ext cx="9191292" cy="4065853"/>
          </a:xfrm>
          <a:prstGeom prst="rect">
            <a:avLst/>
          </a:prstGeom>
        </p:spPr>
      </p:pic>
      <p:sp>
        <p:nvSpPr>
          <p:cNvPr id="11" name="Rectangle: Rounded Corners 10">
            <a:extLst>
              <a:ext uri="{FF2B5EF4-FFF2-40B4-BE49-F238E27FC236}">
                <a16:creationId xmlns:a16="http://schemas.microsoft.com/office/drawing/2014/main" id="{3995A845-122A-B350-9697-3AA0EBCC815D}"/>
              </a:ext>
            </a:extLst>
          </p:cNvPr>
          <p:cNvSpPr/>
          <p:nvPr/>
        </p:nvSpPr>
        <p:spPr>
          <a:xfrm>
            <a:off x="1500354" y="3944389"/>
            <a:ext cx="9191292" cy="521208"/>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black and white sign with white text&#10;&#10;AI-generated content may be incorrect.">
            <a:extLst>
              <a:ext uri="{FF2B5EF4-FFF2-40B4-BE49-F238E27FC236}">
                <a16:creationId xmlns:a16="http://schemas.microsoft.com/office/drawing/2014/main" id="{A2B2357A-C905-F1B1-85CA-A4B15A62A4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2407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6A18A18-245C-46B3-5A4F-10A10183D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BD0FB-5689-F151-C1B5-606A47F74BC3}"/>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[The Instrument Network]</a:t>
            </a:r>
          </a:p>
        </p:txBody>
      </p:sp>
      <p:cxnSp>
        <p:nvCxnSpPr>
          <p:cNvPr id="5" name="Straight Connector 4">
            <a:extLst>
              <a:ext uri="{FF2B5EF4-FFF2-40B4-BE49-F238E27FC236}">
                <a16:creationId xmlns:a16="http://schemas.microsoft.com/office/drawing/2014/main" id="{F14DEC76-4078-AE3B-3779-DF7DDA6D9D1A}"/>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33D813C-370C-DBEB-26EA-1E07EF7760BE}"/>
              </a:ext>
            </a:extLst>
          </p:cNvPr>
          <p:cNvSpPr txBox="1"/>
          <p:nvPr/>
        </p:nvSpPr>
        <p:spPr>
          <a:xfrm>
            <a:off x="417576" y="1305341"/>
            <a:ext cx="11393424" cy="4524315"/>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Some computers connected to instruments like microscopes are not fully connected to the NBI network because they do not comply with basic security requirements, such as regular updates, a supported operating system, and antivirus software.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Moving data around on USB sticks is neither efficient nor safe; I discourage it.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Because of this, all these instruments have access to NBI’s central storage and can be used to upload raw data and results to your group’s shared location or personal folder, following the steps from the previous slides.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need to contact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rPr>
              <a:t>computing.helpdesk@nbi.ac.uk</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If the instrument you work with is not connected to the Instrument Network.</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If you need remote access to an instrument from your institute workstation. This can be arranged by contacting the helpdesk.</a:t>
            </a:r>
          </a:p>
        </p:txBody>
      </p:sp>
      <p:pic>
        <p:nvPicPr>
          <p:cNvPr id="4" name="Picture 6" descr="Free floppy disk media vector">
            <a:extLst>
              <a:ext uri="{FF2B5EF4-FFF2-40B4-BE49-F238E27FC236}">
                <a16:creationId xmlns:a16="http://schemas.microsoft.com/office/drawing/2014/main" id="{9572A9B9-C6A7-9DE4-5E65-367622460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471C2A7C-8A61-3C68-836C-A16AB8097E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495260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6EEAC60-8811-0B78-B099-83D967DA8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8B708D-E5B2-BEBD-8699-38E0EEFD3A52}"/>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[How to recover data, if possible]</a:t>
            </a:r>
          </a:p>
        </p:txBody>
      </p:sp>
      <p:cxnSp>
        <p:nvCxnSpPr>
          <p:cNvPr id="5" name="Straight Connector 4">
            <a:extLst>
              <a:ext uri="{FF2B5EF4-FFF2-40B4-BE49-F238E27FC236}">
                <a16:creationId xmlns:a16="http://schemas.microsoft.com/office/drawing/2014/main" id="{2F4C2CD0-3249-2D64-9A34-BEC1F953306C}"/>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CD0C6BB-7297-2728-DA85-E34678350476}"/>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944DAAA4-0C32-94F5-194F-D7647AE61AB6}"/>
              </a:ext>
            </a:extLst>
          </p:cNvPr>
          <p:cNvSpPr txBox="1"/>
          <p:nvPr/>
        </p:nvSpPr>
        <p:spPr>
          <a:xfrm>
            <a:off x="417576" y="1362176"/>
            <a:ext cx="10966704" cy="4801314"/>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Isilon automatically takes snapshots of the data. However, depending on the folder, the number of snapshots and the retention policies may vary.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Computing’s locations and OneDrive also have retention policies. </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If you have recently deleted (or modified a file), the chances of recovering it are high. The more time passes, the lower the chances of getting it back.</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Permissions apply identically to the snapshots as they did to the original data.</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Snapshots can be accessed from any device.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best way of understanding what is available is to navigate through the snapshots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2"/>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7955065-2386-C264-30FF-1B7346BC4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sign with white text&#10;&#10;AI-generated content may be incorrect.">
            <a:extLst>
              <a:ext uri="{FF2B5EF4-FFF2-40B4-BE49-F238E27FC236}">
                <a16:creationId xmlns:a16="http://schemas.microsoft.com/office/drawing/2014/main" id="{30414D09-2733-F484-53C7-48EC1AD6A9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55786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anim calcmode="lin" valueType="num">
                                      <p:cBhvr additive="base">
                                        <p:cTn id="25"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 calcmode="lin" valueType="num">
                                      <p:cBhvr additive="base">
                                        <p:cTn id="3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anim calcmode="lin" valueType="num">
                                      <p:cBhvr additive="base">
                                        <p:cTn id="3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94BC6E7-809D-9D89-1403-31428CE16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93CF3-3531-84FE-1F6F-DE2693B6E2CA}"/>
              </a:ext>
            </a:extLst>
          </p:cNvPr>
          <p:cNvSpPr>
            <a:spLocks noGrp="1"/>
          </p:cNvSpPr>
          <p:nvPr>
            <p:ph type="ctrTitle"/>
          </p:nvPr>
        </p:nvSpPr>
        <p:spPr>
          <a:xfrm>
            <a:off x="417576" y="338329"/>
            <a:ext cx="6577584"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[Recovering data from Windows]</a:t>
            </a:r>
          </a:p>
        </p:txBody>
      </p:sp>
      <p:cxnSp>
        <p:nvCxnSpPr>
          <p:cNvPr id="5" name="Straight Connector 4">
            <a:extLst>
              <a:ext uri="{FF2B5EF4-FFF2-40B4-BE49-F238E27FC236}">
                <a16:creationId xmlns:a16="http://schemas.microsoft.com/office/drawing/2014/main" id="{A4E0F997-FDEB-BD2B-C6A1-B4417D691035}"/>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DF8406D-01B6-8264-874D-24A405E2F006}"/>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1D03FCF2-CCA0-ED71-0A34-9972574E5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11A89B5-7126-7B3C-2723-9D58AE308AF4}"/>
              </a:ext>
            </a:extLst>
          </p:cNvPr>
          <p:cNvPicPr>
            <a:picLocks noChangeAspect="1"/>
          </p:cNvPicPr>
          <p:nvPr/>
        </p:nvPicPr>
        <p:blipFill>
          <a:blip r:embed="rId4"/>
          <a:stretch>
            <a:fillRect/>
          </a:stretch>
        </p:blipFill>
        <p:spPr>
          <a:xfrm>
            <a:off x="907342" y="1120808"/>
            <a:ext cx="10090574" cy="4941475"/>
          </a:xfrm>
          <a:prstGeom prst="rect">
            <a:avLst/>
          </a:prstGeom>
        </p:spPr>
      </p:pic>
      <p:pic>
        <p:nvPicPr>
          <p:cNvPr id="3" name="Picture 2" descr="A black and white sign with white text&#10;&#10;AI-generated content may be incorrect.">
            <a:extLst>
              <a:ext uri="{FF2B5EF4-FFF2-40B4-BE49-F238E27FC236}">
                <a16:creationId xmlns:a16="http://schemas.microsoft.com/office/drawing/2014/main" id="{B3E80B9C-8F48-E1EF-5FF4-CA7CE1A98A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577075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AD596E-B029-72E0-D557-48D416020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1D5EC-6E55-62A9-6DEB-1037BF5E82B6}"/>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[Recovering Exercise]</a:t>
            </a:r>
          </a:p>
        </p:txBody>
      </p:sp>
      <p:cxnSp>
        <p:nvCxnSpPr>
          <p:cNvPr id="5" name="Straight Connector 4">
            <a:extLst>
              <a:ext uri="{FF2B5EF4-FFF2-40B4-BE49-F238E27FC236}">
                <a16:creationId xmlns:a16="http://schemas.microsoft.com/office/drawing/2014/main" id="{B519CC8D-F5EF-8A4D-381C-890D861C2F59}"/>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9E384E6-C889-FD46-B6C6-1E64A9A71C1F}"/>
              </a:ext>
            </a:extLst>
          </p:cNvPr>
          <p:cNvSpPr txBox="1"/>
          <p:nvPr/>
        </p:nvSpPr>
        <p:spPr>
          <a:xfrm>
            <a:off x="417576" y="1389886"/>
            <a:ext cx="11177016" cy="2031325"/>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Explore the different snapshots using your Windows device.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Compare the snapshot folder with the “current” folder.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Recover some data from any of the snapshots (be careful and do not overwrite anything).</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26CD1F2-95BC-1AE4-CDF9-3DCF4C1AA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477255D3-8C0B-F81B-ABF4-5942D5659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182213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AEC22B8-182C-E7EA-826B-407387A6B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17ED3-8786-F567-2CFA-DC5F713157EC}"/>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[NIB Tools for sharing data]</a:t>
            </a:r>
          </a:p>
        </p:txBody>
      </p:sp>
      <p:cxnSp>
        <p:nvCxnSpPr>
          <p:cNvPr id="5" name="Straight Connector 4">
            <a:extLst>
              <a:ext uri="{FF2B5EF4-FFF2-40B4-BE49-F238E27FC236}">
                <a16:creationId xmlns:a16="http://schemas.microsoft.com/office/drawing/2014/main" id="{EDE55F81-19A3-BCEE-972A-6F67EC4A858C}"/>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766DB37-4851-3053-F54C-3B8A4E4EFECD}"/>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592A384D-4545-E440-1A60-EBE64EF4534F}"/>
              </a:ext>
            </a:extLst>
          </p:cNvPr>
          <p:cNvSpPr txBox="1"/>
          <p:nvPr/>
        </p:nvSpPr>
        <p:spPr>
          <a:xfrm>
            <a:off x="417576" y="1096567"/>
            <a:ext cx="10674096" cy="5909310"/>
          </a:xfrm>
          <a:prstGeom prst="rect">
            <a:avLst/>
          </a:prstGeom>
          <a:noFill/>
        </p:spPr>
        <p:txBody>
          <a:bodyPr wrap="square" rtlCol="0">
            <a:spAutoFit/>
          </a:bodyP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Alongside OneDrive, which is recommended only for sharing small amounts of data, NBI provides two dedicated data transfer services:</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Dropoff: Easy-to-use web-based transfer service for datasets up to 300 GB.</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2"/>
              </a:rPr>
              <a:t>https://dropoff.nbi.ac.uk/</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Globus:  High-performance data transfer platform with no practical data size limit. Ideal for large datasets and automated transfers.</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rPr>
              <a:t>https://www.globus.org/</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Choose the right tool:</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Small files → OneDrive</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Up to 300 GB → Dropoff</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Large datasets or recurring transfers → Globus</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21EF10A2-CEE0-E1AC-C62B-DDFF5F0D98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630AEBA4-0617-E57E-B83F-F3353A8E14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945627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93E9A3-FB95-DFA6-3552-008AABD23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79CD4-E0F9-4451-34B2-F3873D0B4A9C}"/>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[Globus]</a:t>
            </a:r>
          </a:p>
        </p:txBody>
      </p:sp>
      <p:cxnSp>
        <p:nvCxnSpPr>
          <p:cNvPr id="5" name="Straight Connector 4">
            <a:extLst>
              <a:ext uri="{FF2B5EF4-FFF2-40B4-BE49-F238E27FC236}">
                <a16:creationId xmlns:a16="http://schemas.microsoft.com/office/drawing/2014/main" id="{3C053A5F-8DFB-1E9F-ABE7-FE92846E736E}"/>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9EB8F7D-4C96-66A7-E58E-0B9F62A43F52}"/>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4DC2EB97-6B27-0F2D-1849-8E0CC3140316}"/>
              </a:ext>
            </a:extLst>
          </p:cNvPr>
          <p:cNvSpPr txBox="1"/>
          <p:nvPr/>
        </p:nvSpPr>
        <p:spPr>
          <a:xfrm>
            <a:off x="417576" y="1362176"/>
            <a:ext cx="11177016" cy="1538883"/>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Globus now has access to the JIC storage, collection: </a:t>
            </a:r>
            <a:r>
              <a:rPr lang="en-GB" sz="20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JIC HPC Data (NBI).</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User’s shared collection are in </a:t>
            </a:r>
            <a:r>
              <a:rPr lang="en-GB" sz="20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NBI Personal Short-Term Transfer Points.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can create your own guest collections and share with your collaborators. </a:t>
            </a:r>
          </a:p>
        </p:txBody>
      </p:sp>
      <p:pic>
        <p:nvPicPr>
          <p:cNvPr id="4" name="Picture 6" descr="Free floppy disk media vector">
            <a:extLst>
              <a:ext uri="{FF2B5EF4-FFF2-40B4-BE49-F238E27FC236}">
                <a16:creationId xmlns:a16="http://schemas.microsoft.com/office/drawing/2014/main" id="{A37D5385-2392-475F-4C07-7A6287A92D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7463F54-F99C-2E41-FDA3-9267570B78BC}"/>
              </a:ext>
            </a:extLst>
          </p:cNvPr>
          <p:cNvPicPr>
            <a:picLocks noChangeAspect="1"/>
          </p:cNvPicPr>
          <p:nvPr/>
        </p:nvPicPr>
        <p:blipFill>
          <a:blip r:embed="rId3"/>
          <a:stretch>
            <a:fillRect/>
          </a:stretch>
        </p:blipFill>
        <p:spPr>
          <a:xfrm>
            <a:off x="795528" y="3042753"/>
            <a:ext cx="9912096" cy="2762899"/>
          </a:xfrm>
          <a:prstGeom prst="rect">
            <a:avLst/>
          </a:prstGeom>
        </p:spPr>
      </p:pic>
      <p:pic>
        <p:nvPicPr>
          <p:cNvPr id="3" name="Picture 2" descr="A black and white sign with white text&#10;&#10;AI-generated content may be incorrect.">
            <a:extLst>
              <a:ext uri="{FF2B5EF4-FFF2-40B4-BE49-F238E27FC236}">
                <a16:creationId xmlns:a16="http://schemas.microsoft.com/office/drawing/2014/main" id="{F225DD17-BA94-9328-CA80-26D9A68936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08989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257A08-F4A0-B5FB-A214-7573B2998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AFE62-7A8C-84A1-B1D5-F7F3FEB89181}"/>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[Globus – how to share]</a:t>
            </a:r>
          </a:p>
        </p:txBody>
      </p:sp>
      <p:cxnSp>
        <p:nvCxnSpPr>
          <p:cNvPr id="5" name="Straight Connector 4">
            <a:extLst>
              <a:ext uri="{FF2B5EF4-FFF2-40B4-BE49-F238E27FC236}">
                <a16:creationId xmlns:a16="http://schemas.microsoft.com/office/drawing/2014/main" id="{6BC280FD-BD5B-9076-75E8-F181EB54C198}"/>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22331C5-A204-68E5-B932-1640F0C904A7}"/>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F3D46E14-81CA-D914-DC67-9A053C7AD2DC}"/>
              </a:ext>
            </a:extLst>
          </p:cNvPr>
          <p:cNvSpPr txBox="1"/>
          <p:nvPr/>
        </p:nvSpPr>
        <p:spPr>
          <a:xfrm>
            <a:off x="417576" y="1362176"/>
            <a:ext cx="7985760" cy="3416320"/>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 Globus, data is organised and accessed through collections.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cannot share data directly from the HPC storage; it must first be moved to the external endpoint.</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can create a guest collection to share data with your collaborators.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Detailed instructions are available in the Research Computing documentation.</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A8270C9D-5C88-C896-F15C-DC93AF2EE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6CEE2AA-FED0-D2A4-BE78-87E960F99A18}"/>
              </a:ext>
            </a:extLst>
          </p:cNvPr>
          <p:cNvSpPr txBox="1"/>
          <p:nvPr/>
        </p:nvSpPr>
        <p:spPr>
          <a:xfrm>
            <a:off x="417576" y="4778496"/>
            <a:ext cx="11640408" cy="369332"/>
          </a:xfrm>
          <a:prstGeom prst="rect">
            <a:avLst/>
          </a:prstGeom>
          <a:noFill/>
        </p:spPr>
        <p:txBody>
          <a:bodyPr wrap="square" rtlCol="0">
            <a:spAutoFit/>
          </a:bodyPr>
          <a:lstStyle/>
          <a:p>
            <a:pPr marL="283464" indent="-283464" algn="l" rtl="0" eaLnBrk="1" latinLnBrk="0" hangingPunct="1">
              <a:buClrTx/>
              <a:buSzPts val="1800"/>
              <a:buFont typeface="Symbol" panose="05050102010706020507" pitchFamily="18" charset="2"/>
              <a:buChar char="-"/>
            </a:pPr>
            <a:r>
              <a:rPr lang="en-GB" dirty="0">
                <a:hlinkClick r:id="rId3"/>
              </a:rPr>
              <a:t>Globus - Research Computing Support – Confluence</a:t>
            </a:r>
            <a:endParaRPr lang="en-GB" dirty="0"/>
          </a:p>
        </p:txBody>
      </p:sp>
      <p:pic>
        <p:nvPicPr>
          <p:cNvPr id="3" name="Picture 2" descr="A black and white sign with white text&#10;&#10;AI-generated content may be incorrect.">
            <a:extLst>
              <a:ext uri="{FF2B5EF4-FFF2-40B4-BE49-F238E27FC236}">
                <a16:creationId xmlns:a16="http://schemas.microsoft.com/office/drawing/2014/main" id="{9CECD99A-D61C-A30A-2204-8CF5E9B444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4168695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46E18A-AD42-77BF-23A2-008B88229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6F06F-80B0-D61F-A5A9-D276F2F66B1D}"/>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[Git – protect your scripts]</a:t>
            </a:r>
          </a:p>
        </p:txBody>
      </p:sp>
      <p:cxnSp>
        <p:nvCxnSpPr>
          <p:cNvPr id="5" name="Straight Connector 4">
            <a:extLst>
              <a:ext uri="{FF2B5EF4-FFF2-40B4-BE49-F238E27FC236}">
                <a16:creationId xmlns:a16="http://schemas.microsoft.com/office/drawing/2014/main" id="{4C757A96-B02F-4C79-24AB-7BF6C636D9FB}"/>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B472690-ACF5-BC12-0F89-20A3D1BA2EC7}"/>
              </a:ext>
            </a:extLst>
          </p:cNvPr>
          <p:cNvSpPr txBox="1"/>
          <p:nvPr/>
        </p:nvSpPr>
        <p:spPr>
          <a:xfrm>
            <a:off x="417576" y="1051561"/>
            <a:ext cx="4881788" cy="2585323"/>
          </a:xfrm>
          <a:prstGeom prst="rect">
            <a:avLst/>
          </a:prstGeom>
          <a:noFill/>
        </p:spPr>
        <p:txBody>
          <a:bodyPr wrap="square" rtlCol="0">
            <a:spAutoFit/>
          </a:bodyPr>
          <a:lstStyle/>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Keeps a history of changes</a:t>
            </a: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Lets you go back to an older version</a:t>
            </a: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Protects against accidental changes/deletion</a:t>
            </a: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Makes it easier to share and collaborate</a:t>
            </a: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Records who changed what and when</a:t>
            </a:r>
          </a:p>
        </p:txBody>
      </p:sp>
      <p:pic>
        <p:nvPicPr>
          <p:cNvPr id="4" name="Picture 6" descr="Free floppy disk media vector">
            <a:extLst>
              <a:ext uri="{FF2B5EF4-FFF2-40B4-BE49-F238E27FC236}">
                <a16:creationId xmlns:a16="http://schemas.microsoft.com/office/drawing/2014/main" id="{BC10D432-89C5-9ECF-2305-888A5BE27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6F41EBBF-D023-7416-999D-8DB83CEE8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
        <p:nvSpPr>
          <p:cNvPr id="6" name="TextBox 5">
            <a:extLst>
              <a:ext uri="{FF2B5EF4-FFF2-40B4-BE49-F238E27FC236}">
                <a16:creationId xmlns:a16="http://schemas.microsoft.com/office/drawing/2014/main" id="{572E516F-D163-7A6C-5143-67F1F69825F4}"/>
              </a:ext>
            </a:extLst>
          </p:cNvPr>
          <p:cNvSpPr txBox="1"/>
          <p:nvPr/>
        </p:nvSpPr>
        <p:spPr>
          <a:xfrm>
            <a:off x="2169344" y="3972078"/>
            <a:ext cx="2698312" cy="2585323"/>
          </a:xfrm>
          <a:prstGeom prst="rect">
            <a:avLst/>
          </a:prstGeom>
          <a:noFill/>
        </p:spPr>
        <p:txBody>
          <a:bodyPr wrap="square" rtlCol="0">
            <a:spAutoFit/>
          </a:bodyPr>
          <a:lstStyle/>
          <a:p>
            <a:r>
              <a:rPr lang="en-GB" dirty="0">
                <a:solidFill>
                  <a:schemeClr val="bg1"/>
                </a:solidFill>
              </a:rPr>
              <a:t>Edit script</a:t>
            </a:r>
          </a:p>
          <a:p>
            <a:r>
              <a:rPr lang="en-GB" dirty="0">
                <a:solidFill>
                  <a:schemeClr val="bg1"/>
                </a:solidFill>
              </a:rPr>
              <a:t>   ↓</a:t>
            </a:r>
          </a:p>
          <a:p>
            <a:r>
              <a:rPr lang="en-GB" dirty="0">
                <a:solidFill>
                  <a:schemeClr val="bg1"/>
                </a:solidFill>
              </a:rPr>
              <a:t>git add</a:t>
            </a:r>
          </a:p>
          <a:p>
            <a:r>
              <a:rPr lang="en-GB" dirty="0">
                <a:solidFill>
                  <a:schemeClr val="bg1"/>
                </a:solidFill>
              </a:rPr>
              <a:t>   ↓</a:t>
            </a:r>
          </a:p>
          <a:p>
            <a:r>
              <a:rPr lang="en-GB" dirty="0">
                <a:solidFill>
                  <a:schemeClr val="bg1"/>
                </a:solidFill>
              </a:rPr>
              <a:t>git commit</a:t>
            </a:r>
          </a:p>
          <a:p>
            <a:r>
              <a:rPr lang="en-GB" dirty="0">
                <a:solidFill>
                  <a:schemeClr val="bg1"/>
                </a:solidFill>
              </a:rPr>
              <a:t>   ↓</a:t>
            </a:r>
          </a:p>
          <a:p>
            <a:r>
              <a:rPr lang="en-GB" dirty="0">
                <a:solidFill>
                  <a:schemeClr val="bg1"/>
                </a:solidFill>
              </a:rPr>
              <a:t>Git repository</a:t>
            </a:r>
          </a:p>
          <a:p>
            <a:r>
              <a:rPr lang="en-GB" dirty="0">
                <a:solidFill>
                  <a:schemeClr val="bg1"/>
                </a:solidFill>
              </a:rPr>
              <a:t>   ↓</a:t>
            </a:r>
          </a:p>
          <a:p>
            <a:r>
              <a:rPr lang="en-GB" dirty="0">
                <a:solidFill>
                  <a:schemeClr val="bg1"/>
                </a:solidFill>
              </a:rPr>
              <a:t>Safe version history</a:t>
            </a:r>
          </a:p>
        </p:txBody>
      </p:sp>
      <p:sp>
        <p:nvSpPr>
          <p:cNvPr id="7" name="TextBox 6">
            <a:extLst>
              <a:ext uri="{FF2B5EF4-FFF2-40B4-BE49-F238E27FC236}">
                <a16:creationId xmlns:a16="http://schemas.microsoft.com/office/drawing/2014/main" id="{639544BC-1F84-4740-B93B-C509912ACD1A}"/>
              </a:ext>
            </a:extLst>
          </p:cNvPr>
          <p:cNvSpPr txBox="1"/>
          <p:nvPr/>
        </p:nvSpPr>
        <p:spPr>
          <a:xfrm>
            <a:off x="6707230" y="1253978"/>
            <a:ext cx="4881788" cy="5355312"/>
          </a:xfrm>
          <a:prstGeom prst="rect">
            <a:avLst/>
          </a:prstGeom>
          <a:noFill/>
        </p:spPr>
        <p:txBody>
          <a:bodyPr wrap="square" rtlCol="0">
            <a:spAutoFit/>
          </a:bodyPr>
          <a:lstStyle/>
          <a:p>
            <a:r>
              <a:rPr lang="en-GB" dirty="0">
                <a:solidFill>
                  <a:schemeClr val="bg1"/>
                </a:solidFill>
              </a:rPr>
              <a:t># Go to your scripts directory</a:t>
            </a:r>
          </a:p>
          <a:p>
            <a:r>
              <a:rPr lang="en-GB" dirty="0">
                <a:solidFill>
                  <a:schemeClr val="bg1"/>
                </a:solidFill>
              </a:rPr>
              <a:t>cd </a:t>
            </a:r>
            <a:r>
              <a:rPr lang="en-GB" dirty="0" err="1">
                <a:solidFill>
                  <a:schemeClr val="bg1"/>
                </a:solidFill>
              </a:rPr>
              <a:t>my_project</a:t>
            </a:r>
            <a:endParaRPr lang="en-GB" dirty="0">
              <a:solidFill>
                <a:schemeClr val="bg1"/>
              </a:solidFill>
            </a:endParaRPr>
          </a:p>
          <a:p>
            <a:endParaRPr lang="en-GB" dirty="0">
              <a:solidFill>
                <a:schemeClr val="bg1"/>
              </a:solidFill>
            </a:endParaRPr>
          </a:p>
          <a:p>
            <a:r>
              <a:rPr lang="en-GB" dirty="0">
                <a:solidFill>
                  <a:schemeClr val="bg1"/>
                </a:solidFill>
              </a:rPr>
              <a:t># Start Git</a:t>
            </a:r>
          </a:p>
          <a:p>
            <a:r>
              <a:rPr lang="en-GB" dirty="0">
                <a:solidFill>
                  <a:schemeClr val="bg1"/>
                </a:solidFill>
              </a:rPr>
              <a:t>git </a:t>
            </a:r>
            <a:r>
              <a:rPr lang="en-GB" dirty="0" err="1">
                <a:solidFill>
                  <a:schemeClr val="bg1"/>
                </a:solidFill>
              </a:rPr>
              <a:t>init</a:t>
            </a:r>
            <a:endParaRPr lang="en-GB" dirty="0">
              <a:solidFill>
                <a:schemeClr val="bg1"/>
              </a:solidFill>
            </a:endParaRPr>
          </a:p>
          <a:p>
            <a:endParaRPr lang="en-GB" dirty="0">
              <a:solidFill>
                <a:schemeClr val="bg1"/>
              </a:solidFill>
            </a:endParaRPr>
          </a:p>
          <a:p>
            <a:r>
              <a:rPr lang="en-GB" dirty="0">
                <a:solidFill>
                  <a:schemeClr val="bg1"/>
                </a:solidFill>
              </a:rPr>
              <a:t># Add your script</a:t>
            </a:r>
          </a:p>
          <a:p>
            <a:r>
              <a:rPr lang="en-GB" dirty="0">
                <a:solidFill>
                  <a:schemeClr val="bg1"/>
                </a:solidFill>
              </a:rPr>
              <a:t>git add my_script.py</a:t>
            </a:r>
          </a:p>
          <a:p>
            <a:endParaRPr lang="en-GB" dirty="0">
              <a:solidFill>
                <a:schemeClr val="bg1"/>
              </a:solidFill>
            </a:endParaRPr>
          </a:p>
          <a:p>
            <a:r>
              <a:rPr lang="en-GB" dirty="0">
                <a:solidFill>
                  <a:schemeClr val="bg1"/>
                </a:solidFill>
              </a:rPr>
              <a:t># Save a version</a:t>
            </a:r>
          </a:p>
          <a:p>
            <a:r>
              <a:rPr lang="en-GB" dirty="0">
                <a:solidFill>
                  <a:schemeClr val="bg1"/>
                </a:solidFill>
              </a:rPr>
              <a:t>git commit -m "Initial version"</a:t>
            </a:r>
          </a:p>
          <a:p>
            <a:endParaRPr lang="en-GB" dirty="0">
              <a:solidFill>
                <a:schemeClr val="bg1"/>
              </a:solidFill>
            </a:endParaRPr>
          </a:p>
          <a:p>
            <a:r>
              <a:rPr lang="en-GB" dirty="0">
                <a:solidFill>
                  <a:schemeClr val="bg1"/>
                </a:solidFill>
              </a:rPr>
              <a:t># Connect to your remote repository</a:t>
            </a:r>
          </a:p>
          <a:p>
            <a:r>
              <a:rPr lang="en-GB" dirty="0">
                <a:solidFill>
                  <a:schemeClr val="bg1"/>
                </a:solidFill>
              </a:rPr>
              <a:t>git remote add origin https://github.com/USERNAME/my_project.git</a:t>
            </a:r>
          </a:p>
          <a:p>
            <a:endParaRPr lang="en-GB" dirty="0">
              <a:solidFill>
                <a:schemeClr val="bg1"/>
              </a:solidFill>
            </a:endParaRPr>
          </a:p>
          <a:p>
            <a:r>
              <a:rPr lang="en-GB" dirty="0">
                <a:solidFill>
                  <a:schemeClr val="bg1"/>
                </a:solidFill>
              </a:rPr>
              <a:t># Push to the remote repository</a:t>
            </a:r>
          </a:p>
          <a:p>
            <a:r>
              <a:rPr lang="en-GB" dirty="0">
                <a:solidFill>
                  <a:schemeClr val="bg1"/>
                </a:solidFill>
              </a:rPr>
              <a:t>git branch -M main</a:t>
            </a:r>
          </a:p>
          <a:p>
            <a:r>
              <a:rPr lang="en-GB" dirty="0">
                <a:solidFill>
                  <a:schemeClr val="bg1"/>
                </a:solidFill>
              </a:rPr>
              <a:t>git push -u origin main</a:t>
            </a:r>
          </a:p>
        </p:txBody>
      </p:sp>
    </p:spTree>
    <p:extLst>
      <p:ext uri="{BB962C8B-B14F-4D97-AF65-F5344CB8AC3E}">
        <p14:creationId xmlns:p14="http://schemas.microsoft.com/office/powerpoint/2010/main" val="3406130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5DDF5C-2B08-B58B-7364-1B6F2277B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66D01-4A7A-194D-71F0-4D4646092D5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[Working Remotely]</a:t>
            </a:r>
          </a:p>
        </p:txBody>
      </p:sp>
      <p:cxnSp>
        <p:nvCxnSpPr>
          <p:cNvPr id="5" name="Straight Connector 4">
            <a:extLst>
              <a:ext uri="{FF2B5EF4-FFF2-40B4-BE49-F238E27FC236}">
                <a16:creationId xmlns:a16="http://schemas.microsoft.com/office/drawing/2014/main" id="{59BAE3C6-2984-7228-EDFC-DC7C46563B85}"/>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A24E42F-EB16-DD5B-2184-81EBBFFD0693}"/>
              </a:ext>
            </a:extLst>
          </p:cNvPr>
          <p:cNvSpPr txBox="1"/>
          <p:nvPr/>
        </p:nvSpPr>
        <p:spPr>
          <a:xfrm>
            <a:off x="417575" y="1362177"/>
            <a:ext cx="10492879" cy="4247317"/>
          </a:xfrm>
          <a:prstGeom prst="rect">
            <a:avLst/>
          </a:prstGeom>
          <a:noFill/>
        </p:spPr>
        <p:txBody>
          <a:bodyPr wrap="square" rtlCol="0">
            <a:spAutoFit/>
          </a:bodyPr>
          <a:lstStyle/>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Remote Access &amp; VPN</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VPN: Works from NBI and non-NBI devices. </a:t>
            </a:r>
          </a:p>
          <a:p>
            <a:pPr lvl="2"/>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NBI device: Nearly full network access; folders can be mapped. </a:t>
            </a:r>
          </a:p>
          <a:p>
            <a:pPr lvl="2"/>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Non-NBI device: Restricted access; no folder mapping and limited VM/server access. </a:t>
            </a:r>
          </a:p>
          <a:p>
            <a:pPr lvl="2"/>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1200150" lvl="2"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Both: Remote Desktop and winrds.nbi.ac.uk available. </a:t>
            </a:r>
          </a:p>
          <a:p>
            <a:pPr lvl="2"/>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WFH recommendation:</a:t>
            </a:r>
            <a:b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b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If possible, remote into an office computer — better connection to NBI resources and less risk of losing work due to disconnections.</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6C43A6B-2B21-101F-48BA-B875EF12E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8BBFA392-A03C-AC56-4CC2-7D3E3BA64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4059021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BED49F-55E0-C2AC-E076-2C60EADD8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B9D0E-9D16-EBC0-9A80-1798A042EA87}"/>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[Working Remotely]</a:t>
            </a:r>
          </a:p>
        </p:txBody>
      </p:sp>
      <p:cxnSp>
        <p:nvCxnSpPr>
          <p:cNvPr id="5" name="Straight Connector 4">
            <a:extLst>
              <a:ext uri="{FF2B5EF4-FFF2-40B4-BE49-F238E27FC236}">
                <a16:creationId xmlns:a16="http://schemas.microsoft.com/office/drawing/2014/main" id="{CB02AD5B-1310-F8AD-8A2D-82BECBBEE64B}"/>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BDE66B4-A884-6DD0-16C1-C3799362880E}"/>
              </a:ext>
            </a:extLst>
          </p:cNvPr>
          <p:cNvSpPr txBox="1"/>
          <p:nvPr/>
        </p:nvSpPr>
        <p:spPr>
          <a:xfrm>
            <a:off x="344838" y="1362421"/>
            <a:ext cx="10492879" cy="1754326"/>
          </a:xfrm>
          <a:prstGeom prst="rect">
            <a:avLst/>
          </a:prstGeom>
          <a:noFill/>
        </p:spPr>
        <p:txBody>
          <a:bodyPr wrap="square" rtlCol="0">
            <a:spAutoFit/>
          </a:bodyP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winrds.nbi.ac.uk</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Provides Remote Desktop through a temporary Windows VM. </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Access to most NBI resources. </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Volatile: the VM is temporary; don't store data or work locally. </a:t>
            </a:r>
          </a:p>
          <a:p>
            <a:pPr marL="742950" lvl="1" indent="-285750">
              <a:buFont typeface="Arial" panose="020B0604020202020204" pitchFamily="34" charset="0"/>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Ideal if you don't have an office PC to remote into.</a:t>
            </a:r>
          </a:p>
        </p:txBody>
      </p:sp>
      <p:pic>
        <p:nvPicPr>
          <p:cNvPr id="4" name="Picture 6" descr="Free floppy disk media vector">
            <a:extLst>
              <a:ext uri="{FF2B5EF4-FFF2-40B4-BE49-F238E27FC236}">
                <a16:creationId xmlns:a16="http://schemas.microsoft.com/office/drawing/2014/main" id="{4404A4A9-05CC-77F4-3CD1-A0C8C810A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13D08729-5D14-CA02-BD11-3BEB660D8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7" name="Picture 6">
            <a:extLst>
              <a:ext uri="{FF2B5EF4-FFF2-40B4-BE49-F238E27FC236}">
                <a16:creationId xmlns:a16="http://schemas.microsoft.com/office/drawing/2014/main" id="{11558C99-8D5D-1415-B94E-544A2C9EE26E}"/>
              </a:ext>
            </a:extLst>
          </p:cNvPr>
          <p:cNvPicPr>
            <a:picLocks noChangeAspect="1"/>
          </p:cNvPicPr>
          <p:nvPr/>
        </p:nvPicPr>
        <p:blipFill>
          <a:blip r:embed="rId4"/>
          <a:stretch>
            <a:fillRect/>
          </a:stretch>
        </p:blipFill>
        <p:spPr>
          <a:xfrm>
            <a:off x="2618509" y="3302325"/>
            <a:ext cx="6465388" cy="3410874"/>
          </a:xfrm>
          <a:prstGeom prst="rect">
            <a:avLst/>
          </a:prstGeom>
        </p:spPr>
      </p:pic>
    </p:spTree>
    <p:extLst>
      <p:ext uri="{BB962C8B-B14F-4D97-AF65-F5344CB8AC3E}">
        <p14:creationId xmlns:p14="http://schemas.microsoft.com/office/powerpoint/2010/main" val="3476937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8BD86F-D416-C336-E425-4CE724341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7D7DD-02D5-00C3-C7BB-D911F162E3E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[Sharing Exercise]</a:t>
            </a:r>
          </a:p>
        </p:txBody>
      </p:sp>
      <p:cxnSp>
        <p:nvCxnSpPr>
          <p:cNvPr id="5" name="Straight Connector 4">
            <a:extLst>
              <a:ext uri="{FF2B5EF4-FFF2-40B4-BE49-F238E27FC236}">
                <a16:creationId xmlns:a16="http://schemas.microsoft.com/office/drawing/2014/main" id="{C09B3924-5F76-7B81-DF9D-77CA40B11B5E}"/>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562D7B1-3ED9-E1B4-DCF5-3E8B582B7CA0}"/>
              </a:ext>
            </a:extLst>
          </p:cNvPr>
          <p:cNvSpPr txBox="1"/>
          <p:nvPr/>
        </p:nvSpPr>
        <p:spPr>
          <a:xfrm>
            <a:off x="417576" y="1389886"/>
            <a:ext cx="11177016" cy="2585323"/>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Upload some data into Dropoff and share it with your personal email account. Download the data using your personal email to oversee the full process.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Create a file with your username in your U drive, uploaded into a new folder in Globus and share it with me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rPr>
              <a:t>luk24miz@nbi.ac.uk</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Explore your access. Create a folder in your external NBI short-term endpoint and transfer some data from your institute’s HPC endpoint</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7B047655-38A8-67C1-A130-37C87327DC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4339875B-66A7-8058-0309-DB9A98C93E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270865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0B8BFCD-011F-18CF-B5F0-CBE8A1ECB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69910-9DA8-D383-4D4B-055EF1617011}"/>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[New Data Centre]</a:t>
            </a:r>
          </a:p>
        </p:txBody>
      </p:sp>
      <p:cxnSp>
        <p:nvCxnSpPr>
          <p:cNvPr id="5" name="Straight Connector 4">
            <a:extLst>
              <a:ext uri="{FF2B5EF4-FFF2-40B4-BE49-F238E27FC236}">
                <a16:creationId xmlns:a16="http://schemas.microsoft.com/office/drawing/2014/main" id="{C10ABCE1-67F4-39BB-3655-0B104C1CBB3D}"/>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5BE8D31-D751-8103-BE45-C35CAB74B6DD}"/>
              </a:ext>
            </a:extLst>
          </p:cNvPr>
          <p:cNvSpPr txBox="1"/>
          <p:nvPr/>
        </p:nvSpPr>
        <p:spPr>
          <a:xfrm>
            <a:off x="493823" y="1177756"/>
            <a:ext cx="11177016" cy="4801314"/>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NGI new data centre coming next year.</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This is a great opportunity to:</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Reduce the footprint of our data storage.</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Archive, organise, and properly annotate current datasets.</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Review, standardise, and improve existing metadata.</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Adopt and apply best practices for data generation, management, and storage.</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Improve long-term data accessibility, reproducibility, and sustainability.</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Prepare workflows and datasets for future scalability and collaboration.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And apply best practices going forward. </a:t>
            </a:r>
          </a:p>
        </p:txBody>
      </p:sp>
      <p:pic>
        <p:nvPicPr>
          <p:cNvPr id="4" name="Picture 6" descr="Free floppy disk media vector">
            <a:extLst>
              <a:ext uri="{FF2B5EF4-FFF2-40B4-BE49-F238E27FC236}">
                <a16:creationId xmlns:a16="http://schemas.microsoft.com/office/drawing/2014/main" id="{A547C955-9CF4-D505-E1FF-746821319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99E51C61-EA14-4B8E-A715-D7319982F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6277536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645353-E93E-DF59-6417-3F58B9079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C5455-F1CC-C00D-88E5-D17F4015847E}"/>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[Ideal Data Pipeline]</a:t>
            </a:r>
          </a:p>
        </p:txBody>
      </p:sp>
      <p:cxnSp>
        <p:nvCxnSpPr>
          <p:cNvPr id="5" name="Straight Connector 4">
            <a:extLst>
              <a:ext uri="{FF2B5EF4-FFF2-40B4-BE49-F238E27FC236}">
                <a16:creationId xmlns:a16="http://schemas.microsoft.com/office/drawing/2014/main" id="{940C93F7-D255-60EB-C76F-DA229620FA14}"/>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B029890-6B35-0EE1-E9C9-3E7DE56E3D5E}"/>
              </a:ext>
            </a:extLst>
          </p:cNvPr>
          <p:cNvSpPr txBox="1"/>
          <p:nvPr/>
        </p:nvSpPr>
        <p:spPr>
          <a:xfrm>
            <a:off x="417576" y="918925"/>
            <a:ext cx="11527991" cy="646331"/>
          </a:xfrm>
          <a:prstGeom prst="rect">
            <a:avLst/>
          </a:prstGeom>
          <a:noFill/>
        </p:spPr>
        <p:txBody>
          <a:bodyPr wrap="square" rtlCol="0">
            <a:spAutoFit/>
          </a:bodyPr>
          <a:lstStyle/>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6A309BAA-AFA5-6438-EE66-D8858ABD6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14E9F4AD-6F87-63DA-D30E-5921B84F253C}"/>
              </a:ext>
            </a:extLst>
          </p:cNvPr>
          <p:cNvGrpSpPr/>
          <p:nvPr/>
        </p:nvGrpSpPr>
        <p:grpSpPr>
          <a:xfrm>
            <a:off x="220160" y="1947478"/>
            <a:ext cx="2187185" cy="3188088"/>
            <a:chOff x="345904" y="1884655"/>
            <a:chExt cx="2187185" cy="3188088"/>
          </a:xfrm>
        </p:grpSpPr>
        <p:pic>
          <p:nvPicPr>
            <p:cNvPr id="1042" name="Picture 18" descr="Raw-Data Icons - Free SVG &amp; PNG Raw ...">
              <a:extLst>
                <a:ext uri="{FF2B5EF4-FFF2-40B4-BE49-F238E27FC236}">
                  <a16:creationId xmlns:a16="http://schemas.microsoft.com/office/drawing/2014/main" id="{5F7298F4-29A7-A301-B05A-8352E5D4B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996" y="188465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6E88C3BA-7437-3F5C-8782-40EC8D9B0C2E}"/>
                </a:ext>
              </a:extLst>
            </p:cNvPr>
            <p:cNvSpPr/>
            <p:nvPr/>
          </p:nvSpPr>
          <p:spPr>
            <a:xfrm>
              <a:off x="366906" y="3850417"/>
              <a:ext cx="2145181"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RAW DATA</a:t>
              </a:r>
            </a:p>
          </p:txBody>
        </p:sp>
        <p:sp>
          <p:nvSpPr>
            <p:cNvPr id="15" name="Rectangle: Rounded Corners 14">
              <a:extLst>
                <a:ext uri="{FF2B5EF4-FFF2-40B4-BE49-F238E27FC236}">
                  <a16:creationId xmlns:a16="http://schemas.microsoft.com/office/drawing/2014/main" id="{C33C678A-D6B1-596D-80EC-E990C088AF3B}"/>
                </a:ext>
              </a:extLst>
            </p:cNvPr>
            <p:cNvSpPr/>
            <p:nvPr/>
          </p:nvSpPr>
          <p:spPr>
            <a:xfrm>
              <a:off x="366906" y="4757760"/>
              <a:ext cx="2145181"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ISILON ARCHIVE</a:t>
              </a:r>
            </a:p>
          </p:txBody>
        </p:sp>
        <p:pic>
          <p:nvPicPr>
            <p:cNvPr id="6" name="Picture 5">
              <a:extLst>
                <a:ext uri="{FF2B5EF4-FFF2-40B4-BE49-F238E27FC236}">
                  <a16:creationId xmlns:a16="http://schemas.microsoft.com/office/drawing/2014/main" id="{E3A22740-9FA4-54E7-9ADF-020F6EEEE51C}"/>
                </a:ext>
              </a:extLst>
            </p:cNvPr>
            <p:cNvPicPr>
              <a:picLocks noChangeAspect="1"/>
            </p:cNvPicPr>
            <p:nvPr/>
          </p:nvPicPr>
          <p:blipFill>
            <a:blip r:embed="rId5">
              <a:extLst>
                <a:ext uri="{28A0092B-C50C-407E-A947-70E740481C1C}">
                  <a14:useLocalDpi xmlns:a14="http://schemas.microsoft.com/office/drawing/2010/main" val="0"/>
                </a:ext>
              </a:extLst>
            </a:blip>
            <a:srcRect t="14483" b="25604"/>
            <a:stretch>
              <a:fillRect/>
            </a:stretch>
          </p:blipFill>
          <p:spPr>
            <a:xfrm>
              <a:off x="345904" y="4226162"/>
              <a:ext cx="2187185" cy="470836"/>
            </a:xfrm>
            <a:prstGeom prst="rect">
              <a:avLst/>
            </a:prstGeom>
          </p:spPr>
        </p:pic>
      </p:grpSp>
      <p:grpSp>
        <p:nvGrpSpPr>
          <p:cNvPr id="42" name="Group 41">
            <a:extLst>
              <a:ext uri="{FF2B5EF4-FFF2-40B4-BE49-F238E27FC236}">
                <a16:creationId xmlns:a16="http://schemas.microsoft.com/office/drawing/2014/main" id="{E491F55B-3373-A8AA-8151-F29863D7FDEB}"/>
              </a:ext>
            </a:extLst>
          </p:cNvPr>
          <p:cNvGrpSpPr/>
          <p:nvPr/>
        </p:nvGrpSpPr>
        <p:grpSpPr>
          <a:xfrm>
            <a:off x="8577298" y="4504546"/>
            <a:ext cx="3573351" cy="2220992"/>
            <a:chOff x="8577298" y="4504546"/>
            <a:chExt cx="3573351" cy="2220992"/>
          </a:xfrm>
        </p:grpSpPr>
        <p:pic>
          <p:nvPicPr>
            <p:cNvPr id="1036" name="Picture 12" descr="Observations vs. Results | Elemental Blogging">
              <a:extLst>
                <a:ext uri="{FF2B5EF4-FFF2-40B4-BE49-F238E27FC236}">
                  <a16:creationId xmlns:a16="http://schemas.microsoft.com/office/drawing/2014/main" id="{55B6067D-DCF1-FE6B-39CA-408E949F1B37}"/>
                </a:ext>
              </a:extLst>
            </p:cNvPr>
            <p:cNvPicPr>
              <a:picLocks noChangeAspect="1" noChangeArrowheads="1"/>
            </p:cNvPicPr>
            <p:nvPr/>
          </p:nvPicPr>
          <p:blipFill>
            <a:blip r:embed="rId6">
              <a:clrChange>
                <a:clrFrom>
                  <a:srgbClr val="22BB7C"/>
                </a:clrFrom>
                <a:clrTo>
                  <a:srgbClr val="22BB7C">
                    <a:alpha val="0"/>
                  </a:srgbClr>
                </a:clrTo>
              </a:clrChange>
              <a:extLst>
                <a:ext uri="{28A0092B-C50C-407E-A947-70E740481C1C}">
                  <a14:useLocalDpi xmlns:a14="http://schemas.microsoft.com/office/drawing/2010/main" val="0"/>
                </a:ext>
              </a:extLst>
            </a:blip>
            <a:srcRect/>
            <a:stretch>
              <a:fillRect/>
            </a:stretch>
          </p:blipFill>
          <p:spPr bwMode="auto">
            <a:xfrm>
              <a:off x="8637509" y="5133504"/>
              <a:ext cx="1711134" cy="106086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ow to read a scientific paper [3 steps - 2025] - Paperpile">
              <a:extLst>
                <a:ext uri="{FF2B5EF4-FFF2-40B4-BE49-F238E27FC236}">
                  <a16:creationId xmlns:a16="http://schemas.microsoft.com/office/drawing/2014/main" id="{6A60C321-3D55-ECA8-53BE-C2D232569E09}"/>
                </a:ext>
              </a:extLst>
            </p:cNvPr>
            <p:cNvPicPr>
              <a:picLocks noChangeAspect="1" noChangeArrowheads="1"/>
            </p:cNvPicPr>
            <p:nvPr/>
          </p:nvPicPr>
          <p:blipFill>
            <a:blip r:embed="rId7">
              <a:clrChange>
                <a:clrFrom>
                  <a:srgbClr val="22BB7C"/>
                </a:clrFrom>
                <a:clrTo>
                  <a:srgbClr val="22BB7C">
                    <a:alpha val="0"/>
                  </a:srgbClr>
                </a:clrTo>
              </a:clrChange>
              <a:extLst>
                <a:ext uri="{28A0092B-C50C-407E-A947-70E740481C1C}">
                  <a14:useLocalDpi xmlns:a14="http://schemas.microsoft.com/office/drawing/2010/main" val="0"/>
                </a:ext>
              </a:extLst>
            </a:blip>
            <a:srcRect/>
            <a:stretch>
              <a:fillRect/>
            </a:stretch>
          </p:blipFill>
          <p:spPr bwMode="auto">
            <a:xfrm>
              <a:off x="10308796" y="4709834"/>
              <a:ext cx="1841853" cy="18418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317CC88C-29E6-D2CC-8542-2B68BB406C45}"/>
                </a:ext>
              </a:extLst>
            </p:cNvPr>
            <p:cNvSpPr/>
            <p:nvPr/>
          </p:nvSpPr>
          <p:spPr>
            <a:xfrm>
              <a:off x="8775490" y="6410555"/>
              <a:ext cx="2936527"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ONLINE REPOSITORY</a:t>
              </a:r>
            </a:p>
          </p:txBody>
        </p:sp>
        <p:sp>
          <p:nvSpPr>
            <p:cNvPr id="14" name="Rectangle: Rounded Corners 13">
              <a:extLst>
                <a:ext uri="{FF2B5EF4-FFF2-40B4-BE49-F238E27FC236}">
                  <a16:creationId xmlns:a16="http://schemas.microsoft.com/office/drawing/2014/main" id="{41F55C27-0CAD-6A4E-D89A-74E4E94DA142}"/>
                </a:ext>
              </a:extLst>
            </p:cNvPr>
            <p:cNvSpPr/>
            <p:nvPr/>
          </p:nvSpPr>
          <p:spPr>
            <a:xfrm>
              <a:off x="8577298" y="4504546"/>
              <a:ext cx="3332910"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PUBLICATION</a:t>
              </a:r>
            </a:p>
          </p:txBody>
        </p:sp>
      </p:grpSp>
      <p:grpSp>
        <p:nvGrpSpPr>
          <p:cNvPr id="41" name="Group 40">
            <a:extLst>
              <a:ext uri="{FF2B5EF4-FFF2-40B4-BE49-F238E27FC236}">
                <a16:creationId xmlns:a16="http://schemas.microsoft.com/office/drawing/2014/main" id="{4330F8FF-15D5-5560-DE17-6536D335D550}"/>
              </a:ext>
            </a:extLst>
          </p:cNvPr>
          <p:cNvGrpSpPr/>
          <p:nvPr/>
        </p:nvGrpSpPr>
        <p:grpSpPr>
          <a:xfrm>
            <a:off x="8983536" y="1114341"/>
            <a:ext cx="2347193" cy="3399957"/>
            <a:chOff x="8983536" y="1114341"/>
            <a:chExt cx="2347193" cy="3399957"/>
          </a:xfrm>
        </p:grpSpPr>
        <p:sp>
          <p:nvSpPr>
            <p:cNvPr id="13" name="Rectangle: Rounded Corners 12">
              <a:extLst>
                <a:ext uri="{FF2B5EF4-FFF2-40B4-BE49-F238E27FC236}">
                  <a16:creationId xmlns:a16="http://schemas.microsoft.com/office/drawing/2014/main" id="{5FFBBF16-D53A-7227-AE3B-AF7B27998673}"/>
                </a:ext>
              </a:extLst>
            </p:cNvPr>
            <p:cNvSpPr/>
            <p:nvPr/>
          </p:nvSpPr>
          <p:spPr>
            <a:xfrm>
              <a:off x="8983536" y="1114341"/>
              <a:ext cx="2347193"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pic>
          <p:nvPicPr>
            <p:cNvPr id="1050" name="Picture 26" descr="Collect Data Icon Images – Browse 15,788 Stock Photos, Vectors, and Video |  Adobe Stock">
              <a:extLst>
                <a:ext uri="{FF2B5EF4-FFF2-40B4-BE49-F238E27FC236}">
                  <a16:creationId xmlns:a16="http://schemas.microsoft.com/office/drawing/2014/main" id="{CBD1A6BE-39B3-E6C1-9BB4-F138E680D89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8142" t="13719" r="8526" b="13318"/>
            <a:stretch>
              <a:fillRect/>
            </a:stretch>
          </p:blipFill>
          <p:spPr bwMode="auto">
            <a:xfrm>
              <a:off x="9173278" y="1509450"/>
              <a:ext cx="1967709" cy="19050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D62FFF5-BA9E-3DB8-A9A6-5380873A1A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3540" y="3728426"/>
              <a:ext cx="2187185" cy="785872"/>
            </a:xfrm>
            <a:prstGeom prst="rect">
              <a:avLst/>
            </a:prstGeom>
          </p:spPr>
        </p:pic>
        <p:sp>
          <p:nvSpPr>
            <p:cNvPr id="16" name="Rectangle: Rounded Corners 15">
              <a:extLst>
                <a:ext uri="{FF2B5EF4-FFF2-40B4-BE49-F238E27FC236}">
                  <a16:creationId xmlns:a16="http://schemas.microsoft.com/office/drawing/2014/main" id="{3C0DC670-1F85-05DB-C412-DCD45016423A}"/>
                </a:ext>
              </a:extLst>
            </p:cNvPr>
            <p:cNvSpPr/>
            <p:nvPr/>
          </p:nvSpPr>
          <p:spPr>
            <a:xfrm>
              <a:off x="9084542" y="3402530"/>
              <a:ext cx="2145181"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ISILON ARCHIVE</a:t>
              </a:r>
            </a:p>
          </p:txBody>
        </p:sp>
      </p:grpSp>
      <p:sp>
        <p:nvSpPr>
          <p:cNvPr id="18" name="Arrow: Right 17">
            <a:extLst>
              <a:ext uri="{FF2B5EF4-FFF2-40B4-BE49-F238E27FC236}">
                <a16:creationId xmlns:a16="http://schemas.microsoft.com/office/drawing/2014/main" id="{32691403-1E5D-EBD0-7DF8-89BFAC28C6A0}"/>
              </a:ext>
            </a:extLst>
          </p:cNvPr>
          <p:cNvSpPr/>
          <p:nvPr/>
        </p:nvSpPr>
        <p:spPr>
          <a:xfrm>
            <a:off x="241162" y="5176508"/>
            <a:ext cx="236828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oup 38">
            <a:extLst>
              <a:ext uri="{FF2B5EF4-FFF2-40B4-BE49-F238E27FC236}">
                <a16:creationId xmlns:a16="http://schemas.microsoft.com/office/drawing/2014/main" id="{DCFA5033-BA8F-29C1-A881-2E3671D8EE0C}"/>
              </a:ext>
            </a:extLst>
          </p:cNvPr>
          <p:cNvGrpSpPr/>
          <p:nvPr/>
        </p:nvGrpSpPr>
        <p:grpSpPr>
          <a:xfrm>
            <a:off x="3579585" y="1066802"/>
            <a:ext cx="4080390" cy="1540200"/>
            <a:chOff x="3584432" y="1273631"/>
            <a:chExt cx="4080390" cy="1540200"/>
          </a:xfrm>
        </p:grpSpPr>
        <p:pic>
          <p:nvPicPr>
            <p:cNvPr id="1032" name="Picture 8" descr="LibGuides at Hong Kong University of ...">
              <a:extLst>
                <a:ext uri="{FF2B5EF4-FFF2-40B4-BE49-F238E27FC236}">
                  <a16:creationId xmlns:a16="http://schemas.microsoft.com/office/drawing/2014/main" id="{3F6611D3-2EF0-C993-6349-A99E9E26E6D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8139" y="1886626"/>
              <a:ext cx="3109245" cy="87058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eveloping Standard Operating Practices or SOPs">
              <a:extLst>
                <a:ext uri="{FF2B5EF4-FFF2-40B4-BE49-F238E27FC236}">
                  <a16:creationId xmlns:a16="http://schemas.microsoft.com/office/drawing/2014/main" id="{6FCD8C5C-0996-415D-06E2-ABB9E9A9825D}"/>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6380" t="3723" r="54764" b="24605"/>
            <a:stretch>
              <a:fillRect/>
            </a:stretch>
          </p:blipFill>
          <p:spPr bwMode="auto">
            <a:xfrm>
              <a:off x="3706514" y="1779456"/>
              <a:ext cx="699829" cy="977758"/>
            </a:xfrm>
            <a:prstGeom prst="roundRect">
              <a:avLst>
                <a:gd name="adj" fmla="val 4857"/>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73E96F94-AAD8-3428-4987-DF1B2EB2AC23}"/>
                </a:ext>
              </a:extLst>
            </p:cNvPr>
            <p:cNvSpPr/>
            <p:nvPr/>
          </p:nvSpPr>
          <p:spPr>
            <a:xfrm>
              <a:off x="3791130" y="1428544"/>
              <a:ext cx="3556955"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SOP AND PROCEDURES</a:t>
              </a:r>
            </a:p>
          </p:txBody>
        </p:sp>
        <p:sp>
          <p:nvSpPr>
            <p:cNvPr id="20" name="Rectangle: Rounded Corners 19">
              <a:extLst>
                <a:ext uri="{FF2B5EF4-FFF2-40B4-BE49-F238E27FC236}">
                  <a16:creationId xmlns:a16="http://schemas.microsoft.com/office/drawing/2014/main" id="{FEBBA4FC-8EA9-17CB-A4F3-C84C7764C18A}"/>
                </a:ext>
              </a:extLst>
            </p:cNvPr>
            <p:cNvSpPr/>
            <p:nvPr/>
          </p:nvSpPr>
          <p:spPr>
            <a:xfrm>
              <a:off x="3584432" y="1273631"/>
              <a:ext cx="4080390" cy="15402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1" name="Arrow: Right 20">
            <a:extLst>
              <a:ext uri="{FF2B5EF4-FFF2-40B4-BE49-F238E27FC236}">
                <a16:creationId xmlns:a16="http://schemas.microsoft.com/office/drawing/2014/main" id="{DCDE23AB-87E3-F550-FF34-4B48540BCC1F}"/>
              </a:ext>
            </a:extLst>
          </p:cNvPr>
          <p:cNvSpPr/>
          <p:nvPr/>
        </p:nvSpPr>
        <p:spPr>
          <a:xfrm>
            <a:off x="8022209" y="1668122"/>
            <a:ext cx="112142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94C49F0B-966A-4EC4-0D23-B5962C523815}"/>
              </a:ext>
            </a:extLst>
          </p:cNvPr>
          <p:cNvSpPr/>
          <p:nvPr/>
        </p:nvSpPr>
        <p:spPr>
          <a:xfrm rot="5400000">
            <a:off x="7940510" y="3442206"/>
            <a:ext cx="112142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oup 44">
            <a:extLst>
              <a:ext uri="{FF2B5EF4-FFF2-40B4-BE49-F238E27FC236}">
                <a16:creationId xmlns:a16="http://schemas.microsoft.com/office/drawing/2014/main" id="{283DEC43-0BAB-A929-6B83-F49F6D782CCF}"/>
              </a:ext>
            </a:extLst>
          </p:cNvPr>
          <p:cNvGrpSpPr/>
          <p:nvPr/>
        </p:nvGrpSpPr>
        <p:grpSpPr>
          <a:xfrm>
            <a:off x="3578989" y="4916575"/>
            <a:ext cx="4081583" cy="1849827"/>
            <a:chOff x="3578989" y="4916575"/>
            <a:chExt cx="4081583" cy="1849827"/>
          </a:xfrm>
        </p:grpSpPr>
        <p:pic>
          <p:nvPicPr>
            <p:cNvPr id="1026" name="Picture 2" descr="How to Run a Python Script: A Beginners ...">
              <a:extLst>
                <a:ext uri="{FF2B5EF4-FFF2-40B4-BE49-F238E27FC236}">
                  <a16:creationId xmlns:a16="http://schemas.microsoft.com/office/drawing/2014/main" id="{0818ADA7-3D89-8F9C-E807-73D6753A5C56}"/>
                </a:ext>
              </a:extLst>
            </p:cNvPr>
            <p:cNvPicPr>
              <a:picLocks noChangeAspect="1" noChangeArrowheads="1"/>
            </p:cNvPicPr>
            <p:nvPr/>
          </p:nvPicPr>
          <p:blipFill>
            <a:blip r:embed="rId11">
              <a:clrChange>
                <a:clrFrom>
                  <a:srgbClr val="09486E"/>
                </a:clrFrom>
                <a:clrTo>
                  <a:srgbClr val="09486E">
                    <a:alpha val="0"/>
                  </a:srgbClr>
                </a:clrTo>
              </a:clrChange>
              <a:extLst>
                <a:ext uri="{28A0092B-C50C-407E-A947-70E740481C1C}">
                  <a14:useLocalDpi xmlns:a14="http://schemas.microsoft.com/office/drawing/2010/main" val="0"/>
                </a:ext>
              </a:extLst>
            </a:blip>
            <a:srcRect/>
            <a:stretch>
              <a:fillRect/>
            </a:stretch>
          </p:blipFill>
          <p:spPr bwMode="auto">
            <a:xfrm>
              <a:off x="3756062" y="4989876"/>
              <a:ext cx="1942093" cy="10875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Logo, symbol, meaning, history, PNG, brand">
              <a:extLst>
                <a:ext uri="{FF2B5EF4-FFF2-40B4-BE49-F238E27FC236}">
                  <a16:creationId xmlns:a16="http://schemas.microsoft.com/office/drawing/2014/main" id="{BFC8C0B9-C2C0-2DBF-9ED1-F685F48E472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00644" y="4969039"/>
              <a:ext cx="1715198" cy="103190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0">
              <a:extLst>
                <a:ext uri="{FF2B5EF4-FFF2-40B4-BE49-F238E27FC236}">
                  <a16:creationId xmlns:a16="http://schemas.microsoft.com/office/drawing/2014/main" id="{47AFEF09-AF61-5BAA-E954-616ED8F99A32}"/>
                </a:ext>
              </a:extLst>
            </p:cNvPr>
            <p:cNvSpPr/>
            <p:nvPr/>
          </p:nvSpPr>
          <p:spPr>
            <a:xfrm>
              <a:off x="3949874" y="6036876"/>
              <a:ext cx="3332910"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SCRIPTS AND WORKFLOWS</a:t>
              </a:r>
            </a:p>
          </p:txBody>
        </p:sp>
        <p:sp>
          <p:nvSpPr>
            <p:cNvPr id="19" name="Rectangle: Rounded Corners 18">
              <a:extLst>
                <a:ext uri="{FF2B5EF4-FFF2-40B4-BE49-F238E27FC236}">
                  <a16:creationId xmlns:a16="http://schemas.microsoft.com/office/drawing/2014/main" id="{C637EB69-F2C8-D8CD-9D80-0157E33711AF}"/>
                </a:ext>
              </a:extLst>
            </p:cNvPr>
            <p:cNvSpPr/>
            <p:nvPr/>
          </p:nvSpPr>
          <p:spPr>
            <a:xfrm>
              <a:off x="3578989" y="4916575"/>
              <a:ext cx="4081583" cy="184982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C8376FDA-6CA3-3E65-AC53-4AB6FB8E91F1}"/>
                </a:ext>
              </a:extLst>
            </p:cNvPr>
            <p:cNvSpPr/>
            <p:nvPr/>
          </p:nvSpPr>
          <p:spPr>
            <a:xfrm>
              <a:off x="3949875" y="6398216"/>
              <a:ext cx="3332909"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HPC HOME DIRECTORY</a:t>
              </a:r>
            </a:p>
          </p:txBody>
        </p:sp>
      </p:grpSp>
      <p:sp>
        <p:nvSpPr>
          <p:cNvPr id="31" name="Arrow: Right 30">
            <a:extLst>
              <a:ext uri="{FF2B5EF4-FFF2-40B4-BE49-F238E27FC236}">
                <a16:creationId xmlns:a16="http://schemas.microsoft.com/office/drawing/2014/main" id="{9F71C969-36F6-0E60-88F3-59C3EAE7148A}"/>
              </a:ext>
            </a:extLst>
          </p:cNvPr>
          <p:cNvSpPr/>
          <p:nvPr/>
        </p:nvSpPr>
        <p:spPr>
          <a:xfrm>
            <a:off x="255353" y="1028841"/>
            <a:ext cx="236828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ABD707FA-F515-0A6D-114C-57C5DE5FE30A}"/>
              </a:ext>
            </a:extLst>
          </p:cNvPr>
          <p:cNvGrpSpPr/>
          <p:nvPr/>
        </p:nvGrpSpPr>
        <p:grpSpPr>
          <a:xfrm>
            <a:off x="3437550" y="2767877"/>
            <a:ext cx="4254419" cy="1996022"/>
            <a:chOff x="3437550" y="2767877"/>
            <a:chExt cx="4254419" cy="1996022"/>
          </a:xfrm>
        </p:grpSpPr>
        <p:grpSp>
          <p:nvGrpSpPr>
            <p:cNvPr id="37" name="Group 36">
              <a:extLst>
                <a:ext uri="{FF2B5EF4-FFF2-40B4-BE49-F238E27FC236}">
                  <a16:creationId xmlns:a16="http://schemas.microsoft.com/office/drawing/2014/main" id="{29D05198-99A6-7A13-A1E0-FC69C8632ED4}"/>
                </a:ext>
              </a:extLst>
            </p:cNvPr>
            <p:cNvGrpSpPr/>
            <p:nvPr/>
          </p:nvGrpSpPr>
          <p:grpSpPr>
            <a:xfrm>
              <a:off x="3437550" y="2767877"/>
              <a:ext cx="4254419" cy="1588547"/>
              <a:chOff x="3378106" y="2908899"/>
              <a:chExt cx="4254419" cy="1588547"/>
            </a:xfrm>
          </p:grpSpPr>
          <p:pic>
            <p:nvPicPr>
              <p:cNvPr id="1034" name="Picture 10" descr="Document Icon Vector Paper Icon File Stock Vector (Royalty Free) 2677683867 | Shutterstock">
                <a:extLst>
                  <a:ext uri="{FF2B5EF4-FFF2-40B4-BE49-F238E27FC236}">
                    <a16:creationId xmlns:a16="http://schemas.microsoft.com/office/drawing/2014/main" id="{CB0744E8-99E7-18BA-BFAE-5A5A0D2A5424}"/>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15040" b="23328"/>
              <a:stretch>
                <a:fillRect/>
              </a:stretch>
            </p:blipFill>
            <p:spPr bwMode="auto">
              <a:xfrm>
                <a:off x="3378106" y="2908899"/>
                <a:ext cx="4254419" cy="113347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D5D3C7C6-14A9-EAC3-B9DB-D6AE7200C0F4}"/>
                  </a:ext>
                </a:extLst>
              </p:cNvPr>
              <p:cNvSpPr/>
              <p:nvPr/>
            </p:nvSpPr>
            <p:spPr>
              <a:xfrm>
                <a:off x="3868544" y="4182463"/>
                <a:ext cx="3332910"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HEAVY INTERMEDIATE FILES </a:t>
                </a:r>
              </a:p>
            </p:txBody>
          </p:sp>
        </p:grpSp>
        <p:sp>
          <p:nvSpPr>
            <p:cNvPr id="38" name="Rectangle: Rounded Corners 37">
              <a:extLst>
                <a:ext uri="{FF2B5EF4-FFF2-40B4-BE49-F238E27FC236}">
                  <a16:creationId xmlns:a16="http://schemas.microsoft.com/office/drawing/2014/main" id="{1858F5AA-3254-13C9-D6E5-BAE58856F251}"/>
                </a:ext>
              </a:extLst>
            </p:cNvPr>
            <p:cNvSpPr/>
            <p:nvPr/>
          </p:nvSpPr>
          <p:spPr>
            <a:xfrm>
              <a:off x="4492168" y="4448916"/>
              <a:ext cx="2145181"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ISILON SCRATCH</a:t>
              </a:r>
            </a:p>
          </p:txBody>
        </p:sp>
      </p:grpSp>
      <p:grpSp>
        <p:nvGrpSpPr>
          <p:cNvPr id="36" name="Group 35">
            <a:extLst>
              <a:ext uri="{FF2B5EF4-FFF2-40B4-BE49-F238E27FC236}">
                <a16:creationId xmlns:a16="http://schemas.microsoft.com/office/drawing/2014/main" id="{78DCA61B-849D-A04E-AB2F-8F925BBE0C91}"/>
              </a:ext>
            </a:extLst>
          </p:cNvPr>
          <p:cNvGrpSpPr/>
          <p:nvPr/>
        </p:nvGrpSpPr>
        <p:grpSpPr>
          <a:xfrm>
            <a:off x="3298670" y="2725642"/>
            <a:ext cx="4591546" cy="1209558"/>
            <a:chOff x="3216607" y="2832817"/>
            <a:chExt cx="4591546" cy="1209558"/>
          </a:xfrm>
        </p:grpSpPr>
        <p:sp>
          <p:nvSpPr>
            <p:cNvPr id="28" name="Rectangle: Rounded Corners 27">
              <a:extLst>
                <a:ext uri="{FF2B5EF4-FFF2-40B4-BE49-F238E27FC236}">
                  <a16:creationId xmlns:a16="http://schemas.microsoft.com/office/drawing/2014/main" id="{4B29D616-FA19-46D1-EA52-64B71805F39A}"/>
                </a:ext>
              </a:extLst>
            </p:cNvPr>
            <p:cNvSpPr/>
            <p:nvPr/>
          </p:nvSpPr>
          <p:spPr>
            <a:xfrm>
              <a:off x="3216607" y="2846580"/>
              <a:ext cx="4591546" cy="119579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a:extLst>
                <a:ext uri="{FF2B5EF4-FFF2-40B4-BE49-F238E27FC236}">
                  <a16:creationId xmlns:a16="http://schemas.microsoft.com/office/drawing/2014/main" id="{2FF49CF5-BFC8-4DCF-3C6C-22B78A34751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276843" y="2832817"/>
              <a:ext cx="1016410" cy="1196741"/>
            </a:xfrm>
            <a:prstGeom prst="rect">
              <a:avLst/>
            </a:prstGeom>
          </p:spPr>
        </p:pic>
        <p:sp>
          <p:nvSpPr>
            <p:cNvPr id="29" name="Rectangle 28">
              <a:extLst>
                <a:ext uri="{FF2B5EF4-FFF2-40B4-BE49-F238E27FC236}">
                  <a16:creationId xmlns:a16="http://schemas.microsoft.com/office/drawing/2014/main" id="{4F9C918C-3ABE-2D5E-9700-57B865F522B8}"/>
                </a:ext>
              </a:extLst>
            </p:cNvPr>
            <p:cNvSpPr/>
            <p:nvPr/>
          </p:nvSpPr>
          <p:spPr>
            <a:xfrm>
              <a:off x="4270590" y="2982812"/>
              <a:ext cx="3402855" cy="923330"/>
            </a:xfrm>
            <a:prstGeom prst="rect">
              <a:avLst/>
            </a:prstGeom>
            <a:noFill/>
          </p:spPr>
          <p:txBody>
            <a:bodyPr wrap="none" lIns="91440" tIns="45720" rIns="91440" bIns="45720">
              <a:spAutoFit/>
            </a:bodyPr>
            <a:lstStyle/>
            <a:p>
              <a:pPr algn="ctr"/>
              <a:r>
                <a:rPr lang="en-US" sz="5400" b="1" cap="none" spc="0" dirty="0">
                  <a:ln w="0"/>
                  <a:solidFill>
                    <a:srgbClr val="FF0000"/>
                  </a:solidFill>
                  <a:effectLst>
                    <a:outerShdw blurRad="38100" dist="19050" dir="2700000" algn="tl" rotWithShape="0">
                      <a:schemeClr val="dk1">
                        <a:alpha val="40000"/>
                      </a:schemeClr>
                    </a:outerShdw>
                  </a:effectLst>
                </a:rPr>
                <a:t>REMOVED</a:t>
              </a:r>
            </a:p>
          </p:txBody>
        </p:sp>
      </p:grpSp>
    </p:spTree>
    <p:extLst>
      <p:ext uri="{BB962C8B-B14F-4D97-AF65-F5344CB8AC3E}">
        <p14:creationId xmlns:p14="http://schemas.microsoft.com/office/powerpoint/2010/main" val="10137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5"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2000"/>
                                        <p:tgtEl>
                                          <p:spTgt spid="36"/>
                                        </p:tgtEl>
                                      </p:cBhvr>
                                    </p:animEffect>
                                    <p:anim calcmode="lin" valueType="num">
                                      <p:cBhvr>
                                        <p:cTn id="36" dur="2000" fill="hold"/>
                                        <p:tgtEl>
                                          <p:spTgt spid="36"/>
                                        </p:tgtEl>
                                        <p:attrNameLst>
                                          <p:attrName>ppt_w</p:attrName>
                                        </p:attrNameLst>
                                      </p:cBhvr>
                                      <p:tavLst>
                                        <p:tav tm="0" fmla="#ppt_w*sin(2.5*pi*$)">
                                          <p:val>
                                            <p:fltVal val="0"/>
                                          </p:val>
                                        </p:tav>
                                        <p:tav tm="100000">
                                          <p:val>
                                            <p:fltVal val="1"/>
                                          </p:val>
                                        </p:tav>
                                      </p:tavLst>
                                    </p:anim>
                                    <p:anim calcmode="lin" valueType="num">
                                      <p:cBhvr>
                                        <p:cTn id="37" dur="2000" fill="hold"/>
                                        <p:tgtEl>
                                          <p:spTgt spid="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645353-E93E-DF59-6417-3F58B9079169}"/>
            </a:ext>
          </a:extLst>
        </p:cNvPr>
        <p:cNvGrpSpPr/>
        <p:nvPr/>
      </p:nvGrpSpPr>
      <p:grpSpPr>
        <a:xfrm>
          <a:off x="0" y="0"/>
          <a:ext cx="0" cy="0"/>
          <a:chOff x="0" y="0"/>
          <a:chExt cx="0" cy="0"/>
        </a:xfrm>
      </p:grpSpPr>
      <p:pic>
        <p:nvPicPr>
          <p:cNvPr id="18436" name="Picture 4" descr="Free question mark pear think illustration">
            <a:extLst>
              <a:ext uri="{FF2B5EF4-FFF2-40B4-BE49-F238E27FC236}">
                <a16:creationId xmlns:a16="http://schemas.microsoft.com/office/drawing/2014/main" id="{3FD8D092-8830-2E03-E88E-1802F6FF41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6599" y="422471"/>
            <a:ext cx="9150034" cy="6097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03C5455-F1CC-C00D-88E5-D17F4015847E}"/>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[Questions?]</a:t>
            </a:r>
          </a:p>
        </p:txBody>
      </p:sp>
      <p:cxnSp>
        <p:nvCxnSpPr>
          <p:cNvPr id="5" name="Straight Connector 4">
            <a:extLst>
              <a:ext uri="{FF2B5EF4-FFF2-40B4-BE49-F238E27FC236}">
                <a16:creationId xmlns:a16="http://schemas.microsoft.com/office/drawing/2014/main" id="{940C93F7-D255-60EB-C76F-DA229620FA14}"/>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B029890-6B35-0EE1-E9C9-3E7DE56E3D5E}"/>
              </a:ext>
            </a:extLst>
          </p:cNvPr>
          <p:cNvSpPr txBox="1"/>
          <p:nvPr/>
        </p:nvSpPr>
        <p:spPr>
          <a:xfrm>
            <a:off x="417576" y="918925"/>
            <a:ext cx="11527991" cy="646331"/>
          </a:xfrm>
          <a:prstGeom prst="rect">
            <a:avLst/>
          </a:prstGeom>
          <a:noFill/>
        </p:spPr>
        <p:txBody>
          <a:bodyPr wrap="square" rtlCol="0">
            <a:spAutoFit/>
          </a:bodyPr>
          <a:lstStyle/>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6A309BAA-AFA5-6438-EE66-D8858ABD6C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wnload Watermelon, Melon, Fruit. Royalty-Free Vector Graphic - Pixabay">
            <a:extLst>
              <a:ext uri="{FF2B5EF4-FFF2-40B4-BE49-F238E27FC236}">
                <a16:creationId xmlns:a16="http://schemas.microsoft.com/office/drawing/2014/main" id="{8D833CD6-A5F2-4E69-D8B1-BB8ED75A41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0868" y="5321300"/>
            <a:ext cx="1444088" cy="1433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763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60603A2-8790-58B8-030B-0E41E1F7D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92CFE-36D0-BC94-2073-4AC3569AFEC2}"/>
              </a:ext>
            </a:extLst>
          </p:cNvPr>
          <p:cNvSpPr>
            <a:spLocks noGrp="1"/>
          </p:cNvSpPr>
          <p:nvPr>
            <p:ph type="ctrTitle"/>
          </p:nvPr>
        </p:nvSpPr>
        <p:spPr>
          <a:xfrm>
            <a:off x="1524000" y="1033669"/>
            <a:ext cx="9144000" cy="1283598"/>
          </a:xfrm>
        </p:spPr>
        <p:txBody>
          <a:bodyPr>
            <a:normAutofit/>
          </a:bodyPr>
          <a:lstStyle/>
          <a:p>
            <a:r>
              <a:rPr lang="en-GB" sz="6600" dirty="0">
                <a:solidFill>
                  <a:schemeClr val="bg1"/>
                </a:solidFill>
                <a:latin typeface="Cascadia Code" panose="020B0609020000020004" pitchFamily="49" charset="0"/>
              </a:rPr>
              <a:t>Data Management</a:t>
            </a:r>
            <a:endParaRPr lang="en-GB" sz="6600" dirty="0">
              <a:solidFill>
                <a:schemeClr val="bg1"/>
              </a:solidFill>
            </a:endParaRPr>
          </a:p>
        </p:txBody>
      </p:sp>
      <p:sp>
        <p:nvSpPr>
          <p:cNvPr id="3" name="Subtitle 2">
            <a:extLst>
              <a:ext uri="{FF2B5EF4-FFF2-40B4-BE49-F238E27FC236}">
                <a16:creationId xmlns:a16="http://schemas.microsoft.com/office/drawing/2014/main" id="{BD63A651-6587-42B5-2AE1-D195C38E7853}"/>
              </a:ext>
            </a:extLst>
          </p:cNvPr>
          <p:cNvSpPr>
            <a:spLocks noGrp="1"/>
          </p:cNvSpPr>
          <p:nvPr>
            <p:ph type="subTitle" idx="1"/>
          </p:nvPr>
        </p:nvSpPr>
        <p:spPr>
          <a:xfrm>
            <a:off x="1524000" y="2584175"/>
            <a:ext cx="9144000" cy="3798696"/>
          </a:xfrm>
        </p:spPr>
        <p:txBody>
          <a:bodyPr>
            <a:normAutofit/>
          </a:bodyPr>
          <a:lstStyle/>
          <a:p>
            <a:r>
              <a:rPr lang="en-GB" sz="2800" b="1" dirty="0">
                <a:solidFill>
                  <a:schemeClr val="bg1"/>
                </a:solidFill>
                <a:latin typeface="Cascadia Code ExtraLight" panose="020B0609020000020004" pitchFamily="49" charset="0"/>
              </a:rPr>
              <a:t>Part 2</a:t>
            </a:r>
          </a:p>
          <a:p>
            <a:r>
              <a:rPr lang="en-GB" sz="2800" b="1" dirty="0">
                <a:solidFill>
                  <a:schemeClr val="bg1"/>
                </a:solidFill>
                <a:latin typeface="Cascadia Code ExtraLight" panose="020B0609020000020004" pitchFamily="49" charset="0"/>
              </a:rPr>
              <a:t>Hands-on training</a:t>
            </a:r>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a:p>
            <a:endParaRPr lang="en-GB" sz="2000" dirty="0">
              <a:solidFill>
                <a:schemeClr val="bg1"/>
              </a:solidFill>
              <a:latin typeface="Cascadia Code ExtraLight" panose="020B0609020000020004" pitchFamily="49" charset="0"/>
            </a:endParaRPr>
          </a:p>
        </p:txBody>
      </p:sp>
      <p:pic>
        <p:nvPicPr>
          <p:cNvPr id="10" name="Picture 9" descr="Download Watermelon, Melon, Fruit. Royalty-Free Vector Graphic - Pixabay">
            <a:extLst>
              <a:ext uri="{FF2B5EF4-FFF2-40B4-BE49-F238E27FC236}">
                <a16:creationId xmlns:a16="http://schemas.microsoft.com/office/drawing/2014/main" id="{83A986ED-8850-27A2-F050-00B133351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1686" y="5905500"/>
            <a:ext cx="723881" cy="71877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Free floppy disk media vector">
            <a:extLst>
              <a:ext uri="{FF2B5EF4-FFF2-40B4-BE49-F238E27FC236}">
                <a16:creationId xmlns:a16="http://schemas.microsoft.com/office/drawing/2014/main" id="{A763505C-A5C6-7055-7B0B-1AAF2E2ED3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850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C34A3BE-1B00-96F6-756C-84E063F34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B891E-C2B5-BE74-1607-B150C1F920F1}"/>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[The command line]$</a:t>
            </a:r>
          </a:p>
        </p:txBody>
      </p:sp>
      <p:cxnSp>
        <p:nvCxnSpPr>
          <p:cNvPr id="5" name="Straight Connector 4">
            <a:extLst>
              <a:ext uri="{FF2B5EF4-FFF2-40B4-BE49-F238E27FC236}">
                <a16:creationId xmlns:a16="http://schemas.microsoft.com/office/drawing/2014/main" id="{889439E7-A24C-C032-BA7C-2C4E282DEA1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CEC8074-6880-B7A7-A1FD-7D1C787FABE0}"/>
              </a:ext>
            </a:extLst>
          </p:cNvPr>
          <p:cNvSpPr txBox="1"/>
          <p:nvPr/>
        </p:nvSpPr>
        <p:spPr>
          <a:xfrm>
            <a:off x="417575" y="1389886"/>
            <a:ext cx="11527992" cy="3970318"/>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Computers only speak in 0 and 1, but we use layers of abstraction to interact with them.</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From assembly to GUI, different layers simplify programming and system control.</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Command line tools provide direct access to system resources, making tasks faster and more efficient.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Essential for automation, scripting, and HPC, where GUI access is limited.</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Commands can be combined (piped) to create powerful workflows, boosting productivity.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16955262-34CC-CDE0-686F-16E585E20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6" name="Picture 6" descr="Free floppy disk media vector">
            <a:extLst>
              <a:ext uri="{FF2B5EF4-FFF2-40B4-BE49-F238E27FC236}">
                <a16:creationId xmlns:a16="http://schemas.microsoft.com/office/drawing/2014/main" id="{460D005E-29B3-6492-9947-0C062F051C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774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EAA5539-1F78-29F1-60F9-48F02EC48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42E7C-700C-BAFD-984A-DA7F7019DB48}"/>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[Linux-playground]</a:t>
            </a:r>
          </a:p>
        </p:txBody>
      </p:sp>
      <p:cxnSp>
        <p:nvCxnSpPr>
          <p:cNvPr id="5" name="Straight Connector 4">
            <a:extLst>
              <a:ext uri="{FF2B5EF4-FFF2-40B4-BE49-F238E27FC236}">
                <a16:creationId xmlns:a16="http://schemas.microsoft.com/office/drawing/2014/main" id="{D851FB46-EA85-85A6-0A90-2BEB866629BC}"/>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C08711C-4E6B-B305-695F-382B33747987}"/>
              </a:ext>
            </a:extLst>
          </p:cNvPr>
          <p:cNvSpPr txBox="1"/>
          <p:nvPr/>
        </p:nvSpPr>
        <p:spPr>
          <a:xfrm>
            <a:off x="417576" y="1228701"/>
            <a:ext cx="9841992" cy="461665"/>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Using PuTTY to access HPC or VMs (</a:t>
            </a:r>
            <a:r>
              <a:rPr lang="en-GB" sz="240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linux</a:t>
            </a:r>
            <a:r>
              <a:rPr lang="en-GB" sz="240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-playground</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p:txBody>
      </p:sp>
      <p:pic>
        <p:nvPicPr>
          <p:cNvPr id="9" name="Picture 8">
            <a:extLst>
              <a:ext uri="{FF2B5EF4-FFF2-40B4-BE49-F238E27FC236}">
                <a16:creationId xmlns:a16="http://schemas.microsoft.com/office/drawing/2014/main" id="{79D84EAA-E3F1-5F91-366C-29BDFF4D0341}"/>
              </a:ext>
            </a:extLst>
          </p:cNvPr>
          <p:cNvPicPr>
            <a:picLocks noChangeAspect="1"/>
          </p:cNvPicPr>
          <p:nvPr/>
        </p:nvPicPr>
        <p:blipFill>
          <a:blip r:embed="rId3"/>
          <a:stretch>
            <a:fillRect/>
          </a:stretch>
        </p:blipFill>
        <p:spPr>
          <a:xfrm>
            <a:off x="954694" y="1718882"/>
            <a:ext cx="4305300" cy="4210050"/>
          </a:xfrm>
          <a:prstGeom prst="rect">
            <a:avLst/>
          </a:prstGeom>
        </p:spPr>
      </p:pic>
      <p:pic>
        <p:nvPicPr>
          <p:cNvPr id="14" name="Picture 13">
            <a:extLst>
              <a:ext uri="{FF2B5EF4-FFF2-40B4-BE49-F238E27FC236}">
                <a16:creationId xmlns:a16="http://schemas.microsoft.com/office/drawing/2014/main" id="{150F6C81-2464-9498-EC9B-62B480AE48A0}"/>
              </a:ext>
            </a:extLst>
          </p:cNvPr>
          <p:cNvPicPr>
            <a:picLocks noChangeAspect="1"/>
          </p:cNvPicPr>
          <p:nvPr/>
        </p:nvPicPr>
        <p:blipFill>
          <a:blip r:embed="rId4"/>
          <a:stretch>
            <a:fillRect/>
          </a:stretch>
        </p:blipFill>
        <p:spPr>
          <a:xfrm>
            <a:off x="5670901" y="1718882"/>
            <a:ext cx="5483256" cy="4412647"/>
          </a:xfrm>
          <a:prstGeom prst="rect">
            <a:avLst/>
          </a:prstGeom>
        </p:spPr>
      </p:pic>
      <p:pic>
        <p:nvPicPr>
          <p:cNvPr id="4" name="Picture 6" descr="Free floppy disk media vector">
            <a:extLst>
              <a:ext uri="{FF2B5EF4-FFF2-40B4-BE49-F238E27FC236}">
                <a16:creationId xmlns:a16="http://schemas.microsoft.com/office/drawing/2014/main" id="{1480E8BB-DCD7-4EC9-8D8A-487624241F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DDF6AC06-2AE9-ADF1-3787-6CD6094AD8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8161848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B17F37-2F90-3F6E-68F9-53A985A923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4C711-2062-4CCD-3A37-EE733D981278}"/>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[Setting up today’s lab]$</a:t>
            </a:r>
          </a:p>
        </p:txBody>
      </p:sp>
      <p:cxnSp>
        <p:nvCxnSpPr>
          <p:cNvPr id="5" name="Straight Connector 4">
            <a:extLst>
              <a:ext uri="{FF2B5EF4-FFF2-40B4-BE49-F238E27FC236}">
                <a16:creationId xmlns:a16="http://schemas.microsoft.com/office/drawing/2014/main" id="{690DD5EE-7317-DEF8-7888-8D9B837A56D7}"/>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E7CD22B-1CF0-0894-B1BC-38BFE7D612FC}"/>
              </a:ext>
            </a:extLst>
          </p:cNvPr>
          <p:cNvSpPr txBox="1"/>
          <p:nvPr/>
        </p:nvSpPr>
        <p:spPr>
          <a:xfrm>
            <a:off x="417575" y="1238640"/>
            <a:ext cx="11045953" cy="5970865"/>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Open the browser in your workstation and create a folder in your U Drive named “informatics”.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After ssh into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linux</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-playground run these two commands: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sz="2000"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mountu</a:t>
            </a:r>
            <a:r>
              <a:rPr lang="en-GB" sz="20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will mount the recently created informatics folder in the  			/home/username/</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u_drive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directory.</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sz="2000"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atraining</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will attach your screen to the presenter’s ssh session.</a:t>
            </a: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Open another ssh session using PuTTY or termina and ssh into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linux</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-playground.</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The folder informatics from your U drive should be linked with the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u_drive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in your home directory, create a text file in Windows and check if is visible in your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u_drive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directory. </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3" name="Picture 2" descr="A black and white sign with white text&#10;&#10;AI-generated content may be incorrect.">
            <a:extLst>
              <a:ext uri="{FF2B5EF4-FFF2-40B4-BE49-F238E27FC236}">
                <a16:creationId xmlns:a16="http://schemas.microsoft.com/office/drawing/2014/main" id="{C551F157-E37C-5CF6-07C5-9154B6644F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4" name="Picture 6" descr="Free floppy disk media vector">
            <a:extLst>
              <a:ext uri="{FF2B5EF4-FFF2-40B4-BE49-F238E27FC236}">
                <a16:creationId xmlns:a16="http://schemas.microsoft.com/office/drawing/2014/main" id="{579AB924-23BA-D2A1-F2CB-1FB6702EA4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678124"/>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2BAB636-D42C-A987-7D65-C8D65BB9B191}"/>
            </a:ext>
          </a:extLst>
        </p:cNvPr>
        <p:cNvGrpSpPr/>
        <p:nvPr/>
      </p:nvGrpSpPr>
      <p:grpSpPr>
        <a:xfrm>
          <a:off x="0" y="0"/>
          <a:ext cx="0" cy="0"/>
          <a:chOff x="0" y="0"/>
          <a:chExt cx="0" cy="0"/>
        </a:xfrm>
      </p:grpSpPr>
      <p:pic>
        <p:nvPicPr>
          <p:cNvPr id="3" name="Picture 6" descr="Free floppy disk media vector">
            <a:extLst>
              <a:ext uri="{FF2B5EF4-FFF2-40B4-BE49-F238E27FC236}">
                <a16:creationId xmlns:a16="http://schemas.microsoft.com/office/drawing/2014/main" id="{A04DBC3B-E4A0-A0A1-D901-2A58138128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9B2ED87-4DED-92C4-AB41-78CE3C51FB3E}"/>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[The lab:]</a:t>
            </a:r>
          </a:p>
        </p:txBody>
      </p:sp>
      <p:cxnSp>
        <p:nvCxnSpPr>
          <p:cNvPr id="5" name="Straight Connector 4">
            <a:extLst>
              <a:ext uri="{FF2B5EF4-FFF2-40B4-BE49-F238E27FC236}">
                <a16:creationId xmlns:a16="http://schemas.microsoft.com/office/drawing/2014/main" id="{BB6BE9E0-61C6-3B47-1126-5835D08F99AA}"/>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6" name="Picture 5" descr="A black and white sign with white text&#10;&#10;AI-generated content may be incorrect.">
            <a:extLst>
              <a:ext uri="{FF2B5EF4-FFF2-40B4-BE49-F238E27FC236}">
                <a16:creationId xmlns:a16="http://schemas.microsoft.com/office/drawing/2014/main" id="{5CD226B0-826D-44CB-183E-458FAC901C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7" name="Picture 6">
            <a:extLst>
              <a:ext uri="{FF2B5EF4-FFF2-40B4-BE49-F238E27FC236}">
                <a16:creationId xmlns:a16="http://schemas.microsoft.com/office/drawing/2014/main" id="{9CA85319-3713-1C81-6ABE-99C74F7E4C4A}"/>
              </a:ext>
            </a:extLst>
          </p:cNvPr>
          <p:cNvPicPr>
            <a:picLocks noChangeAspect="1"/>
          </p:cNvPicPr>
          <p:nvPr/>
        </p:nvPicPr>
        <p:blipFill>
          <a:blip r:embed="rId5"/>
          <a:stretch>
            <a:fillRect/>
          </a:stretch>
        </p:blipFill>
        <p:spPr>
          <a:xfrm>
            <a:off x="954694" y="1051561"/>
            <a:ext cx="4774122" cy="5146959"/>
          </a:xfrm>
          <a:prstGeom prst="rect">
            <a:avLst/>
          </a:prstGeom>
        </p:spPr>
      </p:pic>
      <p:grpSp>
        <p:nvGrpSpPr>
          <p:cNvPr id="8" name="Group 7">
            <a:extLst>
              <a:ext uri="{FF2B5EF4-FFF2-40B4-BE49-F238E27FC236}">
                <a16:creationId xmlns:a16="http://schemas.microsoft.com/office/drawing/2014/main" id="{FAF21C21-5C6A-1BA5-B533-DD77E7C6323D}"/>
              </a:ext>
            </a:extLst>
          </p:cNvPr>
          <p:cNvGrpSpPr/>
          <p:nvPr/>
        </p:nvGrpSpPr>
        <p:grpSpPr>
          <a:xfrm>
            <a:off x="954694" y="1051561"/>
            <a:ext cx="9585120" cy="5153121"/>
            <a:chOff x="954694" y="1051561"/>
            <a:chExt cx="9585120" cy="5153121"/>
          </a:xfrm>
        </p:grpSpPr>
        <p:pic>
          <p:nvPicPr>
            <p:cNvPr id="9" name="Picture 8">
              <a:extLst>
                <a:ext uri="{FF2B5EF4-FFF2-40B4-BE49-F238E27FC236}">
                  <a16:creationId xmlns:a16="http://schemas.microsoft.com/office/drawing/2014/main" id="{4E79E2B5-54A0-EA13-A2BB-E50570189FE1}"/>
                </a:ext>
              </a:extLst>
            </p:cNvPr>
            <p:cNvPicPr>
              <a:picLocks noChangeAspect="1"/>
            </p:cNvPicPr>
            <p:nvPr/>
          </p:nvPicPr>
          <p:blipFill>
            <a:blip r:embed="rId6"/>
            <a:stretch>
              <a:fillRect/>
            </a:stretch>
          </p:blipFill>
          <p:spPr>
            <a:xfrm>
              <a:off x="954694" y="1056933"/>
              <a:ext cx="9585120" cy="5147749"/>
            </a:xfrm>
            <a:prstGeom prst="rect">
              <a:avLst/>
            </a:prstGeom>
          </p:spPr>
        </p:pic>
        <p:pic>
          <p:nvPicPr>
            <p:cNvPr id="10" name="Picture 9">
              <a:extLst>
                <a:ext uri="{FF2B5EF4-FFF2-40B4-BE49-F238E27FC236}">
                  <a16:creationId xmlns:a16="http://schemas.microsoft.com/office/drawing/2014/main" id="{B17B89CF-0610-438E-38B9-86146BED82B6}"/>
                </a:ext>
              </a:extLst>
            </p:cNvPr>
            <p:cNvPicPr>
              <a:picLocks noChangeAspect="1"/>
            </p:cNvPicPr>
            <p:nvPr/>
          </p:nvPicPr>
          <p:blipFill>
            <a:blip r:embed="rId5"/>
            <a:stretch>
              <a:fillRect/>
            </a:stretch>
          </p:blipFill>
          <p:spPr>
            <a:xfrm>
              <a:off x="954694" y="1051561"/>
              <a:ext cx="4774122" cy="5146959"/>
            </a:xfrm>
            <a:prstGeom prst="rect">
              <a:avLst/>
            </a:prstGeom>
          </p:spPr>
        </p:pic>
      </p:grpSp>
    </p:spTree>
    <p:extLst>
      <p:ext uri="{BB962C8B-B14F-4D97-AF65-F5344CB8AC3E}">
        <p14:creationId xmlns:p14="http://schemas.microsoft.com/office/powerpoint/2010/main" val="35381580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10F08B-12BA-A88A-F7DE-28064D208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8D6E4-6BB7-ECFB-1F9E-5ECF3B017A86}"/>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[Prompt, Home and \ (root)]</a:t>
            </a:r>
          </a:p>
        </p:txBody>
      </p:sp>
      <p:cxnSp>
        <p:nvCxnSpPr>
          <p:cNvPr id="5" name="Straight Connector 4">
            <a:extLst>
              <a:ext uri="{FF2B5EF4-FFF2-40B4-BE49-F238E27FC236}">
                <a16:creationId xmlns:a16="http://schemas.microsoft.com/office/drawing/2014/main" id="{F44BE85E-A732-9638-C529-345E98BC9257}"/>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C175E46-5867-623D-7F80-14C33494FFB2}"/>
              </a:ext>
            </a:extLst>
          </p:cNvPr>
          <p:cNvSpPr txBox="1"/>
          <p:nvPr/>
        </p:nvSpPr>
        <p:spPr>
          <a:xfrm>
            <a:off x="417576" y="1389886"/>
            <a:ext cx="9841992" cy="369331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rPr>
              <a:t>Prompt ($ or #) – The start of the command-line interface. </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rPr>
              <a:t>Home Directory (/home/username/) – Each user’s personal space. Shortcut: ~ (tilde).</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rPr>
              <a:t> Root Directory (/) – The top-level directory, containing all system files.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rPr>
              <a:t>root user owns / (everything) and has its home in /root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rPr>
              <a:t>Key System Folders – /bin (commands), /etc (configs), /home (users), /root (admin), /var (logs).</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a:ln>
                <a:noFill/>
              </a:ln>
              <a:solidFill>
                <a:prstClr val="white"/>
              </a:solidFill>
              <a:effectLst/>
              <a:uLnTx/>
              <a:uFillTx/>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F4D0A050-30FC-F43C-AE7D-1343C40E8F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6" name="Picture 6" descr="Free floppy disk media vector">
            <a:extLst>
              <a:ext uri="{FF2B5EF4-FFF2-40B4-BE49-F238E27FC236}">
                <a16:creationId xmlns:a16="http://schemas.microsoft.com/office/drawing/2014/main" id="{CB077DC0-8E06-F3B2-7D8A-46DADF0672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86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 calcmode="lin" valueType="num">
                                      <p:cBhvr additive="base">
                                        <p:cTn id="31"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F0A11B2-4D29-D3FA-34FB-07469D1D9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04009-BA9E-EED0-A0F8-C741223A6170}"/>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[Command structure]</a:t>
            </a:r>
          </a:p>
        </p:txBody>
      </p:sp>
      <p:cxnSp>
        <p:nvCxnSpPr>
          <p:cNvPr id="5" name="Straight Connector 4">
            <a:extLst>
              <a:ext uri="{FF2B5EF4-FFF2-40B4-BE49-F238E27FC236}">
                <a16:creationId xmlns:a16="http://schemas.microsoft.com/office/drawing/2014/main" id="{8065797D-AF55-E68D-1133-6C3F29709F7E}"/>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B7FFD1D-3E39-FFA4-7642-27805ACA04DD}"/>
              </a:ext>
            </a:extLst>
          </p:cNvPr>
          <p:cNvSpPr txBox="1"/>
          <p:nvPr/>
        </p:nvSpPr>
        <p:spPr>
          <a:xfrm>
            <a:off x="417575" y="1389886"/>
            <a:ext cx="11527992" cy="646331"/>
          </a:xfrm>
          <a:prstGeom prst="rect">
            <a:avLst/>
          </a:prstGeom>
          <a:noFill/>
        </p:spPr>
        <p:txBody>
          <a:bodyPr wrap="square" rtlCol="0">
            <a:spAutoFit/>
          </a:bodyPr>
          <a:lstStyle/>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169EF716-4E96-70E8-657A-F33CE9E68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
        <p:nvSpPr>
          <p:cNvPr id="6" name="TextBox 5">
            <a:extLst>
              <a:ext uri="{FF2B5EF4-FFF2-40B4-BE49-F238E27FC236}">
                <a16:creationId xmlns:a16="http://schemas.microsoft.com/office/drawing/2014/main" id="{6BFFF36E-70C2-D12F-BDFD-587FDA416978}"/>
              </a:ext>
            </a:extLst>
          </p:cNvPr>
          <p:cNvSpPr txBox="1"/>
          <p:nvPr/>
        </p:nvSpPr>
        <p:spPr>
          <a:xfrm>
            <a:off x="483108" y="1376583"/>
            <a:ext cx="11225784" cy="523220"/>
          </a:xfrm>
          <a:prstGeom prst="rect">
            <a:avLst/>
          </a:prstGeom>
          <a:noFill/>
        </p:spPr>
        <p:txBody>
          <a:bodyPr wrap="square" rtlCol="0">
            <a:spAutoFit/>
          </a:bodyPr>
          <a:lstStyle/>
          <a:p>
            <a:r>
              <a:rPr lang="en-GB" sz="28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$command –o –-options argument1 argument2 </a:t>
            </a:r>
            <a:r>
              <a:rPr lang="en-GB" sz="2800"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argumenx</a:t>
            </a:r>
            <a:r>
              <a:rPr lang="en-GB" sz="28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p:txBody>
      </p:sp>
      <p:sp>
        <p:nvSpPr>
          <p:cNvPr id="7" name="TextBox 6">
            <a:extLst>
              <a:ext uri="{FF2B5EF4-FFF2-40B4-BE49-F238E27FC236}">
                <a16:creationId xmlns:a16="http://schemas.microsoft.com/office/drawing/2014/main" id="{1636156C-F2DE-C893-0FC6-56A17ECBD887}"/>
              </a:ext>
            </a:extLst>
          </p:cNvPr>
          <p:cNvSpPr txBox="1"/>
          <p:nvPr/>
        </p:nvSpPr>
        <p:spPr>
          <a:xfrm>
            <a:off x="748145" y="2324583"/>
            <a:ext cx="10846447" cy="2585323"/>
          </a:xfrm>
          <a:prstGeom prst="rect">
            <a:avLst/>
          </a:prstGeom>
          <a:noFill/>
        </p:spPr>
        <p:txBody>
          <a:bodyPr wrap="square" rtlCol="0">
            <a:spAutoFit/>
          </a:bodyP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command  	application that we are calling.</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 –-option 	these are the flag or options that we are using (can be grouped). </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arguments 	these are the files or directories the command will use.</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$cp –r dir1/file1.txt dir2/file1.txt</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8" name="Picture 6" descr="Free floppy disk media vector">
            <a:extLst>
              <a:ext uri="{FF2B5EF4-FFF2-40B4-BE49-F238E27FC236}">
                <a16:creationId xmlns:a16="http://schemas.microsoft.com/office/drawing/2014/main" id="{3BCDD331-4FEF-CEC5-1079-1D89B1476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6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5289DBB-F400-63F5-0897-0803A4C63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28BAF-4227-0D5E-FFA0-42408A9E5328}"/>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[Moving around]</a:t>
            </a:r>
          </a:p>
        </p:txBody>
      </p:sp>
      <p:cxnSp>
        <p:nvCxnSpPr>
          <p:cNvPr id="5" name="Straight Connector 4">
            <a:extLst>
              <a:ext uri="{FF2B5EF4-FFF2-40B4-BE49-F238E27FC236}">
                <a16:creationId xmlns:a16="http://schemas.microsoft.com/office/drawing/2014/main" id="{AA5A7F61-4351-9C08-7F5F-7FB734D3181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21D9E65-18A4-9BC8-5CD3-8A2C1B50F318}"/>
              </a:ext>
            </a:extLst>
          </p:cNvPr>
          <p:cNvSpPr txBox="1"/>
          <p:nvPr/>
        </p:nvSpPr>
        <p:spPr>
          <a:xfrm>
            <a:off x="417576" y="1389886"/>
            <a:ext cx="9841992" cy="3970318"/>
          </a:xfrm>
          <a:prstGeom prst="rect">
            <a:avLst/>
          </a:prstGeom>
          <a:noFill/>
        </p:spPr>
        <p:txBody>
          <a:bodyPr wrap="square" rtlCol="0">
            <a:spAutoFit/>
          </a:bodyPr>
          <a:lstStyle/>
          <a:p>
            <a:pPr marL="285750" indent="-285750">
              <a:buFontTx/>
              <a:buChar char="-"/>
            </a:pP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pwd</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print working directory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ls		list content of current directory (flags –l –h –r)</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cd 		change into specified directory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cd ..	takes you to the previous level</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cd ~ 	takes you to your home directory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cd - 	takes you to the previous directory you were at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A1080DD5-B502-3A6D-8342-A6FC81C83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FCA1251C-52C5-38CA-450F-8BAFEBE62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7122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 calcmode="lin" valueType="num">
                                      <p:cBhvr additive="base">
                                        <p:cTn id="31"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 calcmode="lin" valueType="num">
                                      <p:cBhvr additive="base">
                                        <p:cTn id="3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4212090-5743-97E3-E8A9-76B4674F3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B596C-F073-F9B9-E2B9-68A100C8E39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1]</a:t>
            </a:r>
          </a:p>
        </p:txBody>
      </p:sp>
      <p:cxnSp>
        <p:nvCxnSpPr>
          <p:cNvPr id="5" name="Straight Connector 4">
            <a:extLst>
              <a:ext uri="{FF2B5EF4-FFF2-40B4-BE49-F238E27FC236}">
                <a16:creationId xmlns:a16="http://schemas.microsoft.com/office/drawing/2014/main" id="{68D64A11-344E-95AA-0614-004F629B1363}"/>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72F2D08-014C-8BBA-7FC2-F04A8B2E34D5}"/>
              </a:ext>
            </a:extLst>
          </p:cNvPr>
          <p:cNvSpPr txBox="1"/>
          <p:nvPr/>
        </p:nvSpPr>
        <p:spPr>
          <a:xfrm>
            <a:off x="417575" y="1389886"/>
            <a:ext cx="11658161" cy="3693319"/>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Change directory to the root of the filesystem.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can use ls to list files in the root directory.</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What happens if we add option -l?</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What if we use both -l and -h</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If you run the command with –t it will sort ls output by time of last change instead of alphabetically. -r will reverse the sort order. What happens if we use both at the same time?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A52CDC60-EE9A-AC6D-942E-19C012F19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6" name="Picture 6" descr="Free floppy disk media vector">
            <a:extLst>
              <a:ext uri="{FF2B5EF4-FFF2-40B4-BE49-F238E27FC236}">
                <a16:creationId xmlns:a16="http://schemas.microsoft.com/office/drawing/2014/main" id="{E8812F2B-5B22-6094-D522-577CB46F8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1157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62C2739-13A6-A0CF-1AD0-B25FCC1B8D4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A742C21-F130-3B48-92F2-050892214A14}"/>
              </a:ext>
            </a:extLst>
          </p:cNvPr>
          <p:cNvPicPr>
            <a:picLocks noChangeAspect="1"/>
          </p:cNvPicPr>
          <p:nvPr/>
        </p:nvPicPr>
        <p:blipFill>
          <a:blip r:embed="rId3"/>
          <a:srcRect l="126" t="13143" r="67249" b="22294"/>
          <a:stretch>
            <a:fillRect/>
          </a:stretch>
        </p:blipFill>
        <p:spPr>
          <a:xfrm>
            <a:off x="6442840" y="1158953"/>
            <a:ext cx="5431437" cy="5699047"/>
          </a:xfrm>
          <a:prstGeom prst="rect">
            <a:avLst/>
          </a:prstGeom>
        </p:spPr>
      </p:pic>
      <p:sp>
        <p:nvSpPr>
          <p:cNvPr id="2" name="Title 1">
            <a:extLst>
              <a:ext uri="{FF2B5EF4-FFF2-40B4-BE49-F238E27FC236}">
                <a16:creationId xmlns:a16="http://schemas.microsoft.com/office/drawing/2014/main" id="{A6183C92-8B23-0A92-A67A-F9148C8D78D1}"/>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[Relative and absolute paths]</a:t>
            </a:r>
          </a:p>
        </p:txBody>
      </p:sp>
      <p:cxnSp>
        <p:nvCxnSpPr>
          <p:cNvPr id="5" name="Straight Connector 4">
            <a:extLst>
              <a:ext uri="{FF2B5EF4-FFF2-40B4-BE49-F238E27FC236}">
                <a16:creationId xmlns:a16="http://schemas.microsoft.com/office/drawing/2014/main" id="{D6D23CAF-97A9-6302-26C8-A691C5DA51AE}"/>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6EA61F3-8FCF-481D-13E2-4ECC6EEE730D}"/>
              </a:ext>
            </a:extLst>
          </p:cNvPr>
          <p:cNvSpPr txBox="1"/>
          <p:nvPr/>
        </p:nvSpPr>
        <p:spPr>
          <a:xfrm>
            <a:off x="1039463" y="1560220"/>
            <a:ext cx="5507641" cy="2031325"/>
          </a:xfrm>
          <a:prstGeom prst="rect">
            <a:avLst/>
          </a:prstGeom>
          <a:noFill/>
        </p:spPr>
        <p:txBody>
          <a:bodyPr wrap="square" rtlCol="0">
            <a:spAutoFit/>
          </a:bodyPr>
          <a:lstStyle/>
          <a:p>
            <a:pPr marL="285750" indent="-285750">
              <a:buFontTx/>
              <a:buChar char="-"/>
            </a:pPr>
            <a:r>
              <a:rPr lang="en-GB" b="1"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Relative paths: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tsl</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/floor_1/</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proteomics_lab</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./nbi/</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ei</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/floor_2/</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genomics_lab</a:t>
            </a: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toilet</a:t>
            </a:r>
          </a:p>
        </p:txBody>
      </p:sp>
      <p:sp>
        <p:nvSpPr>
          <p:cNvPr id="13" name="TextBox 12">
            <a:extLst>
              <a:ext uri="{FF2B5EF4-FFF2-40B4-BE49-F238E27FC236}">
                <a16:creationId xmlns:a16="http://schemas.microsoft.com/office/drawing/2014/main" id="{34C0C8E4-3AC5-9C6C-AE63-0AF90772A1A6}"/>
              </a:ext>
            </a:extLst>
          </p:cNvPr>
          <p:cNvSpPr txBox="1"/>
          <p:nvPr/>
        </p:nvSpPr>
        <p:spPr>
          <a:xfrm>
            <a:off x="1014056" y="3896358"/>
            <a:ext cx="5113083" cy="2308324"/>
          </a:xfrm>
          <a:prstGeom prst="rect">
            <a:avLst/>
          </a:prstGeom>
          <a:noFill/>
        </p:spPr>
        <p:txBody>
          <a:bodyPr wrap="square" rtlCol="0">
            <a:spAutoFit/>
          </a:bodyPr>
          <a:lstStyle/>
          <a:p>
            <a:pPr marL="285750" indent="-285750">
              <a:buFontTx/>
              <a:buChar char="-"/>
            </a:pPr>
            <a:r>
              <a:rPr lang="en-GB" b="1"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Absolute paths: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/Norwich/nbi/</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/floor_1</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/Norwich/</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/Norwich/nbi/</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qib</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/floor2/toilet</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3" name="Picture 6" descr="Free floppy disk media vector">
            <a:extLst>
              <a:ext uri="{FF2B5EF4-FFF2-40B4-BE49-F238E27FC236}">
                <a16:creationId xmlns:a16="http://schemas.microsoft.com/office/drawing/2014/main" id="{66702390-CFF6-65EC-579C-CE20628659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black and white sign with white text&#10;&#10;AI-generated content may be incorrect.">
            <a:extLst>
              <a:ext uri="{FF2B5EF4-FFF2-40B4-BE49-F238E27FC236}">
                <a16:creationId xmlns:a16="http://schemas.microsoft.com/office/drawing/2014/main" id="{AB543C17-26EF-95A9-AC6D-7997F2B3B8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16" name="Picture 15" descr="A close-up of a sign&#10;&#10;Description automatically generated">
            <a:extLst>
              <a:ext uri="{FF2B5EF4-FFF2-40B4-BE49-F238E27FC236}">
                <a16:creationId xmlns:a16="http://schemas.microsoft.com/office/drawing/2014/main" id="{133334DF-6CDF-E051-1B20-6C43C8E765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82198" y="995138"/>
            <a:ext cx="1264906" cy="825351"/>
          </a:xfrm>
          <a:prstGeom prst="rect">
            <a:avLst/>
          </a:prstGeom>
        </p:spPr>
      </p:pic>
      <p:sp>
        <p:nvSpPr>
          <p:cNvPr id="7" name="Rectangle 6">
            <a:extLst>
              <a:ext uri="{FF2B5EF4-FFF2-40B4-BE49-F238E27FC236}">
                <a16:creationId xmlns:a16="http://schemas.microsoft.com/office/drawing/2014/main" id="{AD22B0F4-8029-96FE-F454-894B3DE6B701}"/>
              </a:ext>
            </a:extLst>
          </p:cNvPr>
          <p:cNvSpPr/>
          <p:nvPr/>
        </p:nvSpPr>
        <p:spPr>
          <a:xfrm>
            <a:off x="8016586" y="2789959"/>
            <a:ext cx="2473037" cy="22340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281D268-6D88-998D-BC17-99366A070AE0}"/>
              </a:ext>
            </a:extLst>
          </p:cNvPr>
          <p:cNvSpPr/>
          <p:nvPr/>
        </p:nvSpPr>
        <p:spPr>
          <a:xfrm>
            <a:off x="8766463" y="5181599"/>
            <a:ext cx="2473037" cy="22340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266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27E215-B61C-1C6C-38C9-A6E0A69AB291}"/>
            </a:ext>
          </a:extLst>
        </p:cNvPr>
        <p:cNvGrpSpPr/>
        <p:nvPr/>
      </p:nvGrpSpPr>
      <p:grpSpPr>
        <a:xfrm>
          <a:off x="0" y="0"/>
          <a:ext cx="0" cy="0"/>
          <a:chOff x="0" y="0"/>
          <a:chExt cx="0" cy="0"/>
        </a:xfrm>
      </p:grpSpPr>
      <p:pic>
        <p:nvPicPr>
          <p:cNvPr id="4" name="Picture 6" descr="Free floppy disk media vector">
            <a:extLst>
              <a:ext uri="{FF2B5EF4-FFF2-40B4-BE49-F238E27FC236}">
                <a16:creationId xmlns:a16="http://schemas.microsoft.com/office/drawing/2014/main" id="{F56AD481-9A5F-BA32-4B06-DDE8C1E7B9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7E2DAF5-0AB4-2648-6CBE-1E0FD1B7ECC3}"/>
              </a:ext>
            </a:extLst>
          </p:cNvPr>
          <p:cNvPicPr>
            <a:picLocks noChangeAspect="1"/>
          </p:cNvPicPr>
          <p:nvPr/>
        </p:nvPicPr>
        <p:blipFill>
          <a:blip r:embed="rId3"/>
          <a:srcRect t="282" r="67249" b="9732"/>
          <a:stretch>
            <a:fillRect/>
          </a:stretch>
        </p:blipFill>
        <p:spPr>
          <a:xfrm>
            <a:off x="7477061" y="144368"/>
            <a:ext cx="4533035" cy="6603718"/>
          </a:xfrm>
          <a:prstGeom prst="rect">
            <a:avLst/>
          </a:prstGeom>
        </p:spPr>
      </p:pic>
      <p:sp>
        <p:nvSpPr>
          <p:cNvPr id="11" name="Title 1">
            <a:extLst>
              <a:ext uri="{FF2B5EF4-FFF2-40B4-BE49-F238E27FC236}">
                <a16:creationId xmlns:a16="http://schemas.microsoft.com/office/drawing/2014/main" id="{3E775821-F70A-7D91-2B6A-187C242D12A4}"/>
              </a:ext>
            </a:extLst>
          </p:cNvPr>
          <p:cNvSpPr txBox="1">
            <a:spLocks/>
          </p:cNvSpPr>
          <p:nvPr/>
        </p:nvSpPr>
        <p:spPr>
          <a:xfrm>
            <a:off x="417576" y="338329"/>
            <a:ext cx="8900160" cy="56692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2]</a:t>
            </a:r>
          </a:p>
        </p:txBody>
      </p:sp>
      <p:cxnSp>
        <p:nvCxnSpPr>
          <p:cNvPr id="12" name="Straight Connector 11">
            <a:extLst>
              <a:ext uri="{FF2B5EF4-FFF2-40B4-BE49-F238E27FC236}">
                <a16:creationId xmlns:a16="http://schemas.microsoft.com/office/drawing/2014/main" id="{A855ACFC-AD7E-4E50-5076-334A6AF42C4D}"/>
              </a:ext>
            </a:extLst>
          </p:cNvPr>
          <p:cNvCxnSpPr>
            <a:cxnSpLocks/>
          </p:cNvCxnSpPr>
          <p:nvPr/>
        </p:nvCxnSpPr>
        <p:spPr>
          <a:xfrm>
            <a:off x="548640" y="978408"/>
            <a:ext cx="675662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ADCE072-EB5E-0DA8-B6F1-22BFE40E1C5C}"/>
              </a:ext>
            </a:extLst>
          </p:cNvPr>
          <p:cNvSpPr txBox="1"/>
          <p:nvPr/>
        </p:nvSpPr>
        <p:spPr>
          <a:xfrm>
            <a:off x="396309" y="1133304"/>
            <a:ext cx="7851781" cy="923330"/>
          </a:xfrm>
          <a:prstGeom prst="rect">
            <a:avLst/>
          </a:prstGeom>
          <a:noFill/>
        </p:spPr>
        <p:txBody>
          <a:bodyPr wrap="square" rtlCol="0">
            <a:spAutoFit/>
          </a:bodyP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Type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nbipath</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on the terminal and play the path game.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14" name="Picture 13">
            <a:extLst>
              <a:ext uri="{FF2B5EF4-FFF2-40B4-BE49-F238E27FC236}">
                <a16:creationId xmlns:a16="http://schemas.microsoft.com/office/drawing/2014/main" id="{9A4B6585-6B39-3008-7422-916D32E21AD0}"/>
              </a:ext>
            </a:extLst>
          </p:cNvPr>
          <p:cNvPicPr>
            <a:picLocks noChangeAspect="1"/>
          </p:cNvPicPr>
          <p:nvPr/>
        </p:nvPicPr>
        <p:blipFill>
          <a:blip r:embed="rId4"/>
          <a:stretch>
            <a:fillRect/>
          </a:stretch>
        </p:blipFill>
        <p:spPr>
          <a:xfrm>
            <a:off x="840282" y="2473325"/>
            <a:ext cx="6572250" cy="4305300"/>
          </a:xfrm>
          <a:prstGeom prst="rect">
            <a:avLst/>
          </a:prstGeom>
        </p:spPr>
      </p:pic>
      <p:pic>
        <p:nvPicPr>
          <p:cNvPr id="16" name="Picture 15" descr="A black and white sign with white text&#10;&#10;AI-generated content may be incorrect.">
            <a:extLst>
              <a:ext uri="{FF2B5EF4-FFF2-40B4-BE49-F238E27FC236}">
                <a16:creationId xmlns:a16="http://schemas.microsoft.com/office/drawing/2014/main" id="{C8D6538A-9482-CC7F-54C3-B4747B29CB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30345" y="6112991"/>
            <a:ext cx="927639" cy="600208"/>
          </a:xfrm>
          <a:prstGeom prst="rect">
            <a:avLst/>
          </a:prstGeom>
        </p:spPr>
      </p:pic>
      <p:pic>
        <p:nvPicPr>
          <p:cNvPr id="17" name="Picture 16">
            <a:extLst>
              <a:ext uri="{FF2B5EF4-FFF2-40B4-BE49-F238E27FC236}">
                <a16:creationId xmlns:a16="http://schemas.microsoft.com/office/drawing/2014/main" id="{42A170F2-F4D5-F1AB-A975-40C7FF21F517}"/>
              </a:ext>
            </a:extLst>
          </p:cNvPr>
          <p:cNvPicPr>
            <a:picLocks noChangeAspect="1"/>
          </p:cNvPicPr>
          <p:nvPr/>
        </p:nvPicPr>
        <p:blipFill>
          <a:blip r:embed="rId6"/>
          <a:srcRect t="18422" b="7716"/>
          <a:stretch>
            <a:fillRect/>
          </a:stretch>
        </p:blipFill>
        <p:spPr>
          <a:xfrm>
            <a:off x="790587" y="1580065"/>
            <a:ext cx="4686300" cy="759815"/>
          </a:xfrm>
          <a:prstGeom prst="rect">
            <a:avLst/>
          </a:prstGeom>
        </p:spPr>
      </p:pic>
    </p:spTree>
    <p:extLst>
      <p:ext uri="{BB962C8B-B14F-4D97-AF65-F5344CB8AC3E}">
        <p14:creationId xmlns:p14="http://schemas.microsoft.com/office/powerpoint/2010/main" val="15809889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3E8D3D9-B630-0D43-0D48-16BC50117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E50EC-85FE-BD96-9DF7-9778D4980A7E}"/>
              </a:ext>
            </a:extLst>
          </p:cNvPr>
          <p:cNvSpPr>
            <a:spLocks noGrp="1"/>
          </p:cNvSpPr>
          <p:nvPr>
            <p:ph type="ctrTitle"/>
          </p:nvPr>
        </p:nvSpPr>
        <p:spPr>
          <a:xfrm>
            <a:off x="417576" y="338329"/>
            <a:ext cx="10893552"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[Creating, moving and copying]</a:t>
            </a:r>
          </a:p>
        </p:txBody>
      </p:sp>
      <p:cxnSp>
        <p:nvCxnSpPr>
          <p:cNvPr id="5" name="Straight Connector 4">
            <a:extLst>
              <a:ext uri="{FF2B5EF4-FFF2-40B4-BE49-F238E27FC236}">
                <a16:creationId xmlns:a16="http://schemas.microsoft.com/office/drawing/2014/main" id="{7C115F24-7594-E047-E6E9-AD7480D29F9F}"/>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7025F29-6C4A-E65B-4BDA-C2EAF0495A71}"/>
              </a:ext>
            </a:extLst>
          </p:cNvPr>
          <p:cNvSpPr txBox="1"/>
          <p:nvPr/>
        </p:nvSpPr>
        <p:spPr>
          <a:xfrm>
            <a:off x="417576" y="1389886"/>
            <a:ext cx="9841992" cy="4801314"/>
          </a:xfrm>
          <a:prstGeom prst="rect">
            <a:avLst/>
          </a:prstGeom>
          <a:noFill/>
        </p:spPr>
        <p:txBody>
          <a:bodyPr wrap="square" rtlCol="0">
            <a:spAutoFit/>
          </a:bodyPr>
          <a:lstStyle/>
          <a:p>
            <a:pPr marL="285750"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mkdir</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make a new directory</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rmdir</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remove an empty directory</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cp 		copy a source to a destination (-r for directories)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mv		move a source to a destination</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rm		remove a file (-r for directories)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touch 	update the access date and/or modification date of a file, 		but if it does not exist the file is created, quite useful 		sometimes to reserve a filename.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6" name="Picture 6" descr="Free floppy disk media vector">
            <a:extLst>
              <a:ext uri="{FF2B5EF4-FFF2-40B4-BE49-F238E27FC236}">
                <a16:creationId xmlns:a16="http://schemas.microsoft.com/office/drawing/2014/main" id="{5EC1782E-D8BD-1B80-6658-C8C4745CD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3F1422B3-368D-2E8D-0618-87BAA808D1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14276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 calcmode="lin" valueType="num">
                                      <p:cBhvr additive="base">
                                        <p:cTn id="31"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 calcmode="lin" valueType="num">
                                      <p:cBhvr additive="base">
                                        <p:cTn id="3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738124A-495B-DF80-A203-6AE5D5A16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52D63-7180-F1C1-D086-3CFDE1F499EA}"/>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3]</a:t>
            </a:r>
          </a:p>
        </p:txBody>
      </p:sp>
      <p:cxnSp>
        <p:nvCxnSpPr>
          <p:cNvPr id="5" name="Straight Connector 4">
            <a:extLst>
              <a:ext uri="{FF2B5EF4-FFF2-40B4-BE49-F238E27FC236}">
                <a16:creationId xmlns:a16="http://schemas.microsoft.com/office/drawing/2014/main" id="{E14F4784-DD5F-6719-B0AE-68F34F128603}"/>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A4462F8-416B-7623-699B-0F565E98964C}"/>
              </a:ext>
            </a:extLst>
          </p:cNvPr>
          <p:cNvSpPr txBox="1"/>
          <p:nvPr/>
        </p:nvSpPr>
        <p:spPr>
          <a:xfrm>
            <a:off x="417575" y="1389886"/>
            <a:ext cx="11527991" cy="4247317"/>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Inside your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u_drive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directory create a new directory named house.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Inside the house directory create a few directories named living-room, toilet, dining-room and kitchen</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Create a file named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chair.file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inside the toilet, then move it to the dining-room.</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Copy the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chair.file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from the dining-room to the kitchen.</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Create a new file inside the kitchen named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shower.file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after that copy the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shower.file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into the toilet and then remove the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shower.file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from the kitchen.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Create more rooms/furniture and move and copy them around the house.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BCBF2405-76D4-8FF5-D187-DEE7D19FFD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6" name="Picture 6" descr="Free floppy disk media vector">
            <a:extLst>
              <a:ext uri="{FF2B5EF4-FFF2-40B4-BE49-F238E27FC236}">
                <a16:creationId xmlns:a16="http://schemas.microsoft.com/office/drawing/2014/main" id="{278BE590-2609-71A4-2985-A4B9122799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419813"/>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EECB5E-E960-F208-158B-B6A8D6976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CA466-DD22-8155-7C60-7FA8624B9BF1}"/>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r>
              <a:rPr lang="en-GB" sz="280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rsync</a:t>
            </a:r>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p>
        </p:txBody>
      </p:sp>
      <p:cxnSp>
        <p:nvCxnSpPr>
          <p:cNvPr id="5" name="Straight Connector 4">
            <a:extLst>
              <a:ext uri="{FF2B5EF4-FFF2-40B4-BE49-F238E27FC236}">
                <a16:creationId xmlns:a16="http://schemas.microsoft.com/office/drawing/2014/main" id="{DEA313AE-AA57-700F-D529-7C3BA7FAA38D}"/>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02B9275-64CF-4293-3AAA-024442311585}"/>
              </a:ext>
            </a:extLst>
          </p:cNvPr>
          <p:cNvSpPr txBox="1"/>
          <p:nvPr/>
        </p:nvSpPr>
        <p:spPr>
          <a:xfrm>
            <a:off x="417576" y="1051561"/>
            <a:ext cx="11527992" cy="4801314"/>
          </a:xfrm>
          <a:prstGeom prst="rect">
            <a:avLst/>
          </a:prstGeom>
          <a:noFill/>
        </p:spPr>
        <p:txBody>
          <a:bodyPr wrap="square" rtlCol="0">
            <a:spAutoFit/>
          </a:bodyPr>
          <a:lstStyle/>
          <a:p>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Unlike cp, which copies files in full each time,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detects and transfers only the parts of files that have changed. This makes it significantly faster and more efficient for repeated or large-scale syncs. Additionally,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supports powerful features and resume capabilities, which cp does not.</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Works locally or over SSH for remote sync.</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Supports exclusions, compression, and dry-run options.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Commonly used for backups and mirroring</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Basic flags:</a:t>
            </a:r>
          </a:p>
          <a:p>
            <a:pPr lvl="1"/>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 (archive): Enables recursive copy and preserves symbolic links, permissions, timestamps, group, and owner.</a:t>
            </a:r>
          </a:p>
          <a:p>
            <a:pPr lvl="1"/>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-v (verbose): Shows detailed output of what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is doing.</a:t>
            </a:r>
          </a:p>
          <a:p>
            <a:pPr lvl="1"/>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-z (compress): Compresses data during transfer (useful for slow network connections).</a:t>
            </a:r>
          </a:p>
        </p:txBody>
      </p:sp>
      <p:pic>
        <p:nvPicPr>
          <p:cNvPr id="4" name="Picture 6" descr="Free floppy disk media vector">
            <a:extLst>
              <a:ext uri="{FF2B5EF4-FFF2-40B4-BE49-F238E27FC236}">
                <a16:creationId xmlns:a16="http://schemas.microsoft.com/office/drawing/2014/main" id="{FCF77D19-3016-345B-4E14-B71A2BDB65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EA7FC791-D569-F764-02F5-74816FBE12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63372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 calcmode="lin" valueType="num">
                                      <p:cBhvr additive="base">
                                        <p:cTn id="31"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xEl>
                                              <p:pRg st="9" end="9"/>
                                            </p:txEl>
                                          </p:spTgt>
                                        </p:tgtEl>
                                        <p:attrNameLst>
                                          <p:attrName>style.visibility</p:attrName>
                                        </p:attrNameLst>
                                      </p:cBhvr>
                                      <p:to>
                                        <p:strVal val="visible"/>
                                      </p:to>
                                    </p:set>
                                    <p:anim calcmode="lin" valueType="num">
                                      <p:cBhvr additive="base">
                                        <p:cTn id="35"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txEl>
                                              <p:pRg st="10" end="10"/>
                                            </p:txEl>
                                          </p:spTgt>
                                        </p:tgtEl>
                                        <p:attrNameLst>
                                          <p:attrName>style.visibility</p:attrName>
                                        </p:attrNameLst>
                                      </p:cBhvr>
                                      <p:to>
                                        <p:strVal val="visible"/>
                                      </p:to>
                                    </p:set>
                                    <p:anim calcmode="lin" valueType="num">
                                      <p:cBhvr additive="base">
                                        <p:cTn id="39"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
                                            <p:txEl>
                                              <p:pRg st="11" end="11"/>
                                            </p:txEl>
                                          </p:spTgt>
                                        </p:tgtEl>
                                        <p:attrNameLst>
                                          <p:attrName>style.visibility</p:attrName>
                                        </p:attrNameLst>
                                      </p:cBhvr>
                                      <p:to>
                                        <p:strVal val="visible"/>
                                      </p:to>
                                    </p:set>
                                    <p:anim calcmode="lin" valueType="num">
                                      <p:cBhvr additive="base">
                                        <p:cTn id="43" dur="500" fill="hold"/>
                                        <p:tgtEl>
                                          <p:spTgt spid="10">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1758049-A858-B325-24F5-76E0DA932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D18DF-670C-F690-5100-604828D505BE}"/>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r>
              <a:rPr lang="en-GB" sz="280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rsync</a:t>
            </a:r>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 – Command Structure &amp; Examples]</a:t>
            </a:r>
          </a:p>
        </p:txBody>
      </p:sp>
      <p:cxnSp>
        <p:nvCxnSpPr>
          <p:cNvPr id="5" name="Straight Connector 4">
            <a:extLst>
              <a:ext uri="{FF2B5EF4-FFF2-40B4-BE49-F238E27FC236}">
                <a16:creationId xmlns:a16="http://schemas.microsoft.com/office/drawing/2014/main" id="{F3528DA5-7005-C539-0760-BAF44CA5A897}"/>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195D44C-48C5-0AF6-2C23-1CDABE3E1D07}"/>
              </a:ext>
            </a:extLst>
          </p:cNvPr>
          <p:cNvSpPr txBox="1"/>
          <p:nvPr/>
        </p:nvSpPr>
        <p:spPr>
          <a:xfrm>
            <a:off x="417575" y="1389886"/>
            <a:ext cx="11527992" cy="5078313"/>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Basic Syntax:</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[options] source destination</a:t>
            </a:r>
          </a:p>
          <a:p>
            <a:pPr marL="742950" lvl="1"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Examples: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Local sync:</a:t>
            </a:r>
          </a:p>
          <a:p>
            <a:pPr marL="1200150" lvl="2"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av</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/data/source/ /backup/data/</a:t>
            </a:r>
          </a:p>
          <a:p>
            <a:pPr marL="742950" lvl="1"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Remote sync over SSH:</a:t>
            </a:r>
          </a:p>
          <a:p>
            <a:pPr marL="1200150" lvl="2"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avz</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/data/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user@remote</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:/backup/</a:t>
            </a:r>
          </a:p>
          <a:p>
            <a:pPr marL="742950" lvl="1"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With exclusions:</a:t>
            </a:r>
          </a:p>
          <a:p>
            <a:pPr marL="1200150" lvl="2"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av</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--exclude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tmp</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/data/ /backup/</a:t>
            </a:r>
          </a:p>
          <a:p>
            <a:pPr marL="742950" lvl="1"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Dry run (preview changes):</a:t>
            </a:r>
          </a:p>
          <a:p>
            <a:pPr marL="1200150" lvl="2"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av</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--dry-run /data/ /backup/</a:t>
            </a:r>
          </a:p>
          <a:p>
            <a:pPr marL="742950" lvl="1"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013FE315-D14A-B23E-E946-40AF18261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EA51BDAC-8E77-0323-4B4B-38F4F16C4C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52835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anim calcmode="lin" valueType="num">
                                      <p:cBhvr additive="base">
                                        <p:cTn id="11"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 calcmode="lin" valueType="num">
                                      <p:cBhvr additive="base">
                                        <p:cTn id="1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anim calcmode="lin" valueType="num">
                                      <p:cBhvr additive="base">
                                        <p:cTn id="2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7" end="7"/>
                                            </p:txEl>
                                          </p:spTgt>
                                        </p:tgtEl>
                                        <p:attrNameLst>
                                          <p:attrName>style.visibility</p:attrName>
                                        </p:attrNameLst>
                                      </p:cBhvr>
                                      <p:to>
                                        <p:strVal val="visible"/>
                                      </p:to>
                                    </p:set>
                                    <p:anim calcmode="lin" valueType="num">
                                      <p:cBhvr additive="base">
                                        <p:cTn id="25"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9" end="9"/>
                                            </p:txEl>
                                          </p:spTgt>
                                        </p:tgtEl>
                                        <p:attrNameLst>
                                          <p:attrName>style.visibility</p:attrName>
                                        </p:attrNameLst>
                                      </p:cBhvr>
                                      <p:to>
                                        <p:strVal val="visible"/>
                                      </p:to>
                                    </p:set>
                                    <p:anim calcmode="lin" valueType="num">
                                      <p:cBhvr additive="base">
                                        <p:cTn id="29"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10" end="10"/>
                                            </p:txEl>
                                          </p:spTgt>
                                        </p:tgtEl>
                                        <p:attrNameLst>
                                          <p:attrName>style.visibility</p:attrName>
                                        </p:attrNameLst>
                                      </p:cBhvr>
                                      <p:to>
                                        <p:strVal val="visible"/>
                                      </p:to>
                                    </p:set>
                                    <p:anim calcmode="lin" valueType="num">
                                      <p:cBhvr additive="base">
                                        <p:cTn id="33"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xEl>
                                              <p:pRg st="12" end="12"/>
                                            </p:txEl>
                                          </p:spTgt>
                                        </p:tgtEl>
                                        <p:attrNameLst>
                                          <p:attrName>style.visibility</p:attrName>
                                        </p:attrNameLst>
                                      </p:cBhvr>
                                      <p:to>
                                        <p:strVal val="visible"/>
                                      </p:to>
                                    </p:set>
                                    <p:anim calcmode="lin" valueType="num">
                                      <p:cBhvr additive="base">
                                        <p:cTn id="37" dur="500" fill="hold"/>
                                        <p:tgtEl>
                                          <p:spTgt spid="10">
                                            <p:txEl>
                                              <p:pRg st="12" end="1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12" end="12"/>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0">
                                            <p:txEl>
                                              <p:pRg st="13" end="13"/>
                                            </p:txEl>
                                          </p:spTgt>
                                        </p:tgtEl>
                                        <p:attrNameLst>
                                          <p:attrName>style.visibility</p:attrName>
                                        </p:attrNameLst>
                                      </p:cBhvr>
                                      <p:to>
                                        <p:strVal val="visible"/>
                                      </p:to>
                                    </p:set>
                                    <p:anim calcmode="lin" valueType="num">
                                      <p:cBhvr additive="base">
                                        <p:cTn id="41" dur="500" fill="hold"/>
                                        <p:tgtEl>
                                          <p:spTgt spid="10">
                                            <p:txEl>
                                              <p:pRg st="13" end="1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13" end="13"/>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0">
                                            <p:txEl>
                                              <p:pRg st="15" end="15"/>
                                            </p:txEl>
                                          </p:spTgt>
                                        </p:tgtEl>
                                        <p:attrNameLst>
                                          <p:attrName>style.visibility</p:attrName>
                                        </p:attrNameLst>
                                      </p:cBhvr>
                                      <p:to>
                                        <p:strVal val="visible"/>
                                      </p:to>
                                    </p:set>
                                    <p:anim calcmode="lin" valueType="num">
                                      <p:cBhvr additive="base">
                                        <p:cTn id="45" dur="500" fill="hold"/>
                                        <p:tgtEl>
                                          <p:spTgt spid="10">
                                            <p:txEl>
                                              <p:pRg st="15" end="1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0">
                                            <p:txEl>
                                              <p:pRg st="15" end="15"/>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
                                            <p:txEl>
                                              <p:pRg st="16" end="16"/>
                                            </p:txEl>
                                          </p:spTgt>
                                        </p:tgtEl>
                                        <p:attrNameLst>
                                          <p:attrName>style.visibility</p:attrName>
                                        </p:attrNameLst>
                                      </p:cBhvr>
                                      <p:to>
                                        <p:strVal val="visible"/>
                                      </p:to>
                                    </p:set>
                                    <p:anim calcmode="lin" valueType="num">
                                      <p:cBhvr additive="base">
                                        <p:cTn id="49" dur="500" fill="hold"/>
                                        <p:tgtEl>
                                          <p:spTgt spid="10">
                                            <p:txEl>
                                              <p:pRg st="16" end="1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FADC358-FBBE-5816-0193-78EB4A92D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D391C-F987-28E2-8D68-105EDCC66553}"/>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[Working with compressed data]</a:t>
            </a:r>
          </a:p>
        </p:txBody>
      </p:sp>
      <p:cxnSp>
        <p:nvCxnSpPr>
          <p:cNvPr id="5" name="Straight Connector 4">
            <a:extLst>
              <a:ext uri="{FF2B5EF4-FFF2-40B4-BE49-F238E27FC236}">
                <a16:creationId xmlns:a16="http://schemas.microsoft.com/office/drawing/2014/main" id="{C65111BA-5E05-7D4D-F059-85AE74E17BE1}"/>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2E0526C-68D9-0F4B-A6B5-FE0A7F621E55}"/>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A704D298-EAD3-467C-C904-11CF92D40C42}"/>
              </a:ext>
            </a:extLst>
          </p:cNvPr>
          <p:cNvSpPr txBox="1"/>
          <p:nvPr/>
        </p:nvSpPr>
        <p:spPr>
          <a:xfrm>
            <a:off x="417576" y="1362176"/>
            <a:ext cx="11177016" cy="4524315"/>
          </a:xfrm>
          <a:prstGeom prst="rect">
            <a:avLst/>
          </a:prstGeom>
          <a:noFill/>
        </p:spPr>
        <p:txBody>
          <a:bodyPr wrap="square" rtlCol="0">
            <a:spAutoFit/>
          </a:bodyPr>
          <a:lstStyle/>
          <a:p>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Bioinformatics files are huge, and compression reduces storage needs, speeds up transfers, and minimises I/O bottlenecks. Many tools can process compressed files directly, improving efficiency.</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gzip</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compress a file and adds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gz</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extension.</a:t>
            </a:r>
          </a:p>
          <a:p>
            <a:pPr marL="285750"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gunzip</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decompress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gz</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files.</a:t>
            </a:r>
          </a:p>
          <a:p>
            <a:pPr marL="285750" indent="-285750">
              <a:buFontTx/>
              <a:buChar char="-"/>
            </a:pP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zcat</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view or concatenate compressed files without decompressing.</a:t>
            </a: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 — archive multiple files into one (a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tarball</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 examples:</a:t>
            </a: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cvf</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archive.tar file1 file2 → create a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tarball</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containing file1 and file2</a:t>
            </a: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xvf</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archive.tar → extract contents from archive.tar</a:t>
            </a: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czvf</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archive.tar.gz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dir</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compress a directory into a .tar.gz archive</a:t>
            </a: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tar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xzvf</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archive.tar.gz → extract a .tar.gz archive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520529E-B458-AD38-66E6-90D3051CFC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3DD33CE3-311C-A1BB-A298-46D21F77E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5572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 calcmode="lin" valueType="num">
                                      <p:cBhvr additive="base">
                                        <p:cTn id="3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
                                            <p:txEl>
                                              <p:pRg st="8" end="8"/>
                                            </p:txEl>
                                          </p:spTgt>
                                        </p:tgtEl>
                                        <p:attrNameLst>
                                          <p:attrName>style.visibility</p:attrName>
                                        </p:attrNameLst>
                                      </p:cBhvr>
                                      <p:to>
                                        <p:strVal val="visible"/>
                                      </p:to>
                                    </p:set>
                                    <p:anim calcmode="lin" valueType="num">
                                      <p:cBhvr additive="base">
                                        <p:cTn id="4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7">
                                            <p:txEl>
                                              <p:pRg st="9" end="9"/>
                                            </p:txEl>
                                          </p:spTgt>
                                        </p:tgtEl>
                                        <p:attrNameLst>
                                          <p:attrName>style.visibility</p:attrName>
                                        </p:attrNameLst>
                                      </p:cBhvr>
                                      <p:to>
                                        <p:strVal val="visible"/>
                                      </p:to>
                                    </p:set>
                                    <p:anim calcmode="lin" valueType="num">
                                      <p:cBhvr additive="base">
                                        <p:cTn id="4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7">
                                            <p:txEl>
                                              <p:pRg st="10" end="10"/>
                                            </p:txEl>
                                          </p:spTgt>
                                        </p:tgtEl>
                                        <p:attrNameLst>
                                          <p:attrName>style.visibility</p:attrName>
                                        </p:attrNameLst>
                                      </p:cBhvr>
                                      <p:to>
                                        <p:strVal val="visible"/>
                                      </p:to>
                                    </p:set>
                                    <p:anim calcmode="lin" valueType="num">
                                      <p:cBhvr additive="base">
                                        <p:cTn id="4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7">
                                            <p:txEl>
                                              <p:pRg st="11" end="11"/>
                                            </p:txEl>
                                          </p:spTgt>
                                        </p:tgtEl>
                                        <p:attrNameLst>
                                          <p:attrName>style.visibility</p:attrName>
                                        </p:attrNameLst>
                                      </p:cBhvr>
                                      <p:to>
                                        <p:strVal val="visible"/>
                                      </p:to>
                                    </p:set>
                                    <p:anim calcmode="lin" valueType="num">
                                      <p:cBhvr additive="base">
                                        <p:cTn id="53"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47E793-9F74-CAC7-3432-6EAD33F36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CFC82-1A25-D443-DA90-8F4AF34F0025}"/>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4]</a:t>
            </a:r>
          </a:p>
        </p:txBody>
      </p:sp>
      <p:cxnSp>
        <p:nvCxnSpPr>
          <p:cNvPr id="5" name="Straight Connector 4">
            <a:extLst>
              <a:ext uri="{FF2B5EF4-FFF2-40B4-BE49-F238E27FC236}">
                <a16:creationId xmlns:a16="http://schemas.microsoft.com/office/drawing/2014/main" id="{426C51BE-FD30-F769-1376-21B2984A6F29}"/>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162997B-89C1-1A07-CB43-53F509EC2227}"/>
              </a:ext>
            </a:extLst>
          </p:cNvPr>
          <p:cNvSpPr txBox="1"/>
          <p:nvPr/>
        </p:nvSpPr>
        <p:spPr>
          <a:xfrm>
            <a:off x="417575" y="1389886"/>
            <a:ext cx="11527991" cy="3693319"/>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Exercise 1: copy the folder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compressing_exercise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using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rsync</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from / into your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u_drive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directory in your home.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Exercise 2: Compress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reference.fastq</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using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gzip</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Exercise 3: View the contents without decompressing.</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Exercise 4: Uncompress the file.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Exercise 5: compress the data/ folder. Check the size using du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data/ data_archive.tar.gz.</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Exercise 6: Remove the current data/ folder and extract it from the archive.</a:t>
            </a:r>
          </a:p>
        </p:txBody>
      </p:sp>
      <p:pic>
        <p:nvPicPr>
          <p:cNvPr id="4" name="Picture 6" descr="Free floppy disk media vector">
            <a:extLst>
              <a:ext uri="{FF2B5EF4-FFF2-40B4-BE49-F238E27FC236}">
                <a16:creationId xmlns:a16="http://schemas.microsoft.com/office/drawing/2014/main" id="{B2CFBE8C-8087-D92A-521C-EFC7EC1BE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8ABB61BF-8BD7-DC2E-D7B5-D2FB16341D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7034741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4E242CA-1A44-3D78-65E8-FD83A0FB538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0091966-FE0A-0B37-2D58-6B8B1AE0E2AA}"/>
              </a:ext>
            </a:extLst>
          </p:cNvPr>
          <p:cNvSpPr/>
          <p:nvPr/>
        </p:nvSpPr>
        <p:spPr>
          <a:xfrm>
            <a:off x="731520" y="4686403"/>
            <a:ext cx="10030968" cy="646331"/>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0A0513B-44A4-A3A7-C78D-8F1DB8D561E6}"/>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[md5sum – File Integrity Check]</a:t>
            </a:r>
          </a:p>
        </p:txBody>
      </p:sp>
      <p:cxnSp>
        <p:nvCxnSpPr>
          <p:cNvPr id="5" name="Straight Connector 4">
            <a:extLst>
              <a:ext uri="{FF2B5EF4-FFF2-40B4-BE49-F238E27FC236}">
                <a16:creationId xmlns:a16="http://schemas.microsoft.com/office/drawing/2014/main" id="{FC40DC2D-CEB1-71FA-0664-6E711F45605F}"/>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2B9798A-BCA9-F549-D98A-D204EF279AF2}"/>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481D1F69-6C3B-CB82-608D-7E1EBC356FA2}"/>
              </a:ext>
            </a:extLst>
          </p:cNvPr>
          <p:cNvSpPr txBox="1"/>
          <p:nvPr/>
        </p:nvSpPr>
        <p:spPr>
          <a:xfrm>
            <a:off x="417576" y="1362176"/>
            <a:ext cx="10527792" cy="5355312"/>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Calculates a 128-bit hash (checksum) for files.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Used to verify file integrity after transfers or backups.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Simple to use: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md5sum filename (can be piped to a file &gt; checksum.txt).</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Compare with expected checksum:</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md5sum -c checksums.txt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Note: Recompressing or uncompressing a file changes its MD5 — even if the original content remains the same.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23C088C7-92E7-5B46-7DD1-51E5EE040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sign with white text&#10;&#10;AI-generated content may be incorrect.">
            <a:extLst>
              <a:ext uri="{FF2B5EF4-FFF2-40B4-BE49-F238E27FC236}">
                <a16:creationId xmlns:a16="http://schemas.microsoft.com/office/drawing/2014/main" id="{72D4FF5A-EB51-DB4B-61E7-90C3F713D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53662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 calcmode="lin" valueType="num">
                                      <p:cBhvr additive="base">
                                        <p:cTn id="2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anim calcmode="lin" valueType="num">
                                      <p:cBhvr additive="base">
                                        <p:cTn id="2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anim calcmode="lin" valueType="num">
                                      <p:cBhvr additive="base">
                                        <p:cTn id="33"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xEl>
                                              <p:pRg st="12" end="12"/>
                                            </p:txEl>
                                          </p:spTgt>
                                        </p:tgtEl>
                                        <p:attrNameLst>
                                          <p:attrName>style.visibility</p:attrName>
                                        </p:attrNameLst>
                                      </p:cBhvr>
                                      <p:to>
                                        <p:strVal val="visible"/>
                                      </p:to>
                                    </p:set>
                                    <p:anim calcmode="lin" valueType="num">
                                      <p:cBhvr additive="base">
                                        <p:cTn id="39"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A08AF91-B9EE-44C2-8E13-B1827B13C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F2DDE-BE72-E505-C835-07CFDF32733C}"/>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5]</a:t>
            </a:r>
          </a:p>
        </p:txBody>
      </p:sp>
      <p:cxnSp>
        <p:nvCxnSpPr>
          <p:cNvPr id="5" name="Straight Connector 4">
            <a:extLst>
              <a:ext uri="{FF2B5EF4-FFF2-40B4-BE49-F238E27FC236}">
                <a16:creationId xmlns:a16="http://schemas.microsoft.com/office/drawing/2014/main" id="{D8DB1793-F215-DF0D-2809-59BED35E3275}"/>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988901A-67A9-05B4-6B1E-E2A1C494D6F4}"/>
              </a:ext>
            </a:extLst>
          </p:cNvPr>
          <p:cNvSpPr txBox="1"/>
          <p:nvPr/>
        </p:nvSpPr>
        <p:spPr>
          <a:xfrm>
            <a:off x="417575" y="1389886"/>
            <a:ext cx="11527991" cy="2308324"/>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a:t>
            </a:r>
            <a:r>
              <a:rPr lang="en-GB" sz="180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reate the </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md5sum from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reference.fastq</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Copy the file and get the md5sum from the new file and compare it to the old one.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Add a space to the file and get the md5sum, compare it to the original.</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Remove the space and get again the md5sum. What has happened?</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7D8DBEE-B514-3FC8-9993-C8BE44960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BE1EE28E-8213-25AA-7336-8D7709299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0965808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598E6A-A607-7415-48B4-987225EF7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73C4C-3C64-63B7-2FFE-D317F4F45CEB}"/>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[Find]</a:t>
            </a:r>
          </a:p>
        </p:txBody>
      </p:sp>
      <p:cxnSp>
        <p:nvCxnSpPr>
          <p:cNvPr id="5" name="Straight Connector 4">
            <a:extLst>
              <a:ext uri="{FF2B5EF4-FFF2-40B4-BE49-F238E27FC236}">
                <a16:creationId xmlns:a16="http://schemas.microsoft.com/office/drawing/2014/main" id="{0887FD3C-67F1-37D6-42CA-CF45B80AAD1F}"/>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C4AE0A2-3424-56E1-70CF-1BFC61BD780C}"/>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B6181460-B0CD-2C5C-145B-7C47302E5A08}"/>
              </a:ext>
            </a:extLst>
          </p:cNvPr>
          <p:cNvSpPr txBox="1"/>
          <p:nvPr/>
        </p:nvSpPr>
        <p:spPr>
          <a:xfrm>
            <a:off x="417576" y="1224222"/>
            <a:ext cx="10674096" cy="5909310"/>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Search for files and directories based on name, type, size, or other attributes.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[path] [options] [expression]</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by name: find /home/user -name "file.txt"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by type: find /var -type d (directories) / find /var -type f (files)</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by size: find / -size +100M (files larger than 100 MB)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Tips: </a:t>
            </a:r>
          </a:p>
          <a:p>
            <a:pPr lvl="2"/>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current directory</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2"/>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iname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case-insensitive name search</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2"/>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mtime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 files modified in the last N days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5BA063BF-27B1-883D-33CD-C19546D1D7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58546ACB-0D21-D9F9-F8A4-DBDE2A9D3B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
        <p:nvSpPr>
          <p:cNvPr id="6" name="Rectangle 1">
            <a:extLst>
              <a:ext uri="{FF2B5EF4-FFF2-40B4-BE49-F238E27FC236}">
                <a16:creationId xmlns:a16="http://schemas.microsoft.com/office/drawing/2014/main" id="{6101F733-4C28-5B7D-B84F-33FE25B4115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a:rPr>
              <a:t>.</a:t>
            </a:r>
            <a:r>
              <a:rPr kumimoji="0" lang="en-US" altLang="en-US" sz="800" b="0" i="0" u="none" strike="noStrike" cap="none" normalizeH="0" baseline="0">
                <a:ln>
                  <a:noFill/>
                </a:ln>
                <a:solidFill>
                  <a:schemeClr val="tx1"/>
                </a:solidFill>
                <a:effectLst/>
              </a:rPr>
              <a:t> → current directory</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a:rPr>
              <a:t>-iname</a:t>
            </a:r>
            <a:r>
              <a:rPr kumimoji="0" lang="en-US" altLang="en-US" sz="800" b="0" i="0" u="none" strike="noStrike" cap="none" normalizeH="0" baseline="0">
                <a:ln>
                  <a:noFill/>
                </a:ln>
                <a:solidFill>
                  <a:schemeClr val="tx1"/>
                </a:solidFill>
                <a:effectLst/>
              </a:rPr>
              <a:t> → case-insensitive name search</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a:rPr>
              <a:t>-mtime</a:t>
            </a:r>
            <a:r>
              <a:rPr kumimoji="0" lang="en-US" altLang="en-US" sz="800" b="0" i="0" u="none" strike="noStrike" cap="none" normalizeH="0" baseline="0">
                <a:ln>
                  <a:noFill/>
                </a:ln>
                <a:solidFill>
                  <a:schemeClr val="tx1"/>
                </a:solidFill>
                <a:effectLst/>
              </a:rPr>
              <a:t> → files modified in last N days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03A92489-3AB9-6E8E-82CA-1CB3A1F13ED5}"/>
              </a:ext>
            </a:extLst>
          </p:cNvPr>
          <p:cNvSpPr/>
          <p:nvPr/>
        </p:nvSpPr>
        <p:spPr>
          <a:xfrm>
            <a:off x="7003059" y="4024462"/>
            <a:ext cx="4629354" cy="23510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Examples:</a:t>
            </a:r>
          </a:p>
          <a:p>
            <a:endParaRPr lang="en-GB" sz="7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 -name "*.fastq.gz"</a:t>
            </a: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 -name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fastq</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 -type f -size +100M</a:t>
            </a: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 -type f -size +1M</a:t>
            </a: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 -type f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mtime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+5000</a:t>
            </a:r>
          </a:p>
        </p:txBody>
      </p:sp>
    </p:spTree>
    <p:extLst>
      <p:ext uri="{BB962C8B-B14F-4D97-AF65-F5344CB8AC3E}">
        <p14:creationId xmlns:p14="http://schemas.microsoft.com/office/powerpoint/2010/main" val="4258467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CF4E6CA-7733-EF9F-732C-FB12CE97F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2FD56-98C0-EB10-2805-2B1163CDCF9A}"/>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6]</a:t>
            </a:r>
          </a:p>
        </p:txBody>
      </p:sp>
      <p:cxnSp>
        <p:nvCxnSpPr>
          <p:cNvPr id="5" name="Straight Connector 4">
            <a:extLst>
              <a:ext uri="{FF2B5EF4-FFF2-40B4-BE49-F238E27FC236}">
                <a16:creationId xmlns:a16="http://schemas.microsoft.com/office/drawing/2014/main" id="{22A82363-853F-2FE8-1E98-3AE2E09F5209}"/>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A263AFF-E235-F8D5-CFCA-9222DFB3B394}"/>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4F9143FA-9649-93F7-C178-B1E8179CF85E}"/>
              </a:ext>
            </a:extLst>
          </p:cNvPr>
          <p:cNvSpPr txBox="1"/>
          <p:nvPr/>
        </p:nvSpPr>
        <p:spPr>
          <a:xfrm>
            <a:off x="417576" y="1362176"/>
            <a:ext cx="10674096" cy="3139321"/>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Copy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datamanagement</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to your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u_drive</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folder.</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uncompressed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fasta</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files in there and compress them.</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any file bigger than 100MB</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Find the files older than a year in the original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datamanagement</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directory </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D3AD0264-B656-6FCA-B89B-E8EBC8A34A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019B2488-ADAE-2876-4C25-AFBDABADEB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5216658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B691773-1490-FFBA-4F8C-6CC9A8B9B886}"/>
            </a:ext>
          </a:extLst>
        </p:cNvPr>
        <p:cNvGrpSpPr/>
        <p:nvPr/>
      </p:nvGrpSpPr>
      <p:grpSpPr>
        <a:xfrm>
          <a:off x="0" y="0"/>
          <a:ext cx="0" cy="0"/>
          <a:chOff x="0" y="0"/>
          <a:chExt cx="0" cy="0"/>
        </a:xfrm>
      </p:grpSpPr>
      <p:pic>
        <p:nvPicPr>
          <p:cNvPr id="1026" name="Picture 2" descr="Planet Earth — Everything you need to know | Space">
            <a:extLst>
              <a:ext uri="{FF2B5EF4-FFF2-40B4-BE49-F238E27FC236}">
                <a16:creationId xmlns:a16="http://schemas.microsoft.com/office/drawing/2014/main" id="{B1D24948-6470-14DD-9EBB-842DA114B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572" y="3663255"/>
            <a:ext cx="5335504" cy="30012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8D226CF-971D-648B-891A-67E9E13B0DEC}"/>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[Big data -&gt; HPC Storage]</a:t>
            </a:r>
          </a:p>
        </p:txBody>
      </p:sp>
      <p:cxnSp>
        <p:nvCxnSpPr>
          <p:cNvPr id="5" name="Straight Connector 4">
            <a:extLst>
              <a:ext uri="{FF2B5EF4-FFF2-40B4-BE49-F238E27FC236}">
                <a16:creationId xmlns:a16="http://schemas.microsoft.com/office/drawing/2014/main" id="{598DB9F5-D6A0-889A-4B21-FC81A7BA2CB0}"/>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4A619AD-2D24-9F13-AAC1-ADEA01F43A45}"/>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7A140776-E9D1-D7FA-E17D-68634AED22C0}"/>
              </a:ext>
            </a:extLst>
          </p:cNvPr>
          <p:cNvSpPr txBox="1"/>
          <p:nvPr/>
        </p:nvSpPr>
        <p:spPr>
          <a:xfrm>
            <a:off x="417576" y="1362176"/>
            <a:ext cx="10674096" cy="3139321"/>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So far, the scope has been restricted to small datasets, but the aim of this course is to handle large sequences, big batches of images… in other words, big scientific data.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As mentioned earlier, the data should be stored on the NBI HPC storage.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Research Computing manages between all of the institutes’ resources more than 40PB of data storage across over 3500 disk drives, with an additional over 600TB used solely for performance.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D9EE282E-645F-3DFC-7C25-5CDBD3C66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310EC46C-9FAB-F7D5-8913-608D189498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13" name="Picture 12" descr="A blue and white semi truck&#10;&#10;AI-generated content may be incorrect.">
            <a:extLst>
              <a:ext uri="{FF2B5EF4-FFF2-40B4-BE49-F238E27FC236}">
                <a16:creationId xmlns:a16="http://schemas.microsoft.com/office/drawing/2014/main" id="{A905B9B7-0CC6-C989-3A02-B15EAA98C7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99621" y="5667677"/>
            <a:ext cx="2202388" cy="810844"/>
          </a:xfrm>
          <a:prstGeom prst="rect">
            <a:avLst/>
          </a:prstGeom>
        </p:spPr>
      </p:pic>
    </p:spTree>
    <p:extLst>
      <p:ext uri="{BB962C8B-B14F-4D97-AF65-F5344CB8AC3E}">
        <p14:creationId xmlns:p14="http://schemas.microsoft.com/office/powerpoint/2010/main" val="145677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E094F79-53C0-7226-77E9-85C48BAD5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0A3AB-4874-671F-6082-E737D1766887}"/>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[Accessing HPC storage from Windows ]</a:t>
            </a:r>
          </a:p>
        </p:txBody>
      </p:sp>
      <p:cxnSp>
        <p:nvCxnSpPr>
          <p:cNvPr id="5" name="Straight Connector 4">
            <a:extLst>
              <a:ext uri="{FF2B5EF4-FFF2-40B4-BE49-F238E27FC236}">
                <a16:creationId xmlns:a16="http://schemas.microsoft.com/office/drawing/2014/main" id="{9A4349F7-94BB-83BA-F906-08A186172B8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FDD6320-F009-BD53-8068-9D0A737C2717}"/>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4D00C83E-6EBF-9FA9-5DC3-EF5247C1342E}"/>
              </a:ext>
            </a:extLst>
          </p:cNvPr>
          <p:cNvSpPr txBox="1"/>
          <p:nvPr/>
        </p:nvSpPr>
        <p:spPr>
          <a:xfrm>
            <a:off x="417576" y="1362176"/>
            <a:ext cx="9841992" cy="1200329"/>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9FACC539-D829-F63F-959A-AC473DF40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AE2626C-D3AF-BD9F-4680-9031B8D32379}"/>
              </a:ext>
            </a:extLst>
          </p:cNvPr>
          <p:cNvPicPr>
            <a:picLocks noChangeAspect="1"/>
          </p:cNvPicPr>
          <p:nvPr/>
        </p:nvPicPr>
        <p:blipFill>
          <a:blip r:embed="rId4"/>
          <a:srcRect r="17837" b="16065"/>
          <a:stretch/>
        </p:blipFill>
        <p:spPr>
          <a:xfrm>
            <a:off x="1150620" y="1176786"/>
            <a:ext cx="9841991" cy="5092929"/>
          </a:xfrm>
          <a:prstGeom prst="rect">
            <a:avLst/>
          </a:prstGeom>
        </p:spPr>
      </p:pic>
      <p:pic>
        <p:nvPicPr>
          <p:cNvPr id="3" name="Picture 2" descr="A black and white sign with white text&#10;&#10;AI-generated content may be incorrect.">
            <a:extLst>
              <a:ext uri="{FF2B5EF4-FFF2-40B4-BE49-F238E27FC236}">
                <a16:creationId xmlns:a16="http://schemas.microsoft.com/office/drawing/2014/main" id="{D14FBC0C-BECF-AA55-8CEE-7AF5F1B4E0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
        <p:nvSpPr>
          <p:cNvPr id="8" name="TextBox 7">
            <a:extLst>
              <a:ext uri="{FF2B5EF4-FFF2-40B4-BE49-F238E27FC236}">
                <a16:creationId xmlns:a16="http://schemas.microsoft.com/office/drawing/2014/main" id="{D53BDE3D-0167-4E03-F883-043B69ECAA0A}"/>
              </a:ext>
            </a:extLst>
          </p:cNvPr>
          <p:cNvSpPr txBox="1"/>
          <p:nvPr/>
        </p:nvSpPr>
        <p:spPr>
          <a:xfrm>
            <a:off x="2873721" y="6335005"/>
            <a:ext cx="6395787" cy="369332"/>
          </a:xfrm>
          <a:prstGeom prst="rect">
            <a:avLst/>
          </a:prstGeom>
          <a:noFill/>
        </p:spPr>
        <p:txBody>
          <a:bodyPr wrap="square">
            <a:spAutoFit/>
          </a:bodyP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\\jic-hpc-data\HPC-Home for the home directory </a:t>
            </a:r>
          </a:p>
        </p:txBody>
      </p:sp>
    </p:spTree>
    <p:extLst>
      <p:ext uri="{BB962C8B-B14F-4D97-AF65-F5344CB8AC3E}">
        <p14:creationId xmlns:p14="http://schemas.microsoft.com/office/powerpoint/2010/main" val="42454954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0CE0614-5846-E577-9719-6CB4A2398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F0485-5B7F-D6D1-0D97-14034B9B1A42}"/>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[Accessing HPC storage from macOS ]</a:t>
            </a:r>
          </a:p>
        </p:txBody>
      </p:sp>
      <p:pic>
        <p:nvPicPr>
          <p:cNvPr id="1026" name="Picture 2" descr="Appointment of Director">
            <a:extLst>
              <a:ext uri="{FF2B5EF4-FFF2-40B4-BE49-F238E27FC236}">
                <a16:creationId xmlns:a16="http://schemas.microsoft.com/office/drawing/2014/main" id="{54CEF880-A8B6-8681-6040-1F92C0987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95" y="6204682"/>
            <a:ext cx="1079772" cy="50851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4DA70D65-11EE-2C83-AB45-12AFB06AC987}"/>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8EB4B90-E2FC-5794-A7C0-E6987AB582D1}"/>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CD223486-B4FE-FD94-7AE9-EFA839C08329}"/>
              </a:ext>
            </a:extLst>
          </p:cNvPr>
          <p:cNvSpPr txBox="1"/>
          <p:nvPr/>
        </p:nvSpPr>
        <p:spPr>
          <a:xfrm>
            <a:off x="417576" y="1362176"/>
            <a:ext cx="9841992" cy="1200329"/>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A79A7812-6BD0-3288-84DF-C9EB88A86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6EDE69E-9F38-D89A-5D6C-571894C76B53}"/>
              </a:ext>
            </a:extLst>
          </p:cNvPr>
          <p:cNvPicPr>
            <a:picLocks noChangeAspect="1"/>
          </p:cNvPicPr>
          <p:nvPr/>
        </p:nvPicPr>
        <p:blipFill>
          <a:blip r:embed="rId4"/>
          <a:srcRect b="14266"/>
          <a:stretch/>
        </p:blipFill>
        <p:spPr>
          <a:xfrm>
            <a:off x="1737564" y="1216227"/>
            <a:ext cx="8716872" cy="4663365"/>
          </a:xfrm>
          <a:prstGeom prst="rect">
            <a:avLst/>
          </a:prstGeom>
        </p:spPr>
      </p:pic>
    </p:spTree>
    <p:extLst>
      <p:ext uri="{BB962C8B-B14F-4D97-AF65-F5344CB8AC3E}">
        <p14:creationId xmlns:p14="http://schemas.microsoft.com/office/powerpoint/2010/main" val="13404261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59E1608-9BCA-765B-6481-89E101E44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E089A-29C0-3F85-37B5-0B7A12F72F12}"/>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[Accessing HPC storage from Linux ]</a:t>
            </a:r>
          </a:p>
        </p:txBody>
      </p:sp>
      <p:cxnSp>
        <p:nvCxnSpPr>
          <p:cNvPr id="5" name="Straight Connector 4">
            <a:extLst>
              <a:ext uri="{FF2B5EF4-FFF2-40B4-BE49-F238E27FC236}">
                <a16:creationId xmlns:a16="http://schemas.microsoft.com/office/drawing/2014/main" id="{7449FE7E-74A4-C6E9-8518-9E9084A1E2C4}"/>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6B78DB4-FE36-F1F2-CB3E-C2AF03D7A101}"/>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36601340-33FF-2C0B-423C-51BB54189102}"/>
              </a:ext>
            </a:extLst>
          </p:cNvPr>
          <p:cNvSpPr txBox="1"/>
          <p:nvPr/>
        </p:nvSpPr>
        <p:spPr>
          <a:xfrm>
            <a:off x="417576" y="1362176"/>
            <a:ext cx="9841992" cy="1200329"/>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F2687572-36CF-4053-3803-7353B034C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293216B-EBFD-12AE-F932-0F0A06AE0570}"/>
              </a:ext>
            </a:extLst>
          </p:cNvPr>
          <p:cNvSpPr txBox="1"/>
          <p:nvPr/>
        </p:nvSpPr>
        <p:spPr>
          <a:xfrm>
            <a:off x="417576" y="1362176"/>
            <a:ext cx="10321760" cy="1754326"/>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As a Linux user you are brave enough and you are on your own.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Jokes aside, you need </a:t>
            </a:r>
            <a:r>
              <a:rPr lang="en-GB"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sudo</a:t>
            </a: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rights at least to run the “mount” command. </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This is an example on hoy to mount the project scratch folder:</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11" name="Picture 10">
            <a:extLst>
              <a:ext uri="{FF2B5EF4-FFF2-40B4-BE49-F238E27FC236}">
                <a16:creationId xmlns:a16="http://schemas.microsoft.com/office/drawing/2014/main" id="{C815C86D-0575-25F5-7CF3-4649C8C4507D}"/>
              </a:ext>
            </a:extLst>
          </p:cNvPr>
          <p:cNvPicPr>
            <a:picLocks noChangeAspect="1"/>
          </p:cNvPicPr>
          <p:nvPr/>
        </p:nvPicPr>
        <p:blipFill>
          <a:blip r:embed="rId3"/>
          <a:stretch>
            <a:fillRect/>
          </a:stretch>
        </p:blipFill>
        <p:spPr>
          <a:xfrm>
            <a:off x="461962" y="3415007"/>
            <a:ext cx="11268075" cy="1381125"/>
          </a:xfrm>
          <a:prstGeom prst="rect">
            <a:avLst/>
          </a:prstGeom>
        </p:spPr>
      </p:pic>
      <p:pic>
        <p:nvPicPr>
          <p:cNvPr id="3" name="Picture 2" descr="A black and white sign with white text&#10;&#10;AI-generated content may be incorrect.">
            <a:extLst>
              <a:ext uri="{FF2B5EF4-FFF2-40B4-BE49-F238E27FC236}">
                <a16:creationId xmlns:a16="http://schemas.microsoft.com/office/drawing/2014/main" id="{863052CB-BF2E-04E4-E8F4-95D21C057B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8605344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1A3928D-E4BC-B1E4-D1C6-5653ED148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50383-C3FA-1E08-3614-41E586A78CC6}"/>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[Uploading to EBI]</a:t>
            </a:r>
          </a:p>
        </p:txBody>
      </p:sp>
      <p:cxnSp>
        <p:nvCxnSpPr>
          <p:cNvPr id="5" name="Straight Connector 4">
            <a:extLst>
              <a:ext uri="{FF2B5EF4-FFF2-40B4-BE49-F238E27FC236}">
                <a16:creationId xmlns:a16="http://schemas.microsoft.com/office/drawing/2014/main" id="{88B245E9-5875-15CF-9642-0C089B2C7CE2}"/>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2D4C56B-5F30-F848-7383-B71BD9C0322F}"/>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4CB78523-5E8E-9141-16F9-E731D473AAE5}"/>
              </a:ext>
            </a:extLst>
          </p:cNvPr>
          <p:cNvSpPr txBox="1"/>
          <p:nvPr/>
        </p:nvSpPr>
        <p:spPr>
          <a:xfrm>
            <a:off x="417575" y="1153455"/>
            <a:ext cx="11045952" cy="6155531"/>
          </a:xfrm>
          <a:prstGeom prst="rect">
            <a:avLst/>
          </a:prstGeom>
          <a:noFill/>
        </p:spPr>
        <p:txBody>
          <a:bodyPr wrap="square" rtlCol="0">
            <a:spAutoFit/>
          </a:bodyPr>
          <a:lstStyle/>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Two main systems of interest</a:t>
            </a:r>
          </a:p>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ENA – for sequence data</a:t>
            </a:r>
          </a:p>
          <a:p>
            <a:pPr lvl="1">
              <a:lnSpc>
                <a:spcPct val="150000"/>
              </a:lnSpc>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rPr>
              <a:t>https://www.ebi.ac.uk/ena/submit/webin/</a:t>
            </a:r>
            <a:endPar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Array Express</a:t>
            </a:r>
          </a:p>
          <a:p>
            <a:pPr marL="742950" lvl="1"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https://www.ebi.ac.uk/biostudies/arrayexpress.</a:t>
            </a:r>
          </a:p>
          <a:p>
            <a:pPr marL="742950" lvl="1"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For raw sequence data + processed results.</a:t>
            </a:r>
          </a:p>
          <a:p>
            <a:pPr marL="742950" lvl="1"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Array Express links processed data to the raw sequenced data.</a:t>
            </a:r>
          </a:p>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4"/>
              </a:rPr>
              <a:t>https://www.youtube.com/watch?v=ANr2PTVy7JA</a:t>
            </a:r>
            <a:endPar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Make sure your raw data file names contain only letters, numbers, dots and underscores. Nothing else.</a:t>
            </a:r>
          </a:p>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You will need to fill in a lot of metadata and upload using FTP.</a:t>
            </a:r>
          </a:p>
          <a:p>
            <a:pPr marL="285750" indent="-285750">
              <a:lnSpc>
                <a:spcPct val="150000"/>
              </a:lnSpc>
              <a:buFontTx/>
              <a:buChar char="-"/>
            </a:pPr>
            <a:r>
              <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Support response time frame is 3 weeks currently – so start early!!</a:t>
            </a:r>
          </a:p>
          <a:p>
            <a:pPr marL="285750" indent="-285750">
              <a:buFontTx/>
              <a:buChar char="-"/>
            </a:pPr>
            <a:endParaRPr lang="en-GB" sz="1600"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2F15ADD0-B7D5-544E-6EA9-A30C233111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69C680BD-32E4-A236-7A7D-8112DBDF94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9" name="Picture 2" descr="Graphical user interface, table&#10;&#10;Description automatically generated">
            <a:extLst>
              <a:ext uri="{FF2B5EF4-FFF2-40B4-BE49-F238E27FC236}">
                <a16:creationId xmlns:a16="http://schemas.microsoft.com/office/drawing/2014/main" id="{00CD6E24-3706-9BA9-F57A-7E8E3D8777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50695" y="1089799"/>
            <a:ext cx="3412832" cy="257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4683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DA6A44B-CB39-F6F4-2AFD-32A013167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F1E72-603B-6B54-40B0-0FA66485F4DA}"/>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[Uploading to SRA]</a:t>
            </a:r>
          </a:p>
        </p:txBody>
      </p:sp>
      <p:cxnSp>
        <p:nvCxnSpPr>
          <p:cNvPr id="5" name="Straight Connector 4">
            <a:extLst>
              <a:ext uri="{FF2B5EF4-FFF2-40B4-BE49-F238E27FC236}">
                <a16:creationId xmlns:a16="http://schemas.microsoft.com/office/drawing/2014/main" id="{273954BB-BC70-5A5B-019A-6ECF6B94CE9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E30F2F9-A315-B732-61E1-593D2441D6D5}"/>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2B661140-8A88-43D9-2C5C-774B4C58612B}"/>
              </a:ext>
            </a:extLst>
          </p:cNvPr>
          <p:cNvSpPr txBox="1"/>
          <p:nvPr/>
        </p:nvSpPr>
        <p:spPr>
          <a:xfrm>
            <a:off x="417576" y="1362176"/>
            <a:ext cx="9841992" cy="2862322"/>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For RAW data​.</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Perfect for NGS sequencing​.</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Enforces some basic metadata.</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3AF71EA5-9F47-D536-5143-29D460ED1B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Graphical user interface, text, website&#10;&#10;Description automatically generated">
            <a:extLst>
              <a:ext uri="{FF2B5EF4-FFF2-40B4-BE49-F238E27FC236}">
                <a16:creationId xmlns:a16="http://schemas.microsoft.com/office/drawing/2014/main" id="{253DA4F0-EAA0-4832-5499-B1E60135B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139" y="1205267"/>
            <a:ext cx="6268542" cy="47725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A64050E6-EAF8-23D4-11F6-1EDE436499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2050" name="Picture 2" descr="Free abort delete no vector">
            <a:extLst>
              <a:ext uri="{FF2B5EF4-FFF2-40B4-BE49-F238E27FC236}">
                <a16:creationId xmlns:a16="http://schemas.microsoft.com/office/drawing/2014/main" id="{7F156E62-3327-E2FF-AA3B-FB6775AE64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4413" y="806932"/>
            <a:ext cx="5569226" cy="5569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25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ppt_w</p:attrName>
                                        </p:attrNameLst>
                                      </p:cBhvr>
                                      <p:tavLst>
                                        <p:tav tm="0">
                                          <p:val>
                                            <p:fltVal val="0"/>
                                          </p:val>
                                        </p:tav>
                                        <p:tav tm="100000">
                                          <p:val>
                                            <p:strVal val="#ppt_w"/>
                                          </p:val>
                                        </p:tav>
                                      </p:tavLst>
                                    </p:anim>
                                    <p:anim calcmode="lin" valueType="num">
                                      <p:cBhvr>
                                        <p:cTn id="8" dur="500" fill="hold"/>
                                        <p:tgtEl>
                                          <p:spTgt spid="2050"/>
                                        </p:tgtEl>
                                        <p:attrNameLst>
                                          <p:attrName>ppt_h</p:attrName>
                                        </p:attrNameLst>
                                      </p:cBhvr>
                                      <p:tavLst>
                                        <p:tav tm="0">
                                          <p:val>
                                            <p:fltVal val="0"/>
                                          </p:val>
                                        </p:tav>
                                        <p:tav tm="100000">
                                          <p:val>
                                            <p:strVal val="#ppt_h"/>
                                          </p:val>
                                        </p:tav>
                                      </p:tavLst>
                                    </p:anim>
                                    <p:animEffect transition="in" filter="fade">
                                      <p:cBhvr>
                                        <p:cTn id="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813A36-E637-6BEB-EA3D-77DB1E5A6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A91B8-AABD-0950-B716-5AB30B284ACC}"/>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[Uploading to GEO]</a:t>
            </a:r>
          </a:p>
        </p:txBody>
      </p:sp>
      <p:cxnSp>
        <p:nvCxnSpPr>
          <p:cNvPr id="5" name="Straight Connector 4">
            <a:extLst>
              <a:ext uri="{FF2B5EF4-FFF2-40B4-BE49-F238E27FC236}">
                <a16:creationId xmlns:a16="http://schemas.microsoft.com/office/drawing/2014/main" id="{DF764C9B-DE85-E8E3-D6F6-ABBC83DB4771}"/>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E92E6CB-58D2-6FCE-8497-960A2E10BA74}"/>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C95E259B-29EC-0AB2-4841-DACBAA186FC1}"/>
              </a:ext>
            </a:extLst>
          </p:cNvPr>
          <p:cNvSpPr txBox="1"/>
          <p:nvPr/>
        </p:nvSpPr>
        <p:spPr>
          <a:xfrm>
            <a:off x="417576" y="1362176"/>
            <a:ext cx="4517679" cy="5355312"/>
          </a:xfrm>
          <a:prstGeom prst="rect">
            <a:avLst/>
          </a:prstGeom>
          <a:noFill/>
        </p:spPr>
        <p:txBody>
          <a:bodyPr wrap="square" rtlCol="0">
            <a:spAutoFit/>
          </a:bodyPr>
          <a:lstStyle/>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Great for NGS experiments​.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RAW + processed data​.</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Automatically uploads raw data to SRA​.</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Pretty good at enforcing metadata​.</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Queries often answered within a working day​.</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Brief look at metadata sheet (included in your resources).</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95DA2CB8-BF76-D16A-D460-80CD66310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17410" name="Picture 2" descr="Graphical user interface, text, application, email&#10;&#10;Description automatically generated">
            <a:extLst>
              <a:ext uri="{FF2B5EF4-FFF2-40B4-BE49-F238E27FC236}">
                <a16:creationId xmlns:a16="http://schemas.microsoft.com/office/drawing/2014/main" id="{63223D74-17E6-A37E-6CDF-432BB52466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8572" y="1274621"/>
            <a:ext cx="6145981" cy="448754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E40ED34D-80FC-C5D0-FF16-557BA86BA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10919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50FF61-3285-B274-8524-5706F5C9E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E3310-E2E9-13E8-ED66-D53D5FC49CED}"/>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[FTP </a:t>
            </a:r>
            <a:r>
              <a:rPr lang="en-GB" sz="280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Filezilla</a:t>
            </a:r>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p>
        </p:txBody>
      </p:sp>
      <p:cxnSp>
        <p:nvCxnSpPr>
          <p:cNvPr id="5" name="Straight Connector 4">
            <a:extLst>
              <a:ext uri="{FF2B5EF4-FFF2-40B4-BE49-F238E27FC236}">
                <a16:creationId xmlns:a16="http://schemas.microsoft.com/office/drawing/2014/main" id="{9B1AAE7B-4546-5919-8429-1FCDA1AA6C65}"/>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B62565E-64D5-B456-E4AE-D67D362EAE46}"/>
              </a:ext>
            </a:extLst>
          </p:cNvPr>
          <p:cNvSpPr txBox="1"/>
          <p:nvPr/>
        </p:nvSpPr>
        <p:spPr>
          <a:xfrm>
            <a:off x="9317736" y="2277023"/>
            <a:ext cx="2014398" cy="3231654"/>
          </a:xfrm>
          <a:prstGeom prst="rect">
            <a:avLst/>
          </a:prstGeom>
          <a:noFill/>
        </p:spPr>
        <p:txBody>
          <a:bodyPr wrap="square" rtlCol="0">
            <a:spAutoFit/>
          </a:bodyPr>
          <a:lstStyle/>
          <a:p>
            <a:r>
              <a:rPr lang="en-GB" sz="2400" b="1">
                <a:solidFill>
                  <a:srgbClr val="FF0000"/>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Host</a:t>
            </a:r>
          </a:p>
          <a:p>
            <a:endParaRPr lang="en-GB" sz="2400" b="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sz="2400" b="1">
                <a:solidFill>
                  <a:srgbClr val="8ED973"/>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Username</a:t>
            </a:r>
          </a:p>
          <a:p>
            <a:endParaRPr lang="en-GB" sz="2400" b="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sz="2400" b="1">
                <a:solidFill>
                  <a:srgbClr val="46B1E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Password</a:t>
            </a:r>
          </a:p>
          <a:p>
            <a:endParaRPr lang="en-GB" sz="2400" b="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GB" sz="2400" b="1">
                <a:solidFill>
                  <a:srgbClr val="FFC000"/>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Port</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D42B5CBA-429F-095A-D3DA-6E4037948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75B3A214-2318-0032-20EE-CE775D29CE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7" name="Picture 6">
            <a:extLst>
              <a:ext uri="{FF2B5EF4-FFF2-40B4-BE49-F238E27FC236}">
                <a16:creationId xmlns:a16="http://schemas.microsoft.com/office/drawing/2014/main" id="{435AB145-105F-E60D-BA26-0EADFA8CE470}"/>
              </a:ext>
            </a:extLst>
          </p:cNvPr>
          <p:cNvPicPr>
            <a:picLocks noChangeAspect="1"/>
          </p:cNvPicPr>
          <p:nvPr/>
        </p:nvPicPr>
        <p:blipFill>
          <a:blip r:embed="rId5"/>
          <a:stretch>
            <a:fillRect/>
          </a:stretch>
        </p:blipFill>
        <p:spPr>
          <a:xfrm>
            <a:off x="1191491" y="1118249"/>
            <a:ext cx="7840987" cy="5401422"/>
          </a:xfrm>
          <a:prstGeom prst="rect">
            <a:avLst/>
          </a:prstGeom>
        </p:spPr>
      </p:pic>
      <p:sp>
        <p:nvSpPr>
          <p:cNvPr id="8" name="Rectangle 7">
            <a:extLst>
              <a:ext uri="{FF2B5EF4-FFF2-40B4-BE49-F238E27FC236}">
                <a16:creationId xmlns:a16="http://schemas.microsoft.com/office/drawing/2014/main" id="{C026621F-2A52-41DC-E91D-9BE57D817ED6}"/>
              </a:ext>
            </a:extLst>
          </p:cNvPr>
          <p:cNvSpPr/>
          <p:nvPr/>
        </p:nvSpPr>
        <p:spPr>
          <a:xfrm>
            <a:off x="1191491" y="1607128"/>
            <a:ext cx="979054" cy="26785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F70D2AF-0B02-4FF0-6BE0-03588677E063}"/>
              </a:ext>
            </a:extLst>
          </p:cNvPr>
          <p:cNvSpPr/>
          <p:nvPr/>
        </p:nvSpPr>
        <p:spPr>
          <a:xfrm>
            <a:off x="2170546" y="1607128"/>
            <a:ext cx="1246908" cy="267850"/>
          </a:xfrm>
          <a:prstGeom prst="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E72C4C6-F6CB-A581-BEBE-593705E43B48}"/>
              </a:ext>
            </a:extLst>
          </p:cNvPr>
          <p:cNvSpPr/>
          <p:nvPr/>
        </p:nvSpPr>
        <p:spPr>
          <a:xfrm>
            <a:off x="3417454" y="1607128"/>
            <a:ext cx="1173018" cy="267850"/>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C5ED8EE8-636A-DCDD-EF94-EE4B9D6A3553}"/>
              </a:ext>
            </a:extLst>
          </p:cNvPr>
          <p:cNvSpPr/>
          <p:nvPr/>
        </p:nvSpPr>
        <p:spPr>
          <a:xfrm>
            <a:off x="4599709" y="1607128"/>
            <a:ext cx="637308" cy="267850"/>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17A530A-AAFF-1D7F-05DA-324328259AAE}"/>
              </a:ext>
            </a:extLst>
          </p:cNvPr>
          <p:cNvSpPr txBox="1"/>
          <p:nvPr/>
        </p:nvSpPr>
        <p:spPr>
          <a:xfrm>
            <a:off x="2027381" y="4793673"/>
            <a:ext cx="1976582" cy="369332"/>
          </a:xfrm>
          <a:prstGeom prst="rect">
            <a:avLst/>
          </a:prstGeom>
          <a:noFill/>
        </p:spPr>
        <p:txBody>
          <a:bodyPr wrap="square" rtlCol="0">
            <a:spAutoFit/>
          </a:bodyPr>
          <a:lstStyle/>
          <a:p>
            <a:r>
              <a:rPr lang="en-GB" b="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YOUR DEVICE</a:t>
            </a:r>
          </a:p>
        </p:txBody>
      </p:sp>
      <p:sp>
        <p:nvSpPr>
          <p:cNvPr id="15" name="TextBox 14">
            <a:extLst>
              <a:ext uri="{FF2B5EF4-FFF2-40B4-BE49-F238E27FC236}">
                <a16:creationId xmlns:a16="http://schemas.microsoft.com/office/drawing/2014/main" id="{A5DCC891-2C2C-7EDA-72B8-5AC6EAF2E11C}"/>
              </a:ext>
            </a:extLst>
          </p:cNvPr>
          <p:cNvSpPr txBox="1"/>
          <p:nvPr/>
        </p:nvSpPr>
        <p:spPr>
          <a:xfrm>
            <a:off x="6210234" y="4793673"/>
            <a:ext cx="1976582" cy="369332"/>
          </a:xfrm>
          <a:prstGeom prst="rect">
            <a:avLst/>
          </a:prstGeom>
          <a:noFill/>
        </p:spPr>
        <p:txBody>
          <a:bodyPr wrap="square" rtlCol="0">
            <a:spAutoFit/>
          </a:bodyPr>
          <a:lstStyle/>
          <a:p>
            <a:r>
              <a:rPr lang="en-GB" b="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REMOTE SITE</a:t>
            </a:r>
          </a:p>
        </p:txBody>
      </p:sp>
      <p:sp>
        <p:nvSpPr>
          <p:cNvPr id="16" name="TextBox 15">
            <a:extLst>
              <a:ext uri="{FF2B5EF4-FFF2-40B4-BE49-F238E27FC236}">
                <a16:creationId xmlns:a16="http://schemas.microsoft.com/office/drawing/2014/main" id="{F4E2A862-2DC6-7506-0AD6-CD8F981B2CD7}"/>
              </a:ext>
            </a:extLst>
          </p:cNvPr>
          <p:cNvSpPr txBox="1"/>
          <p:nvPr/>
        </p:nvSpPr>
        <p:spPr>
          <a:xfrm>
            <a:off x="4477980" y="5826231"/>
            <a:ext cx="1268007" cy="369332"/>
          </a:xfrm>
          <a:prstGeom prst="rect">
            <a:avLst/>
          </a:prstGeom>
          <a:noFill/>
        </p:spPr>
        <p:txBody>
          <a:bodyPr wrap="square" rtlCol="0">
            <a:spAutoFit/>
          </a:bodyPr>
          <a:lstStyle/>
          <a:p>
            <a:r>
              <a:rPr lang="en-GB" b="1"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PROGRESS </a:t>
            </a:r>
          </a:p>
        </p:txBody>
      </p:sp>
    </p:spTree>
    <p:extLst>
      <p:ext uri="{BB962C8B-B14F-4D97-AF65-F5344CB8AC3E}">
        <p14:creationId xmlns:p14="http://schemas.microsoft.com/office/powerpoint/2010/main" val="40040850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D113D2-38D1-EE8A-0DB8-36731F896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1E0D0-347C-B6CB-0FB6-CC35B5C7300B}"/>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[Downloading data into the HPC]</a:t>
            </a:r>
          </a:p>
        </p:txBody>
      </p:sp>
      <p:cxnSp>
        <p:nvCxnSpPr>
          <p:cNvPr id="5" name="Straight Connector 4">
            <a:extLst>
              <a:ext uri="{FF2B5EF4-FFF2-40B4-BE49-F238E27FC236}">
                <a16:creationId xmlns:a16="http://schemas.microsoft.com/office/drawing/2014/main" id="{FCE8703C-F0F7-3094-DD0B-66B6A26EEF59}"/>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2C32AA2-56D7-10EA-00C4-B9D9B0D42742}"/>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6D167A2E-328C-CB8F-D33B-F06342C86F3F}"/>
              </a:ext>
            </a:extLst>
          </p:cNvPr>
          <p:cNvSpPr txBox="1"/>
          <p:nvPr/>
        </p:nvSpPr>
        <p:spPr>
          <a:xfrm>
            <a:off x="417576" y="1096567"/>
            <a:ext cx="10674096" cy="5909310"/>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Accessing the HPC Storage:</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Users must use their own devices as a gateway to interact with the HPC storage.</a:t>
            </a: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External access from the HPC is limited, with only a few exceptions (online databases/repositories) permitted.</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Download partition:</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lvl="1"/>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JIC informatics, Research Groups, Data champions and designated users can download data into the HPC storage through the download partition. </a:t>
            </a:r>
          </a:p>
          <a:p>
            <a:pPr lvl="1"/>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Sharing data in/out:</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Dropoff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2"/>
              </a:rPr>
              <a:t>https://dropoff.nbi.ac.uk/</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up to 300GB, easy to use.</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742950" lvl="1"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Globus (</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hlinkClick r:id="rId3"/>
              </a:rPr>
              <a:t>https://www.globus.org/</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No data limit.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E8EE7353-7ED2-ED71-59D9-BD16EF08DC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058C980C-0A86-3464-F621-81D468AC89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20742067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400FC7E-2385-36E6-ECB8-3B0E5C9B2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6F051-C40E-F8E8-4F5F-DB6CE764AF0C}"/>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[Exercise 7]</a:t>
            </a:r>
          </a:p>
        </p:txBody>
      </p:sp>
      <p:cxnSp>
        <p:nvCxnSpPr>
          <p:cNvPr id="5" name="Straight Connector 4">
            <a:extLst>
              <a:ext uri="{FF2B5EF4-FFF2-40B4-BE49-F238E27FC236}">
                <a16:creationId xmlns:a16="http://schemas.microsoft.com/office/drawing/2014/main" id="{F5C0A6B0-8817-9522-F34E-AE613C32C310}"/>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A857A0D-0609-5998-4DED-D48D4C577878}"/>
              </a:ext>
            </a:extLst>
          </p:cNvPr>
          <p:cNvSpPr txBox="1"/>
          <p:nvPr/>
        </p:nvSpPr>
        <p:spPr>
          <a:xfrm>
            <a:off x="417576" y="1389886"/>
            <a:ext cx="11177016" cy="1477328"/>
          </a:xfrm>
          <a:prstGeom prst="rect">
            <a:avLst/>
          </a:prstGeom>
          <a:noFill/>
        </p:spPr>
        <p:txBody>
          <a:bodyPr wrap="square" rtlCol="0">
            <a:spAutoFit/>
          </a:bodyPr>
          <a:lstStyle/>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Map your HPC-home folder. </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Create a file with your username in your U drive</a:t>
            </a:r>
          </a:p>
          <a:p>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Filezilla</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to upload the file to the ftp version of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linux</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-playground</a:t>
            </a:r>
          </a:p>
        </p:txBody>
      </p:sp>
      <p:pic>
        <p:nvPicPr>
          <p:cNvPr id="4" name="Picture 6" descr="Free floppy disk media vector">
            <a:extLst>
              <a:ext uri="{FF2B5EF4-FFF2-40B4-BE49-F238E27FC236}">
                <a16:creationId xmlns:a16="http://schemas.microsoft.com/office/drawing/2014/main" id="{F57EF46D-4266-1863-DF47-4AEADC9D0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536B8DC5-FC57-11CC-C78B-BDC8AC54D4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8496011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46234BC-C5E8-78DF-29DE-00F3BD480453}"/>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D04D42D-3E55-A523-B66C-E87BE9682914}"/>
              </a:ext>
            </a:extLst>
          </p:cNvPr>
          <p:cNvSpPr/>
          <p:nvPr/>
        </p:nvSpPr>
        <p:spPr>
          <a:xfrm>
            <a:off x="746759" y="2983832"/>
            <a:ext cx="7455409" cy="445168"/>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1B996C5-C564-30A5-7995-5B364DB1E152}"/>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[JIC archive – Data Champion]</a:t>
            </a:r>
          </a:p>
        </p:txBody>
      </p:sp>
      <p:cxnSp>
        <p:nvCxnSpPr>
          <p:cNvPr id="5" name="Straight Connector 4">
            <a:extLst>
              <a:ext uri="{FF2B5EF4-FFF2-40B4-BE49-F238E27FC236}">
                <a16:creationId xmlns:a16="http://schemas.microsoft.com/office/drawing/2014/main" id="{48B487DA-661F-181C-4028-5B39CE078D16}"/>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B4D80B5-2540-E590-5CB6-C5F04C6BE01C}"/>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2DC61ECC-2F10-E56A-A65B-C9AE9E69D28A}"/>
              </a:ext>
            </a:extLst>
          </p:cNvPr>
          <p:cNvSpPr txBox="1"/>
          <p:nvPr/>
        </p:nvSpPr>
        <p:spPr>
          <a:xfrm>
            <a:off x="417576" y="1362176"/>
            <a:ext cx="9841992" cy="3970318"/>
          </a:xfrm>
          <a:prstGeom prst="rect">
            <a:avLst/>
          </a:prstGeom>
          <a:noFill/>
        </p:spPr>
        <p:txBody>
          <a:bodyPr wrap="square" lIns="91440" tIns="45720" rIns="91440" bIns="45720" rtlCol="0" anchor="t">
            <a:spAutoFit/>
          </a:bodyPr>
          <a:lstStyle/>
          <a:p>
            <a:pPr marL="285750" indent="-285750">
              <a:buFontTx/>
              <a:buChar char="-"/>
            </a:pP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-data-mover{01..06} is accessible only by data champions and is the only way to write to /</a:t>
            </a: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/archive.</a:t>
            </a:r>
          </a:p>
          <a:p>
            <a:pPr marL="285750" indent="-285750">
              <a:buFontTx/>
              <a:buChar char="-"/>
            </a:pPr>
            <a:endParaRPr lang="en-US" dirty="0">
              <a:solidFill>
                <a:schemeClr val="bg1"/>
              </a:solidFill>
            </a:endParaRPr>
          </a:p>
          <a:p>
            <a:pPr marL="285750" indent="-285750">
              <a:buFontTx/>
              <a:buChar char="-"/>
            </a:pP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scratch,research</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-groups} etc. read only on </a:t>
            </a: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-data-mover{01..06} to prevent accidental deletion.</a:t>
            </a:r>
          </a:p>
          <a:p>
            <a:pPr marL="285750" indent="-285750">
              <a:buFontTx/>
              <a:buChar char="-"/>
            </a:pPr>
            <a:endParaRPr lang="en-GB" dirty="0">
              <a:solidFill>
                <a:schemeClr val="bg1"/>
              </a:solidFill>
              <a:latin typeface="Cascadia Code ExtraLight"/>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/archive is read only to group members across HPC.</a:t>
            </a:r>
          </a:p>
          <a:p>
            <a:pPr marL="285750" indent="-285750">
              <a:buFontTx/>
              <a:buChar char="-"/>
            </a:pPr>
            <a:endParaRPr lang="en-GB" dirty="0">
              <a:solidFill>
                <a:schemeClr val="bg1"/>
              </a:solidFill>
              <a:latin typeface="Cascadia Code ExtraLight"/>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t>
            </a:r>
            <a:r>
              <a:rPr lang="en-GB" dirty="0" err="1">
                <a:solidFill>
                  <a:schemeClr val="bg1"/>
                </a:solidFill>
                <a:latin typeface="Cascadia Code ExtraLight"/>
                <a:ea typeface="Cascadia Code ExtraLight" panose="020B0609020000020004" pitchFamily="49" charset="0"/>
                <a:cs typeface="Cascadia Code ExtraLight" panose="020B0609020000020004" pitchFamily="49" charset="0"/>
              </a:rPr>
              <a:t>jic</a:t>
            </a: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/archive has snapshots.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9B40995-52BC-EA07-E117-A6B2169516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8EE4EEDB-ED0B-ECE8-4C3D-E1702BBF1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8504449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56A0A7A-4530-60C8-E930-A41749A52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5A582-EB02-D80F-BA99-3E94F991854D}"/>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[TSL Users]</a:t>
            </a:r>
          </a:p>
        </p:txBody>
      </p:sp>
      <p:cxnSp>
        <p:nvCxnSpPr>
          <p:cNvPr id="5" name="Straight Connector 4">
            <a:extLst>
              <a:ext uri="{FF2B5EF4-FFF2-40B4-BE49-F238E27FC236}">
                <a16:creationId xmlns:a16="http://schemas.microsoft.com/office/drawing/2014/main" id="{BC71BD24-4A2F-B356-7E91-3408E21A7611}"/>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9012F8B-B6D2-BD2E-5FC7-D221A504869F}"/>
              </a:ext>
            </a:extLst>
          </p:cNvPr>
          <p:cNvSpPr txBox="1"/>
          <p:nvPr/>
        </p:nvSpPr>
        <p:spPr>
          <a:xfrm>
            <a:off x="417576" y="1362177"/>
            <a:ext cx="9841992" cy="646331"/>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sp>
        <p:nvSpPr>
          <p:cNvPr id="7" name="TextBox 6">
            <a:extLst>
              <a:ext uri="{FF2B5EF4-FFF2-40B4-BE49-F238E27FC236}">
                <a16:creationId xmlns:a16="http://schemas.microsoft.com/office/drawing/2014/main" id="{3330DE79-5044-45CD-F4AC-E2D0E194B3FE}"/>
              </a:ext>
            </a:extLst>
          </p:cNvPr>
          <p:cNvSpPr txBox="1"/>
          <p:nvPr/>
        </p:nvSpPr>
        <p:spPr>
          <a:xfrm>
            <a:off x="417576" y="1362177"/>
            <a:ext cx="11177016" cy="4801314"/>
          </a:xfrm>
          <a:prstGeom prst="rect">
            <a:avLst/>
          </a:prstGeom>
          <a:noFill/>
        </p:spPr>
        <p:txBody>
          <a:bodyPr wrap="square" lIns="91440" tIns="45720" rIns="91440" bIns="45720" rtlCol="0" anchor="t">
            <a:spAutoFit/>
          </a:bodyPr>
          <a:lstStyle/>
          <a:p>
            <a:pPr marL="285750" indent="-285750">
              <a:buFontTx/>
              <a:buChar char="-"/>
            </a:pP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TSL has specific policies and metadata requirements:</a:t>
            </a:r>
          </a:p>
          <a:p>
            <a:pPr marL="285750" indent="-285750">
              <a:buFontTx/>
              <a:buChar char="-"/>
            </a:pPr>
            <a:endParaRPr lang="en-GB" dirty="0">
              <a:solidFill>
                <a:schemeClr val="bg1"/>
              </a:solidFill>
              <a:latin typeface="Cascadia Code ExtraLight"/>
              <a:ea typeface="Cascadia Code ExtraLight" panose="020B0609020000020004" pitchFamily="49" charset="0"/>
              <a:cs typeface="Cascadia Code ExtraLight" panose="020B0609020000020004" pitchFamily="49" charset="0"/>
            </a:endParaRPr>
          </a:p>
          <a:p>
            <a:pPr marL="285750" indent="-285750">
              <a:buFontTx/>
              <a:buChar char="-"/>
            </a:pP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To find out more, you can visit:</a:t>
            </a:r>
          </a:p>
          <a:p>
            <a:pPr marL="285750" indent="-285750">
              <a:buFontTx/>
              <a:buChar char="-"/>
            </a:pPr>
            <a:endParaRPr lang="en-GB" dirty="0">
              <a:solidFill>
                <a:schemeClr val="bg1"/>
              </a:solidFill>
              <a:latin typeface="Cascadia Code ExtraLight"/>
              <a:ea typeface="Cascadia Code ExtraLight" panose="020B0609020000020004" pitchFamily="49" charset="0"/>
              <a:cs typeface="Cascadia Code ExtraLight" panose="020B0609020000020004" pitchFamily="49" charset="0"/>
            </a:endParaRPr>
          </a:p>
          <a:p>
            <a:pPr lvl="1"/>
            <a:r>
              <a:rPr lang="en-GB" u="sng" dirty="0">
                <a:hlinkClick r:id="rId2"/>
              </a:rPr>
              <a:t>https://bioinformatics.tsl.ac.uk/posts/workflows-and-literate_compute/</a:t>
            </a:r>
            <a:endParaRPr lang="en-GB" u="sng" dirty="0"/>
          </a:p>
          <a:p>
            <a:pPr lvl="1"/>
            <a:endParaRPr lang="en-GB" dirty="0"/>
          </a:p>
          <a:p>
            <a:pPr lvl="1"/>
            <a:r>
              <a:rPr lang="en-GB" u="sng" dirty="0">
                <a:hlinkClick r:id="rId3"/>
              </a:rPr>
              <a:t>https://bioinformatics.tsl.ac.uk/</a:t>
            </a:r>
            <a:r>
              <a:rPr lang="en-GB" dirty="0"/>
              <a:t> )</a:t>
            </a:r>
          </a:p>
          <a:p>
            <a:pPr lvl="1"/>
            <a:endParaRPr lang="en-GB" dirty="0"/>
          </a:p>
          <a:p>
            <a:pPr lvl="1"/>
            <a:r>
              <a:rPr lang="en-GB" u="sng" dirty="0">
                <a:hlinkClick r:id="rId4"/>
              </a:rPr>
              <a:t>https://intranet.nbi.ac.uk/cms/6741</a:t>
            </a:r>
            <a:endParaRPr lang="en-GB" u="sng" dirty="0"/>
          </a:p>
          <a:p>
            <a:endParaRPr lang="en-GB" dirty="0"/>
          </a:p>
          <a:p>
            <a:pPr marL="285750" indent="-285750">
              <a:buFontTx/>
              <a:buChar char="-"/>
            </a:pPr>
            <a:r>
              <a:rPr lang="en-GB" dirty="0">
                <a:solidFill>
                  <a:schemeClr val="bg1"/>
                </a:solidFill>
                <a:latin typeface="Cascadia Code ExtraLight"/>
                <a:ea typeface="Cascadia Code ExtraLight" panose="020B0609020000020004" pitchFamily="49" charset="0"/>
                <a:cs typeface="Cascadia Code ExtraLight" panose="020B0609020000020004" pitchFamily="49" charset="0"/>
              </a:rPr>
              <a:t>But as I said earlier, please contact the TSL Bioinformatics teams if you have any doubts. </a:t>
            </a:r>
          </a:p>
          <a:p>
            <a:pPr marL="285750" indent="-285750">
              <a:buFontTx/>
              <a:buChar char="-"/>
            </a:pPr>
            <a:endParaRPr lang="en-GB" dirty="0">
              <a:solidFill>
                <a:schemeClr val="bg1"/>
              </a:solidFill>
              <a:latin typeface="Cascadia Code ExtraLight"/>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FE020B26-C97E-5BE2-A07D-E06BA669C0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127CADB3-2E2B-CB05-9933-40F8104892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8990391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2C9A863-B102-9A60-91C4-76ABCFBC2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CB742-8AE5-041C-E746-5DA0081BCB46}"/>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[Concluding Recommendations]</a:t>
            </a:r>
          </a:p>
        </p:txBody>
      </p:sp>
      <p:cxnSp>
        <p:nvCxnSpPr>
          <p:cNvPr id="5" name="Straight Connector 4">
            <a:extLst>
              <a:ext uri="{FF2B5EF4-FFF2-40B4-BE49-F238E27FC236}">
                <a16:creationId xmlns:a16="http://schemas.microsoft.com/office/drawing/2014/main" id="{FE04DA9D-8D0F-2220-3470-4C35B9368F87}"/>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98E326B-69D9-4650-3B73-65C718A47CB3}"/>
              </a:ext>
            </a:extLst>
          </p:cNvPr>
          <p:cNvSpPr txBox="1"/>
          <p:nvPr/>
        </p:nvSpPr>
        <p:spPr>
          <a:xfrm>
            <a:off x="417576" y="1129237"/>
            <a:ext cx="11527991" cy="4199291"/>
          </a:xfrm>
          <a:prstGeom prst="rect">
            <a:avLst/>
          </a:prstGeom>
          <a:noFill/>
        </p:spPr>
        <p:txBody>
          <a:bodyPr wrap="square" rtlCol="0">
            <a:spAutoFit/>
          </a:bodyPr>
          <a:lstStyle/>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Data integrity Quality Checks before analyses​.</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Check that you've downloaded the data correctly​.</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Keep raw data and derived data separate​.</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Compress your sequence data​.</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Keep redundancy low. Remove intermediate files. Regular cleanup.​</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 your resources wisely​.</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Archive important data.</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Follow </a:t>
            </a:r>
            <a:r>
              <a:rPr lang="en-GB" dirty="0" err="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BioFAiR</a:t>
            </a: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recommendations.</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Get your data ready for A.I.</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Ask, we are here to help. </a:t>
            </a:r>
          </a:p>
        </p:txBody>
      </p:sp>
      <p:pic>
        <p:nvPicPr>
          <p:cNvPr id="4" name="Picture 6" descr="Free floppy disk media vector">
            <a:extLst>
              <a:ext uri="{FF2B5EF4-FFF2-40B4-BE49-F238E27FC236}">
                <a16:creationId xmlns:a16="http://schemas.microsoft.com/office/drawing/2014/main" id="{754F4E1B-0079-F15A-5FDB-BD4E32073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F688E79B-540D-9D88-F816-343F4D8F9E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07485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 calcmode="lin" valueType="num">
                                      <p:cBhvr additive="base">
                                        <p:cTn id="3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xEl>
                                              <p:pRg st="6" end="6"/>
                                            </p:txEl>
                                          </p:spTgt>
                                        </p:tgtEl>
                                        <p:attrNameLst>
                                          <p:attrName>style.visibility</p:attrName>
                                        </p:attrNameLst>
                                      </p:cBhvr>
                                      <p:to>
                                        <p:strVal val="visible"/>
                                      </p:to>
                                    </p:set>
                                    <p:anim calcmode="lin" valueType="num">
                                      <p:cBhvr additive="base">
                                        <p:cTn id="4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xEl>
                                              <p:pRg st="7" end="7"/>
                                            </p:txEl>
                                          </p:spTgt>
                                        </p:tgtEl>
                                        <p:attrNameLst>
                                          <p:attrName>style.visibility</p:attrName>
                                        </p:attrNameLst>
                                      </p:cBhvr>
                                      <p:to>
                                        <p:strVal val="visible"/>
                                      </p:to>
                                    </p:set>
                                    <p:anim calcmode="lin" valueType="num">
                                      <p:cBhvr additive="base">
                                        <p:cTn id="49"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xEl>
                                              <p:pRg st="8" end="8"/>
                                            </p:txEl>
                                          </p:spTgt>
                                        </p:tgtEl>
                                        <p:attrNameLst>
                                          <p:attrName>style.visibility</p:attrName>
                                        </p:attrNameLst>
                                      </p:cBhvr>
                                      <p:to>
                                        <p:strVal val="visible"/>
                                      </p:to>
                                    </p:set>
                                    <p:anim calcmode="lin" valueType="num">
                                      <p:cBhvr additive="base">
                                        <p:cTn id="55"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
                                            <p:txEl>
                                              <p:pRg st="9" end="9"/>
                                            </p:txEl>
                                          </p:spTgt>
                                        </p:tgtEl>
                                        <p:attrNameLst>
                                          <p:attrName>style.visibility</p:attrName>
                                        </p:attrNameLst>
                                      </p:cBhvr>
                                      <p:to>
                                        <p:strVal val="visible"/>
                                      </p:to>
                                    </p:set>
                                    <p:anim calcmode="lin" valueType="num">
                                      <p:cBhvr additive="base">
                                        <p:cTn id="61"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242E39-2EC2-0840-4CD0-17537EC8C61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1BFA690-77AB-57DB-726F-766A280D3250}"/>
              </a:ext>
            </a:extLst>
          </p:cNvPr>
          <p:cNvSpPr/>
          <p:nvPr/>
        </p:nvSpPr>
        <p:spPr>
          <a:xfrm>
            <a:off x="691895" y="3697545"/>
            <a:ext cx="8708137" cy="445168"/>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83A30F1-140A-604C-4E19-1B42EAF1ACEB}"/>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[Take home message]</a:t>
            </a:r>
          </a:p>
        </p:txBody>
      </p:sp>
      <p:cxnSp>
        <p:nvCxnSpPr>
          <p:cNvPr id="5" name="Straight Connector 4">
            <a:extLst>
              <a:ext uri="{FF2B5EF4-FFF2-40B4-BE49-F238E27FC236}">
                <a16:creationId xmlns:a16="http://schemas.microsoft.com/office/drawing/2014/main" id="{EBBFD5EB-1DE1-B5E4-75CF-A3F34A20F02D}"/>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8D80DC7-24B9-92E2-FA8F-BA9A7AEE8C21}"/>
              </a:ext>
            </a:extLst>
          </p:cNvPr>
          <p:cNvSpPr txBox="1"/>
          <p:nvPr/>
        </p:nvSpPr>
        <p:spPr>
          <a:xfrm>
            <a:off x="417576" y="1167805"/>
            <a:ext cx="10731779" cy="3277820"/>
          </a:xfrm>
          <a:prstGeom prst="rect">
            <a:avLst/>
          </a:prstGeom>
          <a:noFill/>
        </p:spPr>
        <p:txBody>
          <a:bodyPr wrap="square" rtlCol="0">
            <a:spAutoFit/>
          </a:bodyPr>
          <a:lstStyle/>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Know your institution's data policy.</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Talk to your informatics team early and often.</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Consider becoming a data champion in your group.</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Develop and align on common data practices within your group.</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Store data on resilient, backed-up infrastructure.</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Organise your metadata clearly and consistently.</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Keep your data safe. Annotate it. Don’t waste storage resources.</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3066B635-C863-6E45-A474-9919BC110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and white sign with white text&#10;&#10;AI-generated content may be incorrect.">
            <a:extLst>
              <a:ext uri="{FF2B5EF4-FFF2-40B4-BE49-F238E27FC236}">
                <a16:creationId xmlns:a16="http://schemas.microsoft.com/office/drawing/2014/main" id="{6D930979-9477-FD8B-B249-66D69051F7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39461204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37D071F-53FA-1DC7-DB34-92AAC0D8DAB5}"/>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8E17D94-B30B-6F05-4556-013039518178}"/>
              </a:ext>
            </a:extLst>
          </p:cNvPr>
          <p:cNvSpPr/>
          <p:nvPr/>
        </p:nvSpPr>
        <p:spPr>
          <a:xfrm>
            <a:off x="4894551" y="4956047"/>
            <a:ext cx="2574037" cy="366241"/>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C897B99-F410-3902-BF9E-D7B073161B79}"/>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[Bioinformatics Drop-in Sessions]</a:t>
            </a:r>
          </a:p>
        </p:txBody>
      </p:sp>
      <p:cxnSp>
        <p:nvCxnSpPr>
          <p:cNvPr id="5" name="Straight Connector 4">
            <a:extLst>
              <a:ext uri="{FF2B5EF4-FFF2-40B4-BE49-F238E27FC236}">
                <a16:creationId xmlns:a16="http://schemas.microsoft.com/office/drawing/2014/main" id="{3E447CA7-D031-B621-92F9-ABE95DCED8B2}"/>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28D8CD7-8F36-6EA2-E635-FE387F43D040}"/>
              </a:ext>
            </a:extLst>
          </p:cNvPr>
          <p:cNvSpPr txBox="1"/>
          <p:nvPr/>
        </p:nvSpPr>
        <p:spPr>
          <a:xfrm>
            <a:off x="417575" y="1389886"/>
            <a:ext cx="11527991" cy="4524315"/>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Wednesdays at 11:00-12:00 in the Rec.</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Free Biscuits available.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b="1">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Come and ask questions/talk Bioinformatics:</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Some things we may be able to help with right away, some we may need to think about. We can do some thinking before the session.</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(and may give better answers) if you email us beforehand at informatics@jic.ac.uk</a:t>
            </a:r>
          </a:p>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algn="ct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p>
          <a:p>
            <a:pPr algn="ctr"/>
            <a:r>
              <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ALL WELCOME</a:t>
            </a: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9220" name="Picture 7">
            <a:extLst>
              <a:ext uri="{FF2B5EF4-FFF2-40B4-BE49-F238E27FC236}">
                <a16:creationId xmlns:a16="http://schemas.microsoft.com/office/drawing/2014/main" id="{7EAD3C7F-0401-1632-95CD-1368EFF6C9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4918" y="1463039"/>
            <a:ext cx="2530763" cy="1574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descr="Free floppy disk media vector">
            <a:extLst>
              <a:ext uri="{FF2B5EF4-FFF2-40B4-BE49-F238E27FC236}">
                <a16:creationId xmlns:a16="http://schemas.microsoft.com/office/drawing/2014/main" id="{5AEDCAFC-92BD-54F1-10E1-F063E41E7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FD9BC9DD-4D6D-86EB-F259-2F898DA5FE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Tree>
    <p:extLst>
      <p:ext uri="{BB962C8B-B14F-4D97-AF65-F5344CB8AC3E}">
        <p14:creationId xmlns:p14="http://schemas.microsoft.com/office/powerpoint/2010/main" val="179689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additive="base">
                                        <p:cTn id="7" dur="500" fill="hold"/>
                                        <p:tgtEl>
                                          <p:spTgt spid="9220"/>
                                        </p:tgtEl>
                                        <p:attrNameLst>
                                          <p:attrName>ppt_x</p:attrName>
                                        </p:attrNameLst>
                                      </p:cBhvr>
                                      <p:tavLst>
                                        <p:tav tm="0">
                                          <p:val>
                                            <p:strVal val="#ppt_x"/>
                                          </p:val>
                                        </p:tav>
                                        <p:tav tm="100000">
                                          <p:val>
                                            <p:strVal val="#ppt_x"/>
                                          </p:val>
                                        </p:tav>
                                      </p:tavLst>
                                    </p:anim>
                                    <p:anim calcmode="lin" valueType="num">
                                      <p:cBhvr additive="base">
                                        <p:cTn id="8"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96DF1E-AE69-E2F4-FB7A-A2C58AFC8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8A61F-80D1-A4EE-BF55-284E5CF2420B}"/>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[REC]</a:t>
            </a:r>
          </a:p>
        </p:txBody>
      </p:sp>
      <p:cxnSp>
        <p:nvCxnSpPr>
          <p:cNvPr id="5" name="Straight Connector 4">
            <a:extLst>
              <a:ext uri="{FF2B5EF4-FFF2-40B4-BE49-F238E27FC236}">
                <a16:creationId xmlns:a16="http://schemas.microsoft.com/office/drawing/2014/main" id="{60CCD943-D82D-EAED-A8EB-60B231E1A8D2}"/>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1B3B122-F4C5-D91F-C3F6-FEC287999C18}"/>
              </a:ext>
            </a:extLst>
          </p:cNvPr>
          <p:cNvSpPr txBox="1"/>
          <p:nvPr/>
        </p:nvSpPr>
        <p:spPr>
          <a:xfrm>
            <a:off x="417575" y="1389886"/>
            <a:ext cx="11527991" cy="923330"/>
          </a:xfrm>
          <a:prstGeom prst="rect">
            <a:avLst/>
          </a:prstGeom>
          <a:noFill/>
        </p:spPr>
        <p:txBody>
          <a:bodyPr wrap="square" rtlCol="0">
            <a:spAutoFit/>
          </a:bodyPr>
          <a:lstStyle/>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3" descr="A black and white sign with white text&#10;&#10;AI-generated content may be incorrect.">
            <a:extLst>
              <a:ext uri="{FF2B5EF4-FFF2-40B4-BE49-F238E27FC236}">
                <a16:creationId xmlns:a16="http://schemas.microsoft.com/office/drawing/2014/main" id="{31834120-D655-A8A4-981F-9FF456573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pic>
        <p:nvPicPr>
          <p:cNvPr id="2050" name="Picture 2">
            <a:extLst>
              <a:ext uri="{FF2B5EF4-FFF2-40B4-BE49-F238E27FC236}">
                <a16:creationId xmlns:a16="http://schemas.microsoft.com/office/drawing/2014/main" id="{9356B7CD-CE65-BC28-644C-CE11B9150E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369" y="2154289"/>
            <a:ext cx="6413262" cy="354554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CC96B1C-C8C4-F84D-4174-198AD26951A6}"/>
              </a:ext>
            </a:extLst>
          </p:cNvPr>
          <p:cNvSpPr txBox="1"/>
          <p:nvPr/>
        </p:nvSpPr>
        <p:spPr>
          <a:xfrm>
            <a:off x="548640" y="1138627"/>
            <a:ext cx="11177017" cy="2031325"/>
          </a:xfrm>
          <a:prstGeom prst="rect">
            <a:avLst/>
          </a:prstGeom>
          <a:noFill/>
        </p:spPr>
        <p:txBody>
          <a:bodyPr wrap="square" rtlCol="0">
            <a:spAutoFit/>
          </a:bodyPr>
          <a:lstStyle/>
          <a:p>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I organise the REC-ROTA. We are always welcoming volunteers to join us to help on Fridays at the bar, and we pay in drinks! </a:t>
            </a: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6" name="Picture 6" descr="Free floppy disk media vector">
            <a:extLst>
              <a:ext uri="{FF2B5EF4-FFF2-40B4-BE49-F238E27FC236}">
                <a16:creationId xmlns:a16="http://schemas.microsoft.com/office/drawing/2014/main" id="{CB29AC80-95A3-67F4-0137-5FA532398D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4570235"/>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86FFDF6-F8CF-6F20-CDD6-D0E02EF3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5C6FE-005D-1F36-FBBB-BB0004A6CFEE}"/>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[Upcoming courses]</a:t>
            </a:r>
          </a:p>
        </p:txBody>
      </p:sp>
      <p:cxnSp>
        <p:nvCxnSpPr>
          <p:cNvPr id="5" name="Straight Connector 4">
            <a:extLst>
              <a:ext uri="{FF2B5EF4-FFF2-40B4-BE49-F238E27FC236}">
                <a16:creationId xmlns:a16="http://schemas.microsoft.com/office/drawing/2014/main" id="{881BAA30-B181-F187-777C-E364D4E09E5B}"/>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4" name="Picture 6" descr="Free floppy disk media vector">
            <a:extLst>
              <a:ext uri="{FF2B5EF4-FFF2-40B4-BE49-F238E27FC236}">
                <a16:creationId xmlns:a16="http://schemas.microsoft.com/office/drawing/2014/main" id="{C45BB121-63F0-91B8-EFDB-BB534D460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and white sign with white text&#10;&#10;AI-generated content may be incorrect.">
            <a:extLst>
              <a:ext uri="{FF2B5EF4-FFF2-40B4-BE49-F238E27FC236}">
                <a16:creationId xmlns:a16="http://schemas.microsoft.com/office/drawing/2014/main" id="{8ACC0DAB-7695-7CED-9AB8-410778026A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199" y="6178417"/>
            <a:ext cx="927639" cy="600208"/>
          </a:xfrm>
          <a:prstGeom prst="rect">
            <a:avLst/>
          </a:prstGeom>
        </p:spPr>
      </p:pic>
      <p:sp>
        <p:nvSpPr>
          <p:cNvPr id="6" name="TextBox 5">
            <a:extLst>
              <a:ext uri="{FF2B5EF4-FFF2-40B4-BE49-F238E27FC236}">
                <a16:creationId xmlns:a16="http://schemas.microsoft.com/office/drawing/2014/main" id="{D1BC1063-354E-8711-CDA5-AB3F18D3FE52}"/>
              </a:ext>
            </a:extLst>
          </p:cNvPr>
          <p:cNvSpPr txBox="1"/>
          <p:nvPr/>
        </p:nvSpPr>
        <p:spPr>
          <a:xfrm>
            <a:off x="878114" y="1229521"/>
            <a:ext cx="9652000" cy="2121799"/>
          </a:xfrm>
          <a:prstGeom prst="rect">
            <a:avLst/>
          </a:prstGeom>
          <a:noFill/>
        </p:spPr>
        <p:txBody>
          <a:bodyPr wrap="square" rtlCol="0">
            <a:spAutoFit/>
          </a:bodyPr>
          <a:lstStyle/>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16-06-2026		Introduction to Python – Part 1.</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17-06-2026		Introduction to Python – Part 2.</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18-06-2026		Introduction to Python – Part 3.</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23-09-2026		Invitation to AI.</a:t>
            </a:r>
          </a:p>
          <a:p>
            <a:pPr marL="285750" indent="-285750">
              <a:lnSpc>
                <a:spcPct val="150000"/>
              </a:lnSpc>
              <a:buFontTx/>
              <a:buChar char="-"/>
            </a:pPr>
            <a:r>
              <a:rPr lang="en-GB" dirty="0">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14-10-2026		Bioinformatics and how to learn it.</a:t>
            </a:r>
          </a:p>
        </p:txBody>
      </p:sp>
    </p:spTree>
    <p:extLst>
      <p:ext uri="{BB962C8B-B14F-4D97-AF65-F5344CB8AC3E}">
        <p14:creationId xmlns:p14="http://schemas.microsoft.com/office/powerpoint/2010/main" val="36586210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97D3507-2B44-E210-4A4B-7DC3FD3DD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B0508-463B-6058-3EEB-D457FD6D9E4F}"/>
              </a:ext>
            </a:extLst>
          </p:cNvPr>
          <p:cNvSpPr>
            <a:spLocks noGrp="1"/>
          </p:cNvSpPr>
          <p:nvPr>
            <p:ph type="ctrTitle"/>
          </p:nvPr>
        </p:nvSpPr>
        <p:spPr>
          <a:xfrm>
            <a:off x="417576" y="338329"/>
            <a:ext cx="8900160" cy="566927"/>
          </a:xfrm>
        </p:spPr>
        <p:txBody>
          <a:bodyPr>
            <a:normAutofit/>
          </a:bodyPr>
          <a:lstStyle/>
          <a:p>
            <a:pPr algn="l"/>
            <a:r>
              <a:rPr lang="en-GB" sz="28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[Ideal Data Pipeline]</a:t>
            </a:r>
          </a:p>
        </p:txBody>
      </p:sp>
      <p:cxnSp>
        <p:nvCxnSpPr>
          <p:cNvPr id="5" name="Straight Connector 4">
            <a:extLst>
              <a:ext uri="{FF2B5EF4-FFF2-40B4-BE49-F238E27FC236}">
                <a16:creationId xmlns:a16="http://schemas.microsoft.com/office/drawing/2014/main" id="{AC1E2D87-94A7-1A90-B3C0-7791D0FB9DA5}"/>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37C2A8D-DD53-1CC3-6E39-01C413107D96}"/>
              </a:ext>
            </a:extLst>
          </p:cNvPr>
          <p:cNvSpPr txBox="1"/>
          <p:nvPr/>
        </p:nvSpPr>
        <p:spPr>
          <a:xfrm>
            <a:off x="417576" y="918925"/>
            <a:ext cx="11527991" cy="646331"/>
          </a:xfrm>
          <a:prstGeom prst="rect">
            <a:avLst/>
          </a:prstGeom>
          <a:noFill/>
        </p:spPr>
        <p:txBody>
          <a:bodyPr wrap="square" rtlCol="0">
            <a:spAutoFit/>
          </a:bodyPr>
          <a:lstStyle/>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A073478B-A3F8-B4E0-E1A8-63C1C5C40E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04490FB5-60CE-BB70-36DE-9A177CB7D9AB}"/>
              </a:ext>
            </a:extLst>
          </p:cNvPr>
          <p:cNvGrpSpPr/>
          <p:nvPr/>
        </p:nvGrpSpPr>
        <p:grpSpPr>
          <a:xfrm>
            <a:off x="220160" y="1947478"/>
            <a:ext cx="2187185" cy="3188088"/>
            <a:chOff x="345904" y="1884655"/>
            <a:chExt cx="2187185" cy="3188088"/>
          </a:xfrm>
        </p:grpSpPr>
        <p:pic>
          <p:nvPicPr>
            <p:cNvPr id="1042" name="Picture 18" descr="Raw-Data Icons - Free SVG &amp; PNG Raw ...">
              <a:extLst>
                <a:ext uri="{FF2B5EF4-FFF2-40B4-BE49-F238E27FC236}">
                  <a16:creationId xmlns:a16="http://schemas.microsoft.com/office/drawing/2014/main" id="{82C3FD20-DD3B-C195-A548-39D9F725C6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996" y="188465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6885D7E3-5981-92D0-ABC8-11B349D440A6}"/>
                </a:ext>
              </a:extLst>
            </p:cNvPr>
            <p:cNvSpPr/>
            <p:nvPr/>
          </p:nvSpPr>
          <p:spPr>
            <a:xfrm>
              <a:off x="366906" y="3850417"/>
              <a:ext cx="2145181"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RAW DATA</a:t>
              </a:r>
            </a:p>
          </p:txBody>
        </p:sp>
        <p:sp>
          <p:nvSpPr>
            <p:cNvPr id="15" name="Rectangle: Rounded Corners 14">
              <a:extLst>
                <a:ext uri="{FF2B5EF4-FFF2-40B4-BE49-F238E27FC236}">
                  <a16:creationId xmlns:a16="http://schemas.microsoft.com/office/drawing/2014/main" id="{243FC4CB-EBCF-5791-173F-4097935D90A8}"/>
                </a:ext>
              </a:extLst>
            </p:cNvPr>
            <p:cNvSpPr/>
            <p:nvPr/>
          </p:nvSpPr>
          <p:spPr>
            <a:xfrm>
              <a:off x="366906" y="4757760"/>
              <a:ext cx="2145181"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ISILON ARCHIVE</a:t>
              </a:r>
            </a:p>
          </p:txBody>
        </p:sp>
        <p:pic>
          <p:nvPicPr>
            <p:cNvPr id="6" name="Picture 5">
              <a:extLst>
                <a:ext uri="{FF2B5EF4-FFF2-40B4-BE49-F238E27FC236}">
                  <a16:creationId xmlns:a16="http://schemas.microsoft.com/office/drawing/2014/main" id="{2DAD0020-62E9-F3CC-2CAF-414201294165}"/>
                </a:ext>
              </a:extLst>
            </p:cNvPr>
            <p:cNvPicPr>
              <a:picLocks noChangeAspect="1"/>
            </p:cNvPicPr>
            <p:nvPr/>
          </p:nvPicPr>
          <p:blipFill>
            <a:blip r:embed="rId5">
              <a:extLst>
                <a:ext uri="{28A0092B-C50C-407E-A947-70E740481C1C}">
                  <a14:useLocalDpi xmlns:a14="http://schemas.microsoft.com/office/drawing/2010/main" val="0"/>
                </a:ext>
              </a:extLst>
            </a:blip>
            <a:srcRect t="14483" b="25604"/>
            <a:stretch>
              <a:fillRect/>
            </a:stretch>
          </p:blipFill>
          <p:spPr>
            <a:xfrm>
              <a:off x="345904" y="4226162"/>
              <a:ext cx="2187185" cy="470836"/>
            </a:xfrm>
            <a:prstGeom prst="rect">
              <a:avLst/>
            </a:prstGeom>
          </p:spPr>
        </p:pic>
      </p:grpSp>
      <p:grpSp>
        <p:nvGrpSpPr>
          <p:cNvPr id="42" name="Group 41">
            <a:extLst>
              <a:ext uri="{FF2B5EF4-FFF2-40B4-BE49-F238E27FC236}">
                <a16:creationId xmlns:a16="http://schemas.microsoft.com/office/drawing/2014/main" id="{6736F4E8-8353-46F7-B590-A808517DC457}"/>
              </a:ext>
            </a:extLst>
          </p:cNvPr>
          <p:cNvGrpSpPr/>
          <p:nvPr/>
        </p:nvGrpSpPr>
        <p:grpSpPr>
          <a:xfrm>
            <a:off x="8577298" y="4504546"/>
            <a:ext cx="3573351" cy="2220992"/>
            <a:chOff x="8577298" y="4504546"/>
            <a:chExt cx="3573351" cy="2220992"/>
          </a:xfrm>
        </p:grpSpPr>
        <p:pic>
          <p:nvPicPr>
            <p:cNvPr id="1036" name="Picture 12" descr="Observations vs. Results | Elemental Blogging">
              <a:extLst>
                <a:ext uri="{FF2B5EF4-FFF2-40B4-BE49-F238E27FC236}">
                  <a16:creationId xmlns:a16="http://schemas.microsoft.com/office/drawing/2014/main" id="{AD6197A5-0D5E-56FF-70C6-75195738FF78}"/>
                </a:ext>
              </a:extLst>
            </p:cNvPr>
            <p:cNvPicPr>
              <a:picLocks noChangeAspect="1" noChangeArrowheads="1"/>
            </p:cNvPicPr>
            <p:nvPr/>
          </p:nvPicPr>
          <p:blipFill>
            <a:blip r:embed="rId6">
              <a:clrChange>
                <a:clrFrom>
                  <a:srgbClr val="22BB7C"/>
                </a:clrFrom>
                <a:clrTo>
                  <a:srgbClr val="22BB7C">
                    <a:alpha val="0"/>
                  </a:srgbClr>
                </a:clrTo>
              </a:clrChange>
              <a:extLst>
                <a:ext uri="{28A0092B-C50C-407E-A947-70E740481C1C}">
                  <a14:useLocalDpi xmlns:a14="http://schemas.microsoft.com/office/drawing/2010/main" val="0"/>
                </a:ext>
              </a:extLst>
            </a:blip>
            <a:srcRect/>
            <a:stretch>
              <a:fillRect/>
            </a:stretch>
          </p:blipFill>
          <p:spPr bwMode="auto">
            <a:xfrm>
              <a:off x="8637509" y="5133504"/>
              <a:ext cx="1711134" cy="106086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ow to read a scientific paper [3 steps - 2025] - Paperpile">
              <a:extLst>
                <a:ext uri="{FF2B5EF4-FFF2-40B4-BE49-F238E27FC236}">
                  <a16:creationId xmlns:a16="http://schemas.microsoft.com/office/drawing/2014/main" id="{5650DE07-D47D-64CC-4AFE-B6AE9A55C8D1}"/>
                </a:ext>
              </a:extLst>
            </p:cNvPr>
            <p:cNvPicPr>
              <a:picLocks noChangeAspect="1" noChangeArrowheads="1"/>
            </p:cNvPicPr>
            <p:nvPr/>
          </p:nvPicPr>
          <p:blipFill>
            <a:blip r:embed="rId7">
              <a:clrChange>
                <a:clrFrom>
                  <a:srgbClr val="22BB7C"/>
                </a:clrFrom>
                <a:clrTo>
                  <a:srgbClr val="22BB7C">
                    <a:alpha val="0"/>
                  </a:srgbClr>
                </a:clrTo>
              </a:clrChange>
              <a:extLst>
                <a:ext uri="{28A0092B-C50C-407E-A947-70E740481C1C}">
                  <a14:useLocalDpi xmlns:a14="http://schemas.microsoft.com/office/drawing/2010/main" val="0"/>
                </a:ext>
              </a:extLst>
            </a:blip>
            <a:srcRect/>
            <a:stretch>
              <a:fillRect/>
            </a:stretch>
          </p:blipFill>
          <p:spPr bwMode="auto">
            <a:xfrm>
              <a:off x="10308796" y="4709834"/>
              <a:ext cx="1841853" cy="18418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E5C89281-0412-F4D0-902C-371DA5E4D90E}"/>
                </a:ext>
              </a:extLst>
            </p:cNvPr>
            <p:cNvSpPr/>
            <p:nvPr/>
          </p:nvSpPr>
          <p:spPr>
            <a:xfrm>
              <a:off x="8775490" y="6410555"/>
              <a:ext cx="2936527"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ONLINE REPOSITORY</a:t>
              </a:r>
            </a:p>
          </p:txBody>
        </p:sp>
        <p:sp>
          <p:nvSpPr>
            <p:cNvPr id="14" name="Rectangle: Rounded Corners 13">
              <a:extLst>
                <a:ext uri="{FF2B5EF4-FFF2-40B4-BE49-F238E27FC236}">
                  <a16:creationId xmlns:a16="http://schemas.microsoft.com/office/drawing/2014/main" id="{8F068F5D-24BE-D391-827B-38E3BD3F4628}"/>
                </a:ext>
              </a:extLst>
            </p:cNvPr>
            <p:cNvSpPr/>
            <p:nvPr/>
          </p:nvSpPr>
          <p:spPr>
            <a:xfrm>
              <a:off x="8577298" y="4504546"/>
              <a:ext cx="3332910"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PUBLICATION</a:t>
              </a:r>
            </a:p>
          </p:txBody>
        </p:sp>
      </p:grpSp>
      <p:grpSp>
        <p:nvGrpSpPr>
          <p:cNvPr id="41" name="Group 40">
            <a:extLst>
              <a:ext uri="{FF2B5EF4-FFF2-40B4-BE49-F238E27FC236}">
                <a16:creationId xmlns:a16="http://schemas.microsoft.com/office/drawing/2014/main" id="{2EE4C05E-47F6-6818-3645-8CDE7744DDA5}"/>
              </a:ext>
            </a:extLst>
          </p:cNvPr>
          <p:cNvGrpSpPr/>
          <p:nvPr/>
        </p:nvGrpSpPr>
        <p:grpSpPr>
          <a:xfrm>
            <a:off x="8983536" y="1114341"/>
            <a:ext cx="2347193" cy="3399957"/>
            <a:chOff x="8983536" y="1114341"/>
            <a:chExt cx="2347193" cy="3399957"/>
          </a:xfrm>
        </p:grpSpPr>
        <p:sp>
          <p:nvSpPr>
            <p:cNvPr id="13" name="Rectangle: Rounded Corners 12">
              <a:extLst>
                <a:ext uri="{FF2B5EF4-FFF2-40B4-BE49-F238E27FC236}">
                  <a16:creationId xmlns:a16="http://schemas.microsoft.com/office/drawing/2014/main" id="{D313C3EE-761E-09BB-F2C7-3822C685470C}"/>
                </a:ext>
              </a:extLst>
            </p:cNvPr>
            <p:cNvSpPr/>
            <p:nvPr/>
          </p:nvSpPr>
          <p:spPr>
            <a:xfrm>
              <a:off x="8983536" y="1114341"/>
              <a:ext cx="2347193"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RESOULTS</a:t>
              </a:r>
            </a:p>
          </p:txBody>
        </p:sp>
        <p:pic>
          <p:nvPicPr>
            <p:cNvPr id="1050" name="Picture 26" descr="Collect Data Icon Images – Browse 15,788 Stock Photos, Vectors, and Video |  Adobe Stock">
              <a:extLst>
                <a:ext uri="{FF2B5EF4-FFF2-40B4-BE49-F238E27FC236}">
                  <a16:creationId xmlns:a16="http://schemas.microsoft.com/office/drawing/2014/main" id="{C67CD479-B15F-718A-BC36-AB84B4F8C84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8142" t="13719" r="8526" b="13318"/>
            <a:stretch>
              <a:fillRect/>
            </a:stretch>
          </p:blipFill>
          <p:spPr bwMode="auto">
            <a:xfrm>
              <a:off x="9173278" y="1509450"/>
              <a:ext cx="1967709" cy="19050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4AF1433-F847-CE21-1DF0-2CAB36B145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3540" y="3728426"/>
              <a:ext cx="2187185" cy="785872"/>
            </a:xfrm>
            <a:prstGeom prst="rect">
              <a:avLst/>
            </a:prstGeom>
          </p:spPr>
        </p:pic>
        <p:sp>
          <p:nvSpPr>
            <p:cNvPr id="16" name="Rectangle: Rounded Corners 15">
              <a:extLst>
                <a:ext uri="{FF2B5EF4-FFF2-40B4-BE49-F238E27FC236}">
                  <a16:creationId xmlns:a16="http://schemas.microsoft.com/office/drawing/2014/main" id="{6D3962FE-845C-FEB5-6836-4197990ECA44}"/>
                </a:ext>
              </a:extLst>
            </p:cNvPr>
            <p:cNvSpPr/>
            <p:nvPr/>
          </p:nvSpPr>
          <p:spPr>
            <a:xfrm>
              <a:off x="9084542" y="3402530"/>
              <a:ext cx="2145181"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ISILON ARCHIVE</a:t>
              </a:r>
            </a:p>
          </p:txBody>
        </p:sp>
      </p:grpSp>
      <p:sp>
        <p:nvSpPr>
          <p:cNvPr id="18" name="Arrow: Right 17">
            <a:extLst>
              <a:ext uri="{FF2B5EF4-FFF2-40B4-BE49-F238E27FC236}">
                <a16:creationId xmlns:a16="http://schemas.microsoft.com/office/drawing/2014/main" id="{D34CB38F-9FF9-8B91-45A9-C63D0D344D1C}"/>
              </a:ext>
            </a:extLst>
          </p:cNvPr>
          <p:cNvSpPr/>
          <p:nvPr/>
        </p:nvSpPr>
        <p:spPr>
          <a:xfrm>
            <a:off x="241162" y="5176508"/>
            <a:ext cx="236828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oup 38">
            <a:extLst>
              <a:ext uri="{FF2B5EF4-FFF2-40B4-BE49-F238E27FC236}">
                <a16:creationId xmlns:a16="http://schemas.microsoft.com/office/drawing/2014/main" id="{FA5F608F-B709-B3A4-8DDB-522E0A7762CA}"/>
              </a:ext>
            </a:extLst>
          </p:cNvPr>
          <p:cNvGrpSpPr/>
          <p:nvPr/>
        </p:nvGrpSpPr>
        <p:grpSpPr>
          <a:xfrm>
            <a:off x="3579585" y="1066802"/>
            <a:ext cx="4080390" cy="1540200"/>
            <a:chOff x="3584432" y="1273631"/>
            <a:chExt cx="4080390" cy="1540200"/>
          </a:xfrm>
        </p:grpSpPr>
        <p:pic>
          <p:nvPicPr>
            <p:cNvPr id="1032" name="Picture 8" descr="LibGuides at Hong Kong University of ...">
              <a:extLst>
                <a:ext uri="{FF2B5EF4-FFF2-40B4-BE49-F238E27FC236}">
                  <a16:creationId xmlns:a16="http://schemas.microsoft.com/office/drawing/2014/main" id="{39A0E4A9-90F3-313B-04FB-F09390E1FC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8139" y="1886626"/>
              <a:ext cx="3109245" cy="87058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eveloping Standard Operating Practices or SOPs">
              <a:extLst>
                <a:ext uri="{FF2B5EF4-FFF2-40B4-BE49-F238E27FC236}">
                  <a16:creationId xmlns:a16="http://schemas.microsoft.com/office/drawing/2014/main" id="{6D050CE7-E71D-A2DB-07D3-8596644FBD8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6380" t="3723" r="54764" b="24605"/>
            <a:stretch>
              <a:fillRect/>
            </a:stretch>
          </p:blipFill>
          <p:spPr bwMode="auto">
            <a:xfrm>
              <a:off x="3706514" y="1779456"/>
              <a:ext cx="699829" cy="977758"/>
            </a:xfrm>
            <a:prstGeom prst="roundRect">
              <a:avLst>
                <a:gd name="adj" fmla="val 4857"/>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D34748E3-1B6D-5559-D7AF-CA39CD13C8B9}"/>
                </a:ext>
              </a:extLst>
            </p:cNvPr>
            <p:cNvSpPr/>
            <p:nvPr/>
          </p:nvSpPr>
          <p:spPr>
            <a:xfrm>
              <a:off x="3791130" y="1428544"/>
              <a:ext cx="3556955"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SOP AND PROCEDURES</a:t>
              </a:r>
            </a:p>
          </p:txBody>
        </p:sp>
        <p:sp>
          <p:nvSpPr>
            <p:cNvPr id="20" name="Rectangle: Rounded Corners 19">
              <a:extLst>
                <a:ext uri="{FF2B5EF4-FFF2-40B4-BE49-F238E27FC236}">
                  <a16:creationId xmlns:a16="http://schemas.microsoft.com/office/drawing/2014/main" id="{57EE530A-91FE-3F7F-B173-32DF9DF84699}"/>
                </a:ext>
              </a:extLst>
            </p:cNvPr>
            <p:cNvSpPr/>
            <p:nvPr/>
          </p:nvSpPr>
          <p:spPr>
            <a:xfrm>
              <a:off x="3584432" y="1273631"/>
              <a:ext cx="4080390" cy="15402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1" name="Arrow: Right 20">
            <a:extLst>
              <a:ext uri="{FF2B5EF4-FFF2-40B4-BE49-F238E27FC236}">
                <a16:creationId xmlns:a16="http://schemas.microsoft.com/office/drawing/2014/main" id="{51DC8731-980E-CCA6-EC52-515355423D66}"/>
              </a:ext>
            </a:extLst>
          </p:cNvPr>
          <p:cNvSpPr/>
          <p:nvPr/>
        </p:nvSpPr>
        <p:spPr>
          <a:xfrm>
            <a:off x="8022209" y="1668122"/>
            <a:ext cx="112142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A4307A51-0065-082C-A275-B580AFADD905}"/>
              </a:ext>
            </a:extLst>
          </p:cNvPr>
          <p:cNvSpPr/>
          <p:nvPr/>
        </p:nvSpPr>
        <p:spPr>
          <a:xfrm rot="5400000">
            <a:off x="7940510" y="3442206"/>
            <a:ext cx="112142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9BA70589-F140-D63C-4100-CC25E5563796}"/>
              </a:ext>
            </a:extLst>
          </p:cNvPr>
          <p:cNvSpPr/>
          <p:nvPr/>
        </p:nvSpPr>
        <p:spPr>
          <a:xfrm>
            <a:off x="3167743" y="2607002"/>
            <a:ext cx="4903296" cy="227364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oup 44">
            <a:extLst>
              <a:ext uri="{FF2B5EF4-FFF2-40B4-BE49-F238E27FC236}">
                <a16:creationId xmlns:a16="http://schemas.microsoft.com/office/drawing/2014/main" id="{00751959-FEDB-51D7-ABCC-A18971F71912}"/>
              </a:ext>
            </a:extLst>
          </p:cNvPr>
          <p:cNvGrpSpPr/>
          <p:nvPr/>
        </p:nvGrpSpPr>
        <p:grpSpPr>
          <a:xfrm>
            <a:off x="3578989" y="4916575"/>
            <a:ext cx="4081583" cy="1849827"/>
            <a:chOff x="3578989" y="4916575"/>
            <a:chExt cx="4081583" cy="1849827"/>
          </a:xfrm>
        </p:grpSpPr>
        <p:pic>
          <p:nvPicPr>
            <p:cNvPr id="1026" name="Picture 2" descr="How to Run a Python Script: A Beginners ...">
              <a:extLst>
                <a:ext uri="{FF2B5EF4-FFF2-40B4-BE49-F238E27FC236}">
                  <a16:creationId xmlns:a16="http://schemas.microsoft.com/office/drawing/2014/main" id="{978D8D43-26A8-0BA7-55DF-4F1EDECA3E73}"/>
                </a:ext>
              </a:extLst>
            </p:cNvPr>
            <p:cNvPicPr>
              <a:picLocks noChangeAspect="1" noChangeArrowheads="1"/>
            </p:cNvPicPr>
            <p:nvPr/>
          </p:nvPicPr>
          <p:blipFill>
            <a:blip r:embed="rId11">
              <a:clrChange>
                <a:clrFrom>
                  <a:srgbClr val="09486E"/>
                </a:clrFrom>
                <a:clrTo>
                  <a:srgbClr val="09486E">
                    <a:alpha val="0"/>
                  </a:srgbClr>
                </a:clrTo>
              </a:clrChange>
              <a:extLst>
                <a:ext uri="{28A0092B-C50C-407E-A947-70E740481C1C}">
                  <a14:useLocalDpi xmlns:a14="http://schemas.microsoft.com/office/drawing/2010/main" val="0"/>
                </a:ext>
              </a:extLst>
            </a:blip>
            <a:srcRect/>
            <a:stretch>
              <a:fillRect/>
            </a:stretch>
          </p:blipFill>
          <p:spPr bwMode="auto">
            <a:xfrm>
              <a:off x="3756062" y="4989876"/>
              <a:ext cx="1942093" cy="10875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Logo, symbol, meaning, history, PNG, brand">
              <a:extLst>
                <a:ext uri="{FF2B5EF4-FFF2-40B4-BE49-F238E27FC236}">
                  <a16:creationId xmlns:a16="http://schemas.microsoft.com/office/drawing/2014/main" id="{94AD1796-5CB2-F222-1C9F-B81EECDBA29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00644" y="4969039"/>
              <a:ext cx="1715198" cy="103190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0">
              <a:extLst>
                <a:ext uri="{FF2B5EF4-FFF2-40B4-BE49-F238E27FC236}">
                  <a16:creationId xmlns:a16="http://schemas.microsoft.com/office/drawing/2014/main" id="{F82D886A-3566-CAF6-2133-52F49C27EB09}"/>
                </a:ext>
              </a:extLst>
            </p:cNvPr>
            <p:cNvSpPr/>
            <p:nvPr/>
          </p:nvSpPr>
          <p:spPr>
            <a:xfrm>
              <a:off x="3949874" y="6036876"/>
              <a:ext cx="3332910"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SCRIPTS AND WORKFLOWS</a:t>
              </a:r>
            </a:p>
          </p:txBody>
        </p:sp>
        <p:sp>
          <p:nvSpPr>
            <p:cNvPr id="19" name="Rectangle: Rounded Corners 18">
              <a:extLst>
                <a:ext uri="{FF2B5EF4-FFF2-40B4-BE49-F238E27FC236}">
                  <a16:creationId xmlns:a16="http://schemas.microsoft.com/office/drawing/2014/main" id="{5AD6C25F-281E-6719-E966-0DD9D236923B}"/>
                </a:ext>
              </a:extLst>
            </p:cNvPr>
            <p:cNvSpPr/>
            <p:nvPr/>
          </p:nvSpPr>
          <p:spPr>
            <a:xfrm>
              <a:off x="3578989" y="4916575"/>
              <a:ext cx="4081583" cy="184982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14673940-65D4-4DDB-98C7-3CD4E2F75B5F}"/>
                </a:ext>
              </a:extLst>
            </p:cNvPr>
            <p:cNvSpPr/>
            <p:nvPr/>
          </p:nvSpPr>
          <p:spPr>
            <a:xfrm>
              <a:off x="3949875" y="6398216"/>
              <a:ext cx="3332909"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HPC HOME DIRECTORY</a:t>
              </a:r>
            </a:p>
          </p:txBody>
        </p:sp>
      </p:grpSp>
      <p:sp>
        <p:nvSpPr>
          <p:cNvPr id="31" name="Arrow: Right 30">
            <a:extLst>
              <a:ext uri="{FF2B5EF4-FFF2-40B4-BE49-F238E27FC236}">
                <a16:creationId xmlns:a16="http://schemas.microsoft.com/office/drawing/2014/main" id="{01216BFC-9C9F-3C4E-D779-9CFB563CEAAF}"/>
              </a:ext>
            </a:extLst>
          </p:cNvPr>
          <p:cNvSpPr/>
          <p:nvPr/>
        </p:nvSpPr>
        <p:spPr>
          <a:xfrm>
            <a:off x="255353" y="1028841"/>
            <a:ext cx="2368287" cy="860368"/>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6D1E1EEF-4434-B4F4-2472-32D3E1B056D2}"/>
              </a:ext>
            </a:extLst>
          </p:cNvPr>
          <p:cNvGrpSpPr/>
          <p:nvPr/>
        </p:nvGrpSpPr>
        <p:grpSpPr>
          <a:xfrm>
            <a:off x="3437550" y="2767877"/>
            <a:ext cx="4254419" cy="1996022"/>
            <a:chOff x="3437550" y="2767877"/>
            <a:chExt cx="4254419" cy="1996022"/>
          </a:xfrm>
        </p:grpSpPr>
        <p:grpSp>
          <p:nvGrpSpPr>
            <p:cNvPr id="37" name="Group 36">
              <a:extLst>
                <a:ext uri="{FF2B5EF4-FFF2-40B4-BE49-F238E27FC236}">
                  <a16:creationId xmlns:a16="http://schemas.microsoft.com/office/drawing/2014/main" id="{A16AAF87-40F6-0693-4685-6CC7069198E4}"/>
                </a:ext>
              </a:extLst>
            </p:cNvPr>
            <p:cNvGrpSpPr/>
            <p:nvPr/>
          </p:nvGrpSpPr>
          <p:grpSpPr>
            <a:xfrm>
              <a:off x="3437550" y="2767877"/>
              <a:ext cx="4254419" cy="1588547"/>
              <a:chOff x="3378106" y="2908899"/>
              <a:chExt cx="4254419" cy="1588547"/>
            </a:xfrm>
          </p:grpSpPr>
          <p:pic>
            <p:nvPicPr>
              <p:cNvPr id="1034" name="Picture 10" descr="Document Icon Vector Paper Icon File Stock Vector (Royalty Free) 2677683867 | Shutterstock">
                <a:extLst>
                  <a:ext uri="{FF2B5EF4-FFF2-40B4-BE49-F238E27FC236}">
                    <a16:creationId xmlns:a16="http://schemas.microsoft.com/office/drawing/2014/main" id="{572E3CE7-0643-E5FB-1420-B717E8645A83}"/>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15040" b="23328"/>
              <a:stretch>
                <a:fillRect/>
              </a:stretch>
            </p:blipFill>
            <p:spPr bwMode="auto">
              <a:xfrm>
                <a:off x="3378106" y="2908899"/>
                <a:ext cx="4254419" cy="113347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C3F4B7C6-5A75-A962-7D53-A35306A4307C}"/>
                  </a:ext>
                </a:extLst>
              </p:cNvPr>
              <p:cNvSpPr/>
              <p:nvPr/>
            </p:nvSpPr>
            <p:spPr>
              <a:xfrm>
                <a:off x="3868544" y="4182463"/>
                <a:ext cx="3332910" cy="314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HEAVY INTERMEDIATE FILES </a:t>
                </a:r>
              </a:p>
            </p:txBody>
          </p:sp>
        </p:grpSp>
        <p:sp>
          <p:nvSpPr>
            <p:cNvPr id="38" name="Rectangle: Rounded Corners 37">
              <a:extLst>
                <a:ext uri="{FF2B5EF4-FFF2-40B4-BE49-F238E27FC236}">
                  <a16:creationId xmlns:a16="http://schemas.microsoft.com/office/drawing/2014/main" id="{1BACAFF0-05BD-5B8D-7BDD-0C2C57367D58}"/>
                </a:ext>
              </a:extLst>
            </p:cNvPr>
            <p:cNvSpPr/>
            <p:nvPr/>
          </p:nvSpPr>
          <p:spPr>
            <a:xfrm>
              <a:off x="4492168" y="4448916"/>
              <a:ext cx="2145181" cy="31498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ISILON SCRATCH</a:t>
              </a:r>
            </a:p>
          </p:txBody>
        </p:sp>
      </p:grpSp>
      <p:grpSp>
        <p:nvGrpSpPr>
          <p:cNvPr id="36" name="Group 35">
            <a:extLst>
              <a:ext uri="{FF2B5EF4-FFF2-40B4-BE49-F238E27FC236}">
                <a16:creationId xmlns:a16="http://schemas.microsoft.com/office/drawing/2014/main" id="{6C0CCA41-932E-CE3D-079D-4EED9519F676}"/>
              </a:ext>
            </a:extLst>
          </p:cNvPr>
          <p:cNvGrpSpPr/>
          <p:nvPr/>
        </p:nvGrpSpPr>
        <p:grpSpPr>
          <a:xfrm>
            <a:off x="3298670" y="2725642"/>
            <a:ext cx="4591546" cy="1209558"/>
            <a:chOff x="3216607" y="2832817"/>
            <a:chExt cx="4591546" cy="1209558"/>
          </a:xfrm>
        </p:grpSpPr>
        <p:sp>
          <p:nvSpPr>
            <p:cNvPr id="28" name="Rectangle: Rounded Corners 27">
              <a:extLst>
                <a:ext uri="{FF2B5EF4-FFF2-40B4-BE49-F238E27FC236}">
                  <a16:creationId xmlns:a16="http://schemas.microsoft.com/office/drawing/2014/main" id="{D41F9858-7F81-7B42-FE48-F07EB14E6CD6}"/>
                </a:ext>
              </a:extLst>
            </p:cNvPr>
            <p:cNvSpPr/>
            <p:nvPr/>
          </p:nvSpPr>
          <p:spPr>
            <a:xfrm>
              <a:off x="3216607" y="2846580"/>
              <a:ext cx="4591546" cy="119579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a:extLst>
                <a:ext uri="{FF2B5EF4-FFF2-40B4-BE49-F238E27FC236}">
                  <a16:creationId xmlns:a16="http://schemas.microsoft.com/office/drawing/2014/main" id="{A88A3050-C1D9-C49C-BBF3-C2B1EE17944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276843" y="2832817"/>
              <a:ext cx="1016410" cy="1196741"/>
            </a:xfrm>
            <a:prstGeom prst="rect">
              <a:avLst/>
            </a:prstGeom>
          </p:spPr>
        </p:pic>
        <p:sp>
          <p:nvSpPr>
            <p:cNvPr id="29" name="Rectangle 28">
              <a:extLst>
                <a:ext uri="{FF2B5EF4-FFF2-40B4-BE49-F238E27FC236}">
                  <a16:creationId xmlns:a16="http://schemas.microsoft.com/office/drawing/2014/main" id="{6D15B6C4-203B-8DA5-6E66-31911AC101B1}"/>
                </a:ext>
              </a:extLst>
            </p:cNvPr>
            <p:cNvSpPr/>
            <p:nvPr/>
          </p:nvSpPr>
          <p:spPr>
            <a:xfrm>
              <a:off x="4270590" y="2982812"/>
              <a:ext cx="3402855" cy="923330"/>
            </a:xfrm>
            <a:prstGeom prst="rect">
              <a:avLst/>
            </a:prstGeom>
            <a:noFill/>
          </p:spPr>
          <p:txBody>
            <a:bodyPr wrap="none" lIns="91440" tIns="45720" rIns="91440" bIns="45720">
              <a:spAutoFit/>
            </a:bodyPr>
            <a:lstStyle/>
            <a:p>
              <a:pPr algn="ctr"/>
              <a:r>
                <a:rPr lang="en-US" sz="5400" b="1" cap="none" spc="0" dirty="0">
                  <a:ln w="0"/>
                  <a:solidFill>
                    <a:srgbClr val="FF0000"/>
                  </a:solidFill>
                  <a:effectLst>
                    <a:outerShdw blurRad="38100" dist="19050" dir="2700000" algn="tl" rotWithShape="0">
                      <a:schemeClr val="dk1">
                        <a:alpha val="40000"/>
                      </a:schemeClr>
                    </a:outerShdw>
                  </a:effectLst>
                </a:rPr>
                <a:t>REMOVED</a:t>
              </a:r>
            </a:p>
          </p:txBody>
        </p:sp>
      </p:grpSp>
    </p:spTree>
    <p:extLst>
      <p:ext uri="{BB962C8B-B14F-4D97-AF65-F5344CB8AC3E}">
        <p14:creationId xmlns:p14="http://schemas.microsoft.com/office/powerpoint/2010/main" val="39152544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807928-1BF2-4971-F01C-46AE3BD0239D}"/>
            </a:ext>
          </a:extLst>
        </p:cNvPr>
        <p:cNvGrpSpPr/>
        <p:nvPr/>
      </p:nvGrpSpPr>
      <p:grpSpPr>
        <a:xfrm>
          <a:off x="0" y="0"/>
          <a:ext cx="0" cy="0"/>
          <a:chOff x="0" y="0"/>
          <a:chExt cx="0" cy="0"/>
        </a:xfrm>
      </p:grpSpPr>
      <p:pic>
        <p:nvPicPr>
          <p:cNvPr id="18436" name="Picture 4" descr="Free question mark pear think illustration">
            <a:extLst>
              <a:ext uri="{FF2B5EF4-FFF2-40B4-BE49-F238E27FC236}">
                <a16:creationId xmlns:a16="http://schemas.microsoft.com/office/drawing/2014/main" id="{C5B6CC7C-D533-DE9C-A269-EE55A0ACC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6599" y="422471"/>
            <a:ext cx="9150034" cy="6097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4AC39-AFEC-F9B0-5A6A-37D8DF89343F}"/>
              </a:ext>
            </a:extLst>
          </p:cNvPr>
          <p:cNvSpPr>
            <a:spLocks noGrp="1"/>
          </p:cNvSpPr>
          <p:nvPr>
            <p:ph type="ctrTitle"/>
          </p:nvPr>
        </p:nvSpPr>
        <p:spPr>
          <a:xfrm>
            <a:off x="417576" y="338329"/>
            <a:ext cx="8900160" cy="566927"/>
          </a:xfrm>
        </p:spPr>
        <p:txBody>
          <a:bodyPr>
            <a:normAutofit/>
          </a:bodyPr>
          <a:lstStyle/>
          <a:p>
            <a:pPr algn="l"/>
            <a:r>
              <a:rPr lang="en-GB" sz="280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[Questions?]</a:t>
            </a:r>
          </a:p>
        </p:txBody>
      </p:sp>
      <p:cxnSp>
        <p:nvCxnSpPr>
          <p:cNvPr id="5" name="Straight Connector 4">
            <a:extLst>
              <a:ext uri="{FF2B5EF4-FFF2-40B4-BE49-F238E27FC236}">
                <a16:creationId xmlns:a16="http://schemas.microsoft.com/office/drawing/2014/main" id="{35F5AA92-F212-19BB-D743-7FBB5DD19263}"/>
              </a:ext>
            </a:extLst>
          </p:cNvPr>
          <p:cNvCxnSpPr>
            <a:cxnSpLocks/>
          </p:cNvCxnSpPr>
          <p:nvPr/>
        </p:nvCxnSpPr>
        <p:spPr>
          <a:xfrm>
            <a:off x="548640" y="978408"/>
            <a:ext cx="110459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50281B7-7C49-2FE6-AF7D-886136CDD5DD}"/>
              </a:ext>
            </a:extLst>
          </p:cNvPr>
          <p:cNvSpPr txBox="1"/>
          <p:nvPr/>
        </p:nvSpPr>
        <p:spPr>
          <a:xfrm>
            <a:off x="417576" y="918925"/>
            <a:ext cx="11527991" cy="646331"/>
          </a:xfrm>
          <a:prstGeom prst="rect">
            <a:avLst/>
          </a:prstGeom>
          <a:noFill/>
        </p:spPr>
        <p:txBody>
          <a:bodyPr wrap="square" rtlCol="0">
            <a:spAutoFit/>
          </a:bodyPr>
          <a:lstStyle/>
          <a:p>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marL="285750" indent="-285750">
              <a:buFontTx/>
              <a:buChar char="-"/>
            </a:pPr>
            <a:endParaRPr lang="en-GB">
              <a:solidFill>
                <a:schemeClr val="bg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p:txBody>
      </p:sp>
      <p:pic>
        <p:nvPicPr>
          <p:cNvPr id="4" name="Picture 6" descr="Free floppy disk media vector">
            <a:extLst>
              <a:ext uri="{FF2B5EF4-FFF2-40B4-BE49-F238E27FC236}">
                <a16:creationId xmlns:a16="http://schemas.microsoft.com/office/drawing/2014/main" id="{C65B487D-F06F-2768-34BC-765337F8AB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 y="5826231"/>
            <a:ext cx="905447" cy="8869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ownload Watermelon, Melon, Fruit. Royalty-Free Vector Graphic - Pixabay">
            <a:extLst>
              <a:ext uri="{FF2B5EF4-FFF2-40B4-BE49-F238E27FC236}">
                <a16:creationId xmlns:a16="http://schemas.microsoft.com/office/drawing/2014/main" id="{AC5572D6-8FF9-5704-C71E-9D72E7A7B8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0868" y="5321300"/>
            <a:ext cx="1444088" cy="1433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560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20602</TotalTime>
  <Words>5675</Words>
  <Application>Microsoft Office PowerPoint</Application>
  <PresentationFormat>Widescreen</PresentationFormat>
  <Paragraphs>903</Paragraphs>
  <Slides>79</Slides>
  <Notes>35</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Aptos</vt:lpstr>
      <vt:lpstr>Aptos Display</vt:lpstr>
      <vt:lpstr>Arial</vt:lpstr>
      <vt:lpstr>Arial Unicode MS</vt:lpstr>
      <vt:lpstr>Cascadia Code</vt:lpstr>
      <vt:lpstr>Cascadia Code ExtraLight</vt:lpstr>
      <vt:lpstr>Moderat Bold</vt:lpstr>
      <vt:lpstr>Symbol</vt:lpstr>
      <vt:lpstr>Office Theme</vt:lpstr>
      <vt:lpstr>Data Management</vt:lpstr>
      <vt:lpstr>PowerPoint Presentation</vt:lpstr>
      <vt:lpstr>[Disclaimer]</vt:lpstr>
      <vt:lpstr>[Presentation available at:]</vt:lpstr>
      <vt:lpstr>[Course Content]</vt:lpstr>
      <vt:lpstr>[Reflections]</vt:lpstr>
      <vt:lpstr>[Who are the stakeholders of data​]</vt:lpstr>
      <vt:lpstr>[Data Ownership​]</vt:lpstr>
      <vt:lpstr>[As a user]</vt:lpstr>
      <vt:lpstr>[GDPR and Human data]</vt:lpstr>
      <vt:lpstr>[BioFAiR]</vt:lpstr>
      <vt:lpstr>[BioFAiR Pillars]</vt:lpstr>
      <vt:lpstr>[AI-Ready Data]</vt:lpstr>
      <vt:lpstr>[What is a filesystem?]</vt:lpstr>
      <vt:lpstr>[Example: The file system behind android]</vt:lpstr>
      <vt:lpstr>[Storage locations available at the NBI]</vt:lpstr>
      <vt:lpstr>[U drive and Computing shared locations]</vt:lpstr>
      <vt:lpstr>[OneDrive - SharePoint]</vt:lpstr>
      <vt:lpstr>[Omero – Image Storage]</vt:lpstr>
      <vt:lpstr>[Data Access/Permissions]</vt:lpstr>
      <vt:lpstr>[Bad practices]</vt:lpstr>
      <vt:lpstr>[Metadata]</vt:lpstr>
      <vt:lpstr>[Metadata]</vt:lpstr>
      <vt:lpstr>[Metadata - template]</vt:lpstr>
      <vt:lpstr>[Metadata - template]</vt:lpstr>
      <vt:lpstr>[The Instrument Network]</vt:lpstr>
      <vt:lpstr>[How to recover data, if possible]</vt:lpstr>
      <vt:lpstr>[Recovering data from Windows]</vt:lpstr>
      <vt:lpstr>[Recovering Exercise]</vt:lpstr>
      <vt:lpstr>[NIB Tools for sharing data]</vt:lpstr>
      <vt:lpstr>[Globus]</vt:lpstr>
      <vt:lpstr>[Globus – how to share]</vt:lpstr>
      <vt:lpstr>[Git – protect your scripts]</vt:lpstr>
      <vt:lpstr>[Working Remotely]</vt:lpstr>
      <vt:lpstr>[Working Remotely]</vt:lpstr>
      <vt:lpstr>[Sharing Exercise]</vt:lpstr>
      <vt:lpstr>[New Data Centre]</vt:lpstr>
      <vt:lpstr>[Ideal Data Pipeline]</vt:lpstr>
      <vt:lpstr>[Questions?]</vt:lpstr>
      <vt:lpstr>Data Management</vt:lpstr>
      <vt:lpstr>[The command line]$</vt:lpstr>
      <vt:lpstr>[Linux-playground]</vt:lpstr>
      <vt:lpstr>[Setting up today’s lab]$</vt:lpstr>
      <vt:lpstr>[The lab:]</vt:lpstr>
      <vt:lpstr>[Prompt, Home and \ (root)]</vt:lpstr>
      <vt:lpstr>[Command structure]</vt:lpstr>
      <vt:lpstr>[Moving around]</vt:lpstr>
      <vt:lpstr>[Exercise 1]</vt:lpstr>
      <vt:lpstr>[Relative and absolute paths]</vt:lpstr>
      <vt:lpstr>PowerPoint Presentation</vt:lpstr>
      <vt:lpstr>[Creating, moving and copying]</vt:lpstr>
      <vt:lpstr>[Exercise 3]</vt:lpstr>
      <vt:lpstr>[rsync]</vt:lpstr>
      <vt:lpstr>[rsync – Command Structure &amp; Examples]</vt:lpstr>
      <vt:lpstr>[Working with compressed data]</vt:lpstr>
      <vt:lpstr>[Exercise 4]</vt:lpstr>
      <vt:lpstr>[md5sum – File Integrity Check]</vt:lpstr>
      <vt:lpstr>[Exercise 5]</vt:lpstr>
      <vt:lpstr>[Find]</vt:lpstr>
      <vt:lpstr>[Exercise 6]</vt:lpstr>
      <vt:lpstr>[Big data -&gt; HPC Storage]</vt:lpstr>
      <vt:lpstr>[Accessing HPC storage from Windows ]</vt:lpstr>
      <vt:lpstr>[Accessing HPC storage from macOS ]</vt:lpstr>
      <vt:lpstr>[Accessing HPC storage from Linux ]</vt:lpstr>
      <vt:lpstr>[Uploading to EBI]</vt:lpstr>
      <vt:lpstr>[Uploading to SRA]</vt:lpstr>
      <vt:lpstr>[Uploading to GEO]</vt:lpstr>
      <vt:lpstr>[FTP Filezilla]</vt:lpstr>
      <vt:lpstr>[Downloading data into the HPC]</vt:lpstr>
      <vt:lpstr>[Exercise 7]</vt:lpstr>
      <vt:lpstr>[JIC archive – Data Champion]</vt:lpstr>
      <vt:lpstr>[TSL Users]</vt:lpstr>
      <vt:lpstr>[Concluding Recommendations]</vt:lpstr>
      <vt:lpstr>[Take home message]</vt:lpstr>
      <vt:lpstr>[Bioinformatics Drop-in Sessions]</vt:lpstr>
      <vt:lpstr>[REC]</vt:lpstr>
      <vt:lpstr>[Upcoming courses]</vt:lpstr>
      <vt:lpstr>[Ideal Data Pipeline]</vt:lpstr>
      <vt:lpstr>[Questions?]</vt:lpstr>
    </vt:vector>
  </TitlesOfParts>
  <Company>Norwich Bioscience Institutes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Miguel Gonzalez-Sanchez (JIC)</dc:creator>
  <cp:lastModifiedBy>Miguel Gonzalez-Sanchez (JIC)</cp:lastModifiedBy>
  <cp:revision>17</cp:revision>
  <cp:lastPrinted>2026-06-04T13:14:25Z</cp:lastPrinted>
  <dcterms:created xsi:type="dcterms:W3CDTF">2025-02-13T16:24:46Z</dcterms:created>
  <dcterms:modified xsi:type="dcterms:W3CDTF">2026-09-07T08:22:16Z</dcterms:modified>
</cp:coreProperties>
</file>